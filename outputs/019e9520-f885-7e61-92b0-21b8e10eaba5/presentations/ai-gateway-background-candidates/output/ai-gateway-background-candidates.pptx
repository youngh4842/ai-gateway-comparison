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3f009c4f3e4fe9" /><Relationship Type="http://schemas.openxmlformats.org/officeDocument/2006/relationships/extended-properties" Target="/docProps/app.xml" Id="R615e23385adb4dc0" /><Relationship Type="http://schemas.openxmlformats.org/officeDocument/2006/relationships/officeDocument" Target="/ppt/presentation.xml" Id="Rc90f7a621b2040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18fefa54964d65"/>
  </p:sldMasterIdLst>
  <p:notesMasterIdLst>
    <p:notesMasterId xmlns:r="http://schemas.openxmlformats.org/officeDocument/2006/relationships" r:id="R2638f7dd93e140e5"/>
  </p:notesMasterIdLst>
  <p:sldIdLst>
    <p:sldId xmlns:r="http://schemas.openxmlformats.org/officeDocument/2006/relationships" id="256" r:id="R866b48e8deda484a"/>
    <p:sldId xmlns:r="http://schemas.openxmlformats.org/officeDocument/2006/relationships" id="257" r:id="Rd228c58079654c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600e05d6ad4a49" /><Relationship Type="http://schemas.openxmlformats.org/officeDocument/2006/relationships/slideMaster" Target="/ppt/slideMasters/slideMaster1.xml" Id="R4818fefa54964d65" /><Relationship Type="http://schemas.openxmlformats.org/officeDocument/2006/relationships/notesMaster" Target="/ppt/notesMasters/notesMaster1.xml" Id="R2638f7dd93e140e5" /><Relationship Type="http://schemas.openxmlformats.org/officeDocument/2006/relationships/presProps" Target="/ppt/presProps.xml" Id="R1ba614c78b3a4035" /><Relationship Type="http://schemas.openxmlformats.org/officeDocument/2006/relationships/viewProps" Target="/ppt/viewProps.xml" Id="Rd4b8ca0d348046f4" /><Relationship Type="http://schemas.openxmlformats.org/officeDocument/2006/relationships/tableStyles" Target="/ppt/tableStyles.xml" Id="R8eeb5bb10634496e" /><Relationship Type="http://schemas.openxmlformats.org/officeDocument/2006/relationships/slide" Target="/ppt/slides/slide1.xml" Id="R866b48e8deda484a" /><Relationship Type="http://schemas.openxmlformats.org/officeDocument/2006/relationships/slide" Target="/ppt/slides/slide2.xml" Id="Rd228c58079654c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3085e8071341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6bde4db01d4017" /><Relationship Type="http://schemas.openxmlformats.org/officeDocument/2006/relationships/notesMaster" Target="/ppt/notesMasters/notesMaster1.xml" Id="R1fda01827f414a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47a193a2874cf6" /><Relationship Type="http://schemas.openxmlformats.org/officeDocument/2006/relationships/notesMaster" Target="/ppt/notesMasters/notesMaster1.xml" Id="R33ac6bfd1ca146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d15aaa8ca547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ee5424960a49a8" /><Relationship Type="http://schemas.openxmlformats.org/officeDocument/2006/relationships/slideLayout" Target="/ppt/slideLayouts/slideLayout1.xml" Id="Re66328dce05748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6328dce05748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205ddc6ab4ed1" /><Relationship Type="http://schemas.openxmlformats.org/officeDocument/2006/relationships/notesSlide" Target="/ppt/notesSlides/notesSlide1.xml" Id="R1f00313978bf4e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e0d04bf17406e" /><Relationship Type="http://schemas.openxmlformats.org/officeDocument/2006/relationships/notesSlide" Target="/ppt/notesSlides/notesSlide2.xml" Id="R8b1a7d59f20543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446F0F-D042-481E-97B3-AB3FE176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FFCA2-A373-4294-A8E1-CD9046A1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09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AI Gateway 도입 배경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52152-6A7F-49FD-8F4B-3B64EDCE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LLM 호출이 늘어날수록 API Gateway와 다른 운영 통제 지점이 필요합니다.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D7885-6C65-4B36-82B9-AE6370D2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282E2-F899-4512-8011-98F34E2F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56F4D-8BF5-4F88-899A-E89D1ECB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D0C36-632D-41C4-913C-7F6DAFAC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Provider 변화 대응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60BB4-127A-46C9-9712-61D21FA7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336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OpenAI, Anthropic, Vertex, Bedrock 등 모델과 provider 변경을 서비스 코드 밖에서 흡수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5B215-10A4-492F-9DF7-A1D52929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6210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039FA-DE9F-4A04-8137-4BC2AEAC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6210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F58EF-AB64-4C01-81F6-BB7164DB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478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0DDE9-F210-4C2F-9060-3F6D4A3F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28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비용/쿼터 통제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DD9F0-E5DB-407E-85CC-FF145F5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팀/서비스/API key 단위 사용량, budget, rate limit, fallback 정책을 중앙에서 관리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FC81C-D5AF-4DA5-96C6-A5B936DA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6210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EE396-0D30-4BC2-A2AC-FBB082BF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6210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B9FD1-D08A-45B2-9D19-3EFF8CF8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85710-11FE-458E-A08A-2EEE1514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28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보안/개인정보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47F59-656C-4361-9C10-8704C914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336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PII masking/block, DLP, guardrail을 Gateway 전후의 공통 정책으로 적용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9AE0D-4B1B-43DC-8EA5-E2F54459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891D4-8855-483D-BDF1-7040D253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11F6EA-3767-4851-A296-00C632C0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A16F4-5EC8-4319-87D2-3ED9352D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05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관측성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53FF8C-8D6B-42DF-AAA1-7DEAD551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100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요청/응답, token, latency, 실패율, provider별 비용을 추적해 장애 원인을 좁힘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0BB500-886F-4088-BA36-6B0CD647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C14AB4-9515-4669-AC8D-A950CA08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8D5A7D-C150-4D3C-A0CE-601622F8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242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847A0A-A366-485A-9912-BDD44ECF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05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표준 인터페이스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5380F3-A3D2-47DB-A886-66853468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100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OpenAI-compatible API처럼 앱이 기대하는 호출 형식을 유지하며 내부 routing만 변경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D60951-3628-4165-9A3E-53BA3911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1E116F-1A51-492B-8EAD-85ADAF4F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846B8-D523-4512-824A-A50BC5B3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339246-5C67-4BF0-8307-83A51010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05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운영 분리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CF8086-021B-4820-9D15-165846E6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100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app-cs-service는 유지하고 Gateway 계층에서 실험, 교체, 정책 변경을 수행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57A387-3287-4277-B7E4-D843F573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877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C47919-1876-4948-8928-A1406FBD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PoC 적용 포인트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A40922-E89E-4EEB-8921-DAC71110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91150"/>
            <a:ext cx="809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현재 구조는 개인정보 필터를 service 전단에 두고, APISIX / Envoy / LiteLLM을 동일 UI에서 선택/비교하는 방식으로 AI Gateway 전환 가능성을 검증합니다.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9AD411-FA17-41B2-AFA9-BD4ECC28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06281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1C4B38-488C-4DA2-816A-2E645670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780C6-8525-40E2-9647-B41CE0D9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AI Gateway 후보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3EE2C-B2F6-46B1-AE57-246CF391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96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운영 후보는 자체 구축형, 관리형 SaaS, 모델 마켓플레이스형으로 나누어 보는 것이 좋습니다.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F96F4-A833-4A67-9209-736516EB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70077-218F-433E-9248-15D1FE38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543050"/>
            <a:ext cx="971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후보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7FF3C-6AA4-4721-9A40-654479C4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466850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6448A-C4E4-46F9-8C3C-49D3BC72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543050"/>
            <a:ext cx="1209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유형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67D7E-3D68-43A9-AE99-F1D2E3AD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6685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BA79C-27F3-4521-9A1A-F57540DC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43050"/>
            <a:ext cx="211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강점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14EC5-7859-4AB7-AD6D-BFF0A14B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466850"/>
            <a:ext cx="2238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BA846-8DAA-42AE-90AD-C7A5F59C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543050"/>
            <a:ext cx="2066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주의점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88690-4BE2-42B3-A62A-EAE63AF2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668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BDA0E-4FCA-4529-BD7E-DC77388B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5430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비용 상태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502DE-9A27-4B8D-B823-1A2061F6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668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80589-3B5A-4A97-8D3B-7B92E2B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543050"/>
            <a:ext cx="201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PoC 연결 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09969-67DA-4EDB-8FFA-480EE3B7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08C7A-A774-48EF-8DCF-5F52D929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171700"/>
            <a:ext cx="971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LiteLLM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16BB1-675F-4EF6-8957-80A92F38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95500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F9255F-7FEC-4ED2-BC02-D380CF83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171700"/>
            <a:ext cx="1209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Self-host OSS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67462-50AB-42BD-A229-16E4929C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9550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0DC669-E8A1-415D-931E-A7FEDEA2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71700"/>
            <a:ext cx="211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OpenAI 호환, provider routing, budget/rate limit, observability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2A28D-2A76-484E-BB5C-DB10F30A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95500"/>
            <a:ext cx="2238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249FC5-4E12-4D2B-8879-3B59739E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71700"/>
            <a:ext cx="2066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운영 DB/key/provider 비용 정책 필요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56CEEB-6F41-4A72-8FA0-D14FDC98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BBC9A-233E-4617-B830-1521E517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17170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OSS 무료 + provider 비용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E3D230-4405-4E07-876E-9A8259BE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F765E-DD5B-4F26-8B07-ECB44F36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71700"/>
            <a:ext cx="201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현재 연결됨. LLM Gateway 기준선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8F55D9-CA72-473A-B5A2-E9AC9AC6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E63A8E-A872-44AC-A868-FD368B2A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00350"/>
            <a:ext cx="971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Portkey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228ECE-C182-45B2-BFFF-25C1A308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95975B-13A5-4FFE-8747-B794CB33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800350"/>
            <a:ext cx="1209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OSS + SaaS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266F36-5F7A-41DB-AC47-B332B00A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2415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3E8BD0-9BAA-4065-A654-32269DC3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0350"/>
            <a:ext cx="211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250+ LLM unified endpoint, fallback/load balancing/retry, 모델 가격 DB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1D6F97-8181-472C-9258-93636055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724150"/>
            <a:ext cx="2238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F3CE80-0FE2-427C-A3CD-D4319DC0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2066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SaaS 기능/운영 요금 확인 필요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28238D-CF22-4A53-A694-E57AF94B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DC9B59-A767-4978-BE3E-B9F88D93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8003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OSS 가능, 관리형은 확인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91B19F-5BEA-4862-B0BC-54DB7989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7CA543-204E-490F-8F4F-CCEFE7F3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00350"/>
            <a:ext cx="201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후보. self-host 연결 가능성 높음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308851-0795-4BD4-89CB-F340B86B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1CFA34-7B60-4A8C-A439-18142932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429000"/>
            <a:ext cx="971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Cloudflare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79A47A-342D-419E-B703-EFB424E8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611081-03CB-4F38-9A62-2123BFC1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429000"/>
            <a:ext cx="1209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Managed SaaS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BF2041-2550-414E-BA75-0365D205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5280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F3E7FA-9347-42FC-B59F-2CC14201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211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analytics, caching, rate limiting, DLP 일부 무료, Cloudflare 생태계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8F0877-A62E-4346-A085-977C23F1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352800"/>
            <a:ext cx="2238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57029F-706B-4683-B144-3DB521C1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29000"/>
            <a:ext cx="2066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계정/외부망/로그 저장 한도/유료 기능 확인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0A2F10-4619-4BF5-9210-335E7BFD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05363A-2F8D-40F9-B739-B250768E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2900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핵심 기능 무료, 일부 유료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02FDEA-AD02-4221-9F69-F769D527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528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082910-3C74-4F28-9575-0D3366D8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29000"/>
            <a:ext cx="201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후보. 계정/API token 필요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AE1912-73A9-4F07-9C9C-5CCFE10C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FDBE77-C3FD-4F60-B137-966A0712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57650"/>
            <a:ext cx="971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OpenRouter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DE0DAE-442B-4FD5-9A24-A5A72527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CB637C-9063-4150-9AF1-700A4D2C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57650"/>
            <a:ext cx="1209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 marketplace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69A433-D63F-496A-B7A0-B1268FA8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8145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017273-BF4C-437D-A913-C32E2F59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57650"/>
            <a:ext cx="211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400+ 모델/다수 provider, auto routing, budget/spend control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5CD7C7-F9C2-4FA5-834B-0735067B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981450"/>
            <a:ext cx="2238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4EB17D-7924-41A0-BC98-8BC59DCC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57650"/>
            <a:ext cx="2066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무료 plan rate limit, 운영 과금/데이터 정책 확인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47CBBD-3FD5-4F41-BDFB-7AC7F442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814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14541A-9129-446C-9302-8D1459CA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05765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무료 모델 + PAYG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A8E309C-305D-4478-9E65-3A029933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814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24F436-D5C2-4674-90A2-712D6DE2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057650"/>
            <a:ext cx="201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후보. 외부 API key 필요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B4F9F6-B225-451E-A96A-BD3AA636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A4F3C6C-4147-4E9C-9D99-035885B1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686300"/>
            <a:ext cx="971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Kong AI Gateway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176F02-206C-4E6D-A33D-7E738AFF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C0B025-9C47-44CB-A22D-EF242933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686300"/>
            <a:ext cx="1209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 Gateway 기반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2181545-D6E4-48E8-822D-515C91E1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1010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C15E3D-75CE-49A9-9BA0-C5CC0B15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86300"/>
            <a:ext cx="2114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Kong plugin 생태계, AI Proxy, 보안/관측/거버넌스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6600B7C-5D56-4A81-8053-BED6610F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610100"/>
            <a:ext cx="2238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326DFF6-5C3B-46A3-9D48-588B9A69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86300"/>
            <a:ext cx="2066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Enterprise/Plugin 범위와 라이선스 확인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3555EF3-2875-4B89-9CA0-BF20648E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1010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E1D4CB0-06EF-4095-8EAE-A8B90CD4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68630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OSS/유료 혼재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B3F16F9-794E-42BD-A37B-45FD1E1A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101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FE5CBA1-1C3B-4C1D-BD98-313817F5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686300"/>
            <a:ext cx="201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후보. Kong 구성 필요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576411D-1DAE-477D-87C9-29ECA05F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AD42D06-611D-40FF-BFEC-D164DA56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권장 선택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3E8AABD-A3C0-4675-8250-EB514F2C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531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빠른 PoC/내부 운영 기준선은 LiteLLM, 외부 SaaS 비교는 Cloudflare/OpenRouter, 엔터프라이즈 API Gateway 확장은 Kong/Portkey를 추가 검토합니다.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40B086C-1D11-46DF-8A89-3ED679F4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Sources: LiteLLM, Portkey, Cloudflare, OpenRouter, Kong official docs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D18A989-289C-4C37-87AE-47303026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055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81496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2026-06-09T02:42:04.7510000Z</dcterms:created>
  <dcterms:modified xsi:type="dcterms:W3CDTF">2026-06-09T02:42:04.7510000Z</dcterms:modified>
</coreProperties>
</file>