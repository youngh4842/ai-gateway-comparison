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AAE1A-385A-B641-CC2C-226FF79C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FDF88-F7A2-AF81-E1B4-3D61B4825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20FF2-12D4-4E80-4BD4-EBB087880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4EB54-1756-E136-171E-E9DADFCA42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17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96908E-1E46-47C8-92D6-F63D02D7C1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D9E5AF-6648-4FBD-9A15-2A143717D8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4EA6E5-6C5D-4364-ADFF-7884D4FFF13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Gateway Comparison PoC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4F7342-4D60-4979-AB49-0BCF03D43CB5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운영</a:t>
            </a:r>
            <a:r>
              <a:rPr sz="150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관점</a:t>
            </a:r>
            <a:r>
              <a:rPr sz="150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/ Gateway </a:t>
            </a: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특징</a:t>
            </a:r>
            <a:r>
              <a:rPr sz="150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/ </a:t>
            </a: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연결</a:t>
            </a:r>
            <a:r>
              <a:rPr sz="150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상태</a:t>
            </a:r>
            <a:r>
              <a:rPr sz="150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/ </a:t>
            </a: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의미</a:t>
            </a:r>
            <a:r>
              <a:rPr sz="150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있는</a:t>
            </a:r>
            <a:r>
              <a:rPr sz="150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테스트</a:t>
            </a:r>
            <a:r>
              <a:rPr sz="1500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전략</a:t>
            </a:r>
            <a:endParaRPr sz="1500" b="0" dirty="0">
              <a:solidFill>
                <a:srgbClr val="5E6A7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BD10DD-D665-415A-BC61-D3AC3DEB3EA2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6858000" cy="2524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63EDF6-E291-4181-A3BE-90F09923FFA2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핵심 메시지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2CF155-75BF-4EB5-9CD4-A92EBA9BB3B9}"/>
              </a:ext>
            </a:extLst>
          </p:cNvPr>
          <p:cNvSpPr>
            <a:spLocks noGrp="1"/>
          </p:cNvSpPr>
          <p:nvPr/>
        </p:nvSpPr>
        <p:spPr>
          <a:xfrm>
            <a:off x="895350" y="2905125"/>
            <a:ext cx="609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>
                <a:solidFill>
                  <a:srgbClr val="17202F"/>
                </a:solidFill>
                <a:latin typeface="Aptos"/>
                <a:ea typeface="Aptos"/>
                <a:cs typeface="Aptos"/>
              </a:rPr>
              <a:t>service는</a:t>
            </a: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유지하고</a:t>
            </a: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 </a:t>
            </a:r>
            <a:endParaRPr lang="en-US" sz="1800" b="1" dirty="0">
              <a:solidFill>
                <a:srgbClr val="17202F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 </a:t>
            </a:r>
            <a:r>
              <a:rPr sz="1800" b="1" dirty="0" err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계층만</a:t>
            </a: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선택</a:t>
            </a: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/</a:t>
            </a:r>
            <a:r>
              <a:rPr sz="1800" b="1" dirty="0" err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교체할</a:t>
            </a: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 수 </a:t>
            </a:r>
            <a:r>
              <a:rPr sz="1800" b="1" dirty="0" err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있는</a:t>
            </a: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구조로</a:t>
            </a: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확장했습니다</a:t>
            </a:r>
            <a:r>
              <a:rPr sz="1800" b="1" dirty="0">
                <a:solidFill>
                  <a:srgbClr val="17202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698752-A1ED-4F9E-8708-9231232477CE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590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현재</a:t>
            </a: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연결됨</a:t>
            </a: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: APISIX, Envoy, </a:t>
            </a:r>
            <a:r>
              <a:rPr sz="15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LiteLLM</a:t>
            </a:r>
            <a:endParaRPr sz="150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후보</a:t>
            </a: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</a:t>
            </a:r>
            <a:r>
              <a:rPr sz="15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표시</a:t>
            </a: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전용</a:t>
            </a: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: Kong, Cloudflare AI Gateway, Portkey, </a:t>
            </a:r>
            <a:r>
              <a:rPr sz="15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OpenRouter</a:t>
            </a:r>
            <a:endParaRPr sz="150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1560E1-B8E3-46B7-9938-EA1FF93CF3BD}"/>
              </a:ext>
            </a:extLst>
          </p:cNvPr>
          <p:cNvSpPr>
            <a:spLocks noGrp="1"/>
          </p:cNvSpPr>
          <p:nvPr/>
        </p:nvSpPr>
        <p:spPr>
          <a:xfrm>
            <a:off x="8096250" y="2609850"/>
            <a:ext cx="1809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DB64B2-D9E3-4A02-AB09-6174D56EBF2E}"/>
              </a:ext>
            </a:extLst>
          </p:cNvPr>
          <p:cNvSpPr>
            <a:spLocks noGrp="1"/>
          </p:cNvSpPr>
          <p:nvPr/>
        </p:nvSpPr>
        <p:spPr>
          <a:xfrm>
            <a:off x="8191500" y="26670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APISIX connected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E94154-4266-49DD-93EA-72FB594498A6}"/>
              </a:ext>
            </a:extLst>
          </p:cNvPr>
          <p:cNvSpPr>
            <a:spLocks noGrp="1"/>
          </p:cNvSpPr>
          <p:nvPr/>
        </p:nvSpPr>
        <p:spPr>
          <a:xfrm>
            <a:off x="8096250" y="3067050"/>
            <a:ext cx="1809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D885A3-1EF3-4A8B-A66E-AC1B7F271DAF}"/>
              </a:ext>
            </a:extLst>
          </p:cNvPr>
          <p:cNvSpPr>
            <a:spLocks noGrp="1"/>
          </p:cNvSpPr>
          <p:nvPr/>
        </p:nvSpPr>
        <p:spPr>
          <a:xfrm>
            <a:off x="8191500" y="31242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Envoy connected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65D18A-57E6-4784-925B-6E9606095507}"/>
              </a:ext>
            </a:extLst>
          </p:cNvPr>
          <p:cNvSpPr>
            <a:spLocks noGrp="1"/>
          </p:cNvSpPr>
          <p:nvPr/>
        </p:nvSpPr>
        <p:spPr>
          <a:xfrm>
            <a:off x="8096250" y="3524250"/>
            <a:ext cx="1809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3B2E54-1CE3-4059-822E-5FA90CAC409B}"/>
              </a:ext>
            </a:extLst>
          </p:cNvPr>
          <p:cNvSpPr>
            <a:spLocks noGrp="1"/>
          </p:cNvSpPr>
          <p:nvPr/>
        </p:nvSpPr>
        <p:spPr>
          <a:xfrm>
            <a:off x="8191500" y="35814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LiteLLM connected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190198-D55E-4B08-9F1D-37E181440A58}"/>
              </a:ext>
            </a:extLst>
          </p:cNvPr>
          <p:cNvSpPr>
            <a:spLocks noGrp="1"/>
          </p:cNvSpPr>
          <p:nvPr/>
        </p:nvSpPr>
        <p:spPr>
          <a:xfrm>
            <a:off x="8096250" y="3981450"/>
            <a:ext cx="1809750" cy="285750"/>
          </a:xfrm>
          <a:prstGeom prst="rect">
            <a:avLst/>
          </a:prstGeom>
          <a:solidFill>
            <a:srgbClr val="FFF7E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ECD248-F6F4-4980-9DFD-202EB5CD2DF6}"/>
              </a:ext>
            </a:extLst>
          </p:cNvPr>
          <p:cNvSpPr>
            <a:spLocks noGrp="1"/>
          </p:cNvSpPr>
          <p:nvPr/>
        </p:nvSpPr>
        <p:spPr>
          <a:xfrm>
            <a:off x="8191500" y="40386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External candidates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55168A-6F9E-45D2-88C2-DF848D92BABB}"/>
              </a:ext>
            </a:extLst>
          </p:cNvPr>
          <p:cNvSpPr>
            <a:spLocks noGrp="1"/>
          </p:cNvSpPr>
          <p:nvPr/>
        </p:nvSpPr>
        <p:spPr>
          <a:xfrm>
            <a:off x="628650" y="5857875"/>
            <a:ext cx="838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발표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범위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: PoC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구현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결과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운영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비교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테스트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방법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개인정보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필터링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비용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/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공수</a:t>
            </a:r>
            <a:r>
              <a:rPr sz="1275" b="0" dirty="0">
                <a:solidFill>
                  <a:srgbClr val="5E6A7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5E6A7D"/>
                </a:solidFill>
                <a:latin typeface="Aptos"/>
                <a:ea typeface="Aptos"/>
                <a:cs typeface="Aptos"/>
              </a:rPr>
              <a:t>가늠</a:t>
            </a:r>
            <a:endParaRPr sz="1275" b="0" dirty="0">
              <a:solidFill>
                <a:srgbClr val="5E6A7D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05595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0836C-0731-7C1C-BC5C-71477459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C01F22-13F0-B646-34F1-5228266D4A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967D01-EF8D-16D2-AFD6-077571331F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6D73ED-DDD5-DDE0-E514-22012E7C12A5}"/>
              </a:ext>
            </a:extLst>
          </p:cNvPr>
          <p:cNvSpPr>
            <a:spLocks noGrp="1"/>
          </p:cNvSpPr>
          <p:nvPr/>
        </p:nvSpPr>
        <p:spPr>
          <a:xfrm>
            <a:off x="609599" y="2028825"/>
            <a:ext cx="8982075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30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5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AI </a:t>
            </a:r>
            <a:r>
              <a:rPr sz="5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Gateway </a:t>
            </a:r>
            <a:r>
              <a:rPr lang="ko-KR" altLang="en-US" sz="5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비교</a:t>
            </a:r>
            <a:r>
              <a:rPr sz="5400" b="1" dirty="0">
                <a:solidFill>
                  <a:srgbClr val="17202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 Display"/>
              </a:rPr>
              <a:t> PoC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B2FAB4-6EF4-DD92-D023-5C2C04653340}"/>
              </a:ext>
            </a:extLst>
          </p:cNvPr>
          <p:cNvSpPr>
            <a:spLocks noGrp="1"/>
          </p:cNvSpPr>
          <p:nvPr/>
        </p:nvSpPr>
        <p:spPr>
          <a:xfrm>
            <a:off x="5848350" y="4795837"/>
            <a:ext cx="52482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000" b="1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커머스웨어</a:t>
            </a:r>
            <a:r>
              <a:rPr lang="ko-KR" altLang="en-US" sz="2000" b="1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 정영희</a:t>
            </a:r>
            <a:endParaRPr sz="2000" b="1" dirty="0">
              <a:solidFill>
                <a:srgbClr val="5E6A7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D9829E-276C-F061-0927-B3ECF16126FB}"/>
              </a:ext>
            </a:extLst>
          </p:cNvPr>
          <p:cNvSpPr>
            <a:spLocks noGrp="1"/>
          </p:cNvSpPr>
          <p:nvPr/>
        </p:nvSpPr>
        <p:spPr>
          <a:xfrm>
            <a:off x="5857875" y="4357687"/>
            <a:ext cx="52482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000" b="1" dirty="0">
                <a:solidFill>
                  <a:srgbClr val="5E6A7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ptos"/>
              </a:rPr>
              <a:t>2026.06.09</a:t>
            </a:r>
            <a:endParaRPr sz="2000" b="1" dirty="0">
              <a:solidFill>
                <a:srgbClr val="5E6A7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40679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414D80-5D92-4321-B2C1-C960482399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437073-7CD7-47BF-B9F7-3AA9D732FD54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2476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목차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55C42B-D7AA-43BC-985E-4A31084BE681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666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Gateway 운영 전환 예상 공수 산정 자료의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83AE09-E6C2-4735-A7A4-9D6FD7CFE2DF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962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1D2F3F-2CCD-4892-B994-658DB951E88C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76200" cy="914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D77763-9BFE-4945-B357-F50EB67975DC}"/>
              </a:ext>
            </a:extLst>
          </p:cNvPr>
          <p:cNvSpPr>
            <a:spLocks noGrp="1"/>
          </p:cNvSpPr>
          <p:nvPr/>
        </p:nvSpPr>
        <p:spPr>
          <a:xfrm>
            <a:off x="1123950" y="196215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67DE6C-8E8F-4931-9478-7C597900D41B}"/>
              </a:ext>
            </a:extLst>
          </p:cNvPr>
          <p:cNvSpPr>
            <a:spLocks noGrp="1"/>
          </p:cNvSpPr>
          <p:nvPr/>
        </p:nvSpPr>
        <p:spPr>
          <a:xfrm>
            <a:off x="1866900" y="19050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산정 전제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38FB3D-640E-4B8D-9D32-A3DBBA9AF3EF}"/>
              </a:ext>
            </a:extLst>
          </p:cNvPr>
          <p:cNvSpPr>
            <a:spLocks noGrp="1"/>
          </p:cNvSpPr>
          <p:nvPr/>
        </p:nvSpPr>
        <p:spPr>
          <a:xfrm>
            <a:off x="1866900" y="2228850"/>
            <a:ext cx="704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PoC 비교 후 운영 대상 Gateway를 1개로 선정하고, 기존 app-cs-service 구조를 유지합니다.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A40CDE-3BCE-4369-8BA1-7479ADAAAB82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962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8A301A-519F-4546-992F-D1829F35F740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76200" cy="9144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D94FD9-0DA2-4AB1-8778-A1D8D9640443}"/>
              </a:ext>
            </a:extLst>
          </p:cNvPr>
          <p:cNvSpPr>
            <a:spLocks noGrp="1"/>
          </p:cNvSpPr>
          <p:nvPr/>
        </p:nvSpPr>
        <p:spPr>
          <a:xfrm>
            <a:off x="1123950" y="31242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C1A8EE-4504-4729-866F-A340C639D98A}"/>
              </a:ext>
            </a:extLst>
          </p:cNvPr>
          <p:cNvSpPr>
            <a:spLocks noGrp="1"/>
          </p:cNvSpPr>
          <p:nvPr/>
        </p:nvSpPr>
        <p:spPr>
          <a:xfrm>
            <a:off x="1866900" y="30670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역할별 공수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6560BF-B239-4DA1-85F4-4340DE2F1B13}"/>
              </a:ext>
            </a:extLst>
          </p:cNvPr>
          <p:cNvSpPr>
            <a:spLocks noGrp="1"/>
          </p:cNvSpPr>
          <p:nvPr/>
        </p:nvSpPr>
        <p:spPr>
          <a:xfrm>
            <a:off x="1866900" y="3390900"/>
            <a:ext cx="704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파트 리더와 개발자의 역할을 분리해 MD와 M/M 기준으로 산정합니다.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E8D4C2-07DF-4BD9-A85D-FED315D8F44C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962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3D06C1-43DC-438E-A96A-0C72771461EA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76200" cy="914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8BEEC3-A338-4639-8C07-43B330285CFE}"/>
              </a:ext>
            </a:extLst>
          </p:cNvPr>
          <p:cNvSpPr>
            <a:spLocks noGrp="1"/>
          </p:cNvSpPr>
          <p:nvPr/>
        </p:nvSpPr>
        <p:spPr>
          <a:xfrm>
            <a:off x="1123950" y="428625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D98C98-AEDA-4F29-B0E8-CF6E766FD443}"/>
              </a:ext>
            </a:extLst>
          </p:cNvPr>
          <p:cNvSpPr>
            <a:spLocks noGrp="1"/>
          </p:cNvSpPr>
          <p:nvPr/>
        </p:nvSpPr>
        <p:spPr>
          <a:xfrm>
            <a:off x="1866900" y="42291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투입 해석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33DA73-FD2C-42B4-8BFC-32C9D0A58AF1}"/>
              </a:ext>
            </a:extLst>
          </p:cNvPr>
          <p:cNvSpPr>
            <a:spLocks noGrp="1"/>
          </p:cNvSpPr>
          <p:nvPr/>
        </p:nvSpPr>
        <p:spPr>
          <a:xfrm>
            <a:off x="1866900" y="4552950"/>
            <a:ext cx="704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내부 OSS Gateway 선택 시 기본 공수와 외부 SaaS Gateway 선택 시 추가 공수를 구분합니다.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6B1A074-703E-41BC-B588-35D96E30ACEE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962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EA4768-4FA5-4D6A-8297-74ED3CBA72B5}"/>
              </a:ext>
            </a:extLst>
          </p:cNvPr>
          <p:cNvSpPr>
            <a:spLocks noGrp="1"/>
          </p:cNvSpPr>
          <p:nvPr/>
        </p:nvSpPr>
        <p:spPr>
          <a:xfrm>
            <a:off x="1085850" y="56578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요약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85E848-CFEF-49BE-95D7-5B805F3CDD16}"/>
              </a:ext>
            </a:extLst>
          </p:cNvPr>
          <p:cNvSpPr>
            <a:spLocks noGrp="1"/>
          </p:cNvSpPr>
          <p:nvPr/>
        </p:nvSpPr>
        <p:spPr>
          <a:xfrm>
            <a:off x="2000250" y="5657850"/>
            <a:ext cx="752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내부 OSS Gateway 1개 선정 기준 총 1.05-1.65 M/M, 외부 SaaS 선택 시 +0.15-0.35 M/M 추가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4BF7169-4E34-4422-B459-590C09FC0630}"/>
              </a:ext>
            </a:extLst>
          </p:cNvPr>
          <p:cNvSpPr>
            <a:spLocks noGrp="1"/>
          </p:cNvSpPr>
          <p:nvPr/>
        </p:nvSpPr>
        <p:spPr>
          <a:xfrm>
            <a:off x="10382250" y="63055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900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DEE870DB-7D77-4877-A908-F5A4F03728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A8EAC7-2983-440A-AC53-E7C1DCD5F40B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559D7E-9869-4CE4-BE37-A35C9A0C12C6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운영 관점에서 이번 PoC가 증명한 것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92ACD6-2D87-4B07-9F49-F150058936C0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1CC650-D127-4C89-86EC-84F8B6003923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9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E7FB6F-DA89-43B3-93ED-2065E55A3ED4}"/>
              </a:ext>
            </a:extLst>
          </p:cNvPr>
          <p:cNvSpPr>
            <a:spLocks noGrp="1"/>
          </p:cNvSpPr>
          <p:nvPr/>
        </p:nvSpPr>
        <p:spPr>
          <a:xfrm>
            <a:off x="895350" y="1600200"/>
            <a:ext cx="361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00EBF3-271E-4369-915F-D53EC010014B}"/>
              </a:ext>
            </a:extLst>
          </p:cNvPr>
          <p:cNvSpPr>
            <a:spLocks noGrp="1"/>
          </p:cNvSpPr>
          <p:nvPr/>
        </p:nvSpPr>
        <p:spPr>
          <a:xfrm>
            <a:off x="1466850" y="15811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서비스 안정성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1848C0-CB02-499B-ACFA-56D120D5372C}"/>
              </a:ext>
            </a:extLst>
          </p:cNvPr>
          <p:cNvSpPr>
            <a:spLocks noGrp="1"/>
          </p:cNvSpPr>
          <p:nvPr/>
        </p:nvSpPr>
        <p:spPr>
          <a:xfrm>
            <a:off x="1466850" y="1866900"/>
            <a:ext cx="809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service의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API와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UI는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유지하고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Gateway만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선택합니다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206329-53D0-40AE-B24F-0C7413A55DA9}"/>
              </a:ext>
            </a:extLst>
          </p:cNvPr>
          <p:cNvSpPr>
            <a:spLocks noGrp="1"/>
          </p:cNvSpPr>
          <p:nvPr/>
        </p:nvSpPr>
        <p:spPr>
          <a:xfrm>
            <a:off x="666750" y="2419350"/>
            <a:ext cx="1009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EE5297-4693-4DE4-BBE5-2D806B49C8A4}"/>
              </a:ext>
            </a:extLst>
          </p:cNvPr>
          <p:cNvSpPr>
            <a:spLocks noGrp="1"/>
          </p:cNvSpPr>
          <p:nvPr/>
        </p:nvSpPr>
        <p:spPr>
          <a:xfrm>
            <a:off x="895350" y="2590800"/>
            <a:ext cx="361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31AFEF-50F8-4D66-9B8D-5A1BCCDDC996}"/>
              </a:ext>
            </a:extLst>
          </p:cNvPr>
          <p:cNvSpPr>
            <a:spLocks noGrp="1"/>
          </p:cNvSpPr>
          <p:nvPr/>
        </p:nvSpPr>
        <p:spPr>
          <a:xfrm>
            <a:off x="1466850" y="25717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비교 가능성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2E91CA-445B-418C-B3A2-7EABFFD3C7D1}"/>
              </a:ext>
            </a:extLst>
          </p:cNvPr>
          <p:cNvSpPr>
            <a:spLocks noGrp="1"/>
          </p:cNvSpPr>
          <p:nvPr/>
        </p:nvSpPr>
        <p:spPr>
          <a:xfrm>
            <a:off x="1466850" y="2857500"/>
            <a:ext cx="809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동일 요청을 APISIX / Envoy / LiteLLM로 보내 결과와 지연을 나란히 확인합니다.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CC2DCC-4F88-4B08-90DA-2AB404594B35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1009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BDBBA1-829F-4E29-A3BF-7B915D4F7DBF}"/>
              </a:ext>
            </a:extLst>
          </p:cNvPr>
          <p:cNvSpPr>
            <a:spLocks noGrp="1"/>
          </p:cNvSpPr>
          <p:nvPr/>
        </p:nvSpPr>
        <p:spPr>
          <a:xfrm>
            <a:off x="895350" y="3581400"/>
            <a:ext cx="361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F40ED2F-A4F5-478F-86DE-DC328D14D8E8}"/>
              </a:ext>
            </a:extLst>
          </p:cNvPr>
          <p:cNvSpPr>
            <a:spLocks noGrp="1"/>
          </p:cNvSpPr>
          <p:nvPr/>
        </p:nvSpPr>
        <p:spPr>
          <a:xfrm>
            <a:off x="1466850" y="35623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통제 지점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D7E84D-9356-4DC3-BBC8-62553ECB6BF3}"/>
              </a:ext>
            </a:extLst>
          </p:cNvPr>
          <p:cNvSpPr>
            <a:spLocks noGrp="1"/>
          </p:cNvSpPr>
          <p:nvPr/>
        </p:nvSpPr>
        <p:spPr>
          <a:xfrm>
            <a:off x="1466850" y="3848100"/>
            <a:ext cx="809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개인정보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필터를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Gateway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전단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서비스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계층에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두어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모든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Gateway에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공통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적용합니다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CFD859-8335-47A1-B380-91AEB92F65E9}"/>
              </a:ext>
            </a:extLst>
          </p:cNvPr>
          <p:cNvSpPr>
            <a:spLocks noGrp="1"/>
          </p:cNvSpPr>
          <p:nvPr/>
        </p:nvSpPr>
        <p:spPr>
          <a:xfrm>
            <a:off x="666750" y="4400550"/>
            <a:ext cx="1009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82CAFC-2EF7-4A64-809B-F8326C152A70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361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836256-3C31-4FDF-BDC4-DC650235A9E7}"/>
              </a:ext>
            </a:extLst>
          </p:cNvPr>
          <p:cNvSpPr>
            <a:spLocks noGrp="1"/>
          </p:cNvSpPr>
          <p:nvPr/>
        </p:nvSpPr>
        <p:spPr>
          <a:xfrm>
            <a:off x="1466850" y="45529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판단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BD91B6-DBE2-41DC-8313-1840BAB785CE}"/>
              </a:ext>
            </a:extLst>
          </p:cNvPr>
          <p:cNvSpPr>
            <a:spLocks noGrp="1"/>
          </p:cNvSpPr>
          <p:nvPr/>
        </p:nvSpPr>
        <p:spPr>
          <a:xfrm>
            <a:off x="1466850" y="4838700"/>
            <a:ext cx="809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라우팅, 인증, 속도 제한, LLM provider 관리 중 어디에 강점이 있는지 구분합니다.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FFEACD-1849-4291-B26F-54D6B7703848}"/>
              </a:ext>
            </a:extLst>
          </p:cNvPr>
          <p:cNvSpPr>
            <a:spLocks noGrp="1"/>
          </p:cNvSpPr>
          <p:nvPr/>
        </p:nvSpPr>
        <p:spPr>
          <a:xfrm>
            <a:off x="723900" y="56007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실행 가능한 결론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5C697C-706C-43CB-9B4D-EA5DB917E1B4}"/>
              </a:ext>
            </a:extLst>
          </p:cNvPr>
          <p:cNvSpPr>
            <a:spLocks noGrp="1"/>
          </p:cNvSpPr>
          <p:nvPr/>
        </p:nvSpPr>
        <p:spPr>
          <a:xfrm>
            <a:off x="2362200" y="5543550"/>
            <a:ext cx="20002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107B3CC-7609-4251-819C-4F0582E1B724}"/>
              </a:ext>
            </a:extLst>
          </p:cNvPr>
          <p:cNvSpPr>
            <a:spLocks noGrp="1"/>
          </p:cNvSpPr>
          <p:nvPr/>
        </p:nvSpPr>
        <p:spPr>
          <a:xfrm>
            <a:off x="2457450" y="56007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API Gateway 기준선: APISIX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7743A18-4623-4C3A-942B-71BDB45E3F6D}"/>
              </a:ext>
            </a:extLst>
          </p:cNvPr>
          <p:cNvSpPr>
            <a:spLocks noGrp="1"/>
          </p:cNvSpPr>
          <p:nvPr/>
        </p:nvSpPr>
        <p:spPr>
          <a:xfrm>
            <a:off x="4572000" y="5543550"/>
            <a:ext cx="20002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CDF1342-A366-4212-B6BA-199754DA9398}"/>
              </a:ext>
            </a:extLst>
          </p:cNvPr>
          <p:cNvSpPr>
            <a:spLocks noGrp="1"/>
          </p:cNvSpPr>
          <p:nvPr/>
        </p:nvSpPr>
        <p:spPr>
          <a:xfrm>
            <a:off x="4667250" y="56007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Proxy/Infra 기준선: Envoy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62865D-0FF1-4C2F-BE29-71FB4753E664}"/>
              </a:ext>
            </a:extLst>
          </p:cNvPr>
          <p:cNvSpPr>
            <a:spLocks noGrp="1"/>
          </p:cNvSpPr>
          <p:nvPr/>
        </p:nvSpPr>
        <p:spPr>
          <a:xfrm>
            <a:off x="6781800" y="5543550"/>
            <a:ext cx="2190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96EAF0A-6829-47C2-9E4D-A00BE8100D5E}"/>
              </a:ext>
            </a:extLst>
          </p:cNvPr>
          <p:cNvSpPr>
            <a:spLocks noGrp="1"/>
          </p:cNvSpPr>
          <p:nvPr/>
        </p:nvSpPr>
        <p:spPr>
          <a:xfrm>
            <a:off x="6877050" y="56007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LLM Gateway 기준선: LiteLLM</a:t>
            </a:r>
          </a:p>
        </p:txBody>
      </p:sp>
    </p:spTree>
    <p:extLst>
      <p:ext uri="{BB962C8B-B14F-4D97-AF65-F5344CB8AC3E}">
        <p14:creationId xmlns:p14="http://schemas.microsoft.com/office/powerpoint/2010/main" val="190422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62A96A-9A3D-4A15-8C5C-82338EB15B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330F42-1DD6-4276-8F92-12EB1597E4CB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62F3B5-6204-48A2-813A-D9821DC07767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구조: service는 고정, Gateway는 선택/교체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1D2D2F-0A35-481B-8CF1-77DCDEE95F1D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043E4C-DA32-4AEC-9AD1-505047BE34A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35F112-5E3D-49D4-8B53-6886BAAC402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4287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82F2C-9DE2-49D9-B6B6-9E9635AED97C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1123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003530B-E51C-404F-A0AF-012DBB45C45A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16954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35D41A-B0F2-4243-8F67-F8B9C9A7126C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16954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200607-EF58-4113-82ED-4C0FFB54224A}"/>
              </a:ext>
            </a:extLst>
          </p:cNvPr>
          <p:cNvSpPr>
            <a:spLocks noGrp="1"/>
          </p:cNvSpPr>
          <p:nvPr/>
        </p:nvSpPr>
        <p:spPr>
          <a:xfrm>
            <a:off x="2800350" y="1847850"/>
            <a:ext cx="1390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app-cs-service</a:t>
            </a:r>
          </a:p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:18081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4DDE73-6AA3-427C-B5BA-36F69664B400}"/>
              </a:ext>
            </a:extLst>
          </p:cNvPr>
          <p:cNvSpPr>
            <a:spLocks noGrp="1"/>
          </p:cNvSpPr>
          <p:nvPr/>
        </p:nvSpPr>
        <p:spPr>
          <a:xfrm>
            <a:off x="4953000" y="1524000"/>
            <a:ext cx="2000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9383DA-584E-478C-94C7-1579DB62F0C4}"/>
              </a:ext>
            </a:extLst>
          </p:cNvPr>
          <p:cNvSpPr>
            <a:spLocks noGrp="1"/>
          </p:cNvSpPr>
          <p:nvPr/>
        </p:nvSpPr>
        <p:spPr>
          <a:xfrm>
            <a:off x="4953000" y="1524000"/>
            <a:ext cx="2000250" cy="571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DC1932-E7BB-4A42-A9E4-8775D92405D2}"/>
              </a:ext>
            </a:extLst>
          </p:cNvPr>
          <p:cNvSpPr>
            <a:spLocks noGrp="1"/>
          </p:cNvSpPr>
          <p:nvPr/>
        </p:nvSpPr>
        <p:spPr>
          <a:xfrm>
            <a:off x="5105400" y="1752600"/>
            <a:ext cx="1695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Privacy Guard</a:t>
            </a:r>
          </a:p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MASK / BLOCK / OFF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7982065-7DF6-43F0-B156-8CC3DCF0DEE3}"/>
              </a:ext>
            </a:extLst>
          </p:cNvPr>
          <p:cNvSpPr>
            <a:spLocks noGrp="1"/>
          </p:cNvSpPr>
          <p:nvPr/>
        </p:nvSpPr>
        <p:spPr>
          <a:xfrm>
            <a:off x="7562850" y="1619250"/>
            <a:ext cx="2000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E5E4F9-76CC-4AEB-ACC4-34A074C933CE}"/>
              </a:ext>
            </a:extLst>
          </p:cNvPr>
          <p:cNvSpPr>
            <a:spLocks noGrp="1"/>
          </p:cNvSpPr>
          <p:nvPr/>
        </p:nvSpPr>
        <p:spPr>
          <a:xfrm>
            <a:off x="7562850" y="1619250"/>
            <a:ext cx="20002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2865E6-BA06-4445-8114-1C4F83E8A7C5}"/>
              </a:ext>
            </a:extLst>
          </p:cNvPr>
          <p:cNvSpPr>
            <a:spLocks noGrp="1"/>
          </p:cNvSpPr>
          <p:nvPr/>
        </p:nvSpPr>
        <p:spPr>
          <a:xfrm>
            <a:off x="7715250" y="1847850"/>
            <a:ext cx="1695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 selector</a:t>
            </a:r>
          </a:p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combo + compare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74696E-661A-49D3-B23C-EDD44E3A0CD3}"/>
              </a:ext>
            </a:extLst>
          </p:cNvPr>
          <p:cNvSpPr>
            <a:spLocks noGrp="1"/>
          </p:cNvSpPr>
          <p:nvPr/>
        </p:nvSpPr>
        <p:spPr>
          <a:xfrm>
            <a:off x="10191750" y="17145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EE4C61-833A-4A81-B047-ABF6619BDB51}"/>
              </a:ext>
            </a:extLst>
          </p:cNvPr>
          <p:cNvSpPr>
            <a:spLocks noGrp="1"/>
          </p:cNvSpPr>
          <p:nvPr/>
        </p:nvSpPr>
        <p:spPr>
          <a:xfrm>
            <a:off x="10191750" y="1714500"/>
            <a:ext cx="1428750" cy="5715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E1D6E9-054C-4295-A9DF-F28A4507E09A}"/>
              </a:ext>
            </a:extLst>
          </p:cNvPr>
          <p:cNvSpPr>
            <a:spLocks noGrp="1"/>
          </p:cNvSpPr>
          <p:nvPr/>
        </p:nvSpPr>
        <p:spPr>
          <a:xfrm>
            <a:off x="10344150" y="1943100"/>
            <a:ext cx="1123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mock LLM</a:t>
            </a:r>
          </a:p>
          <a:p>
            <a:pPr algn="l">
              <a:defRPr sz="12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:18082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8746EF42-A6A0-44F8-A95D-760FBAFEF1BE}"/>
              </a:ext>
            </a:extLst>
          </p:cNvPr>
          <p:cNvSpPr>
            <a:spLocks noGrp="1"/>
          </p:cNvSpPr>
          <p:nvPr/>
        </p:nvSpPr>
        <p:spPr>
          <a:xfrm>
            <a:off x="2038350" y="2152650"/>
            <a:ext cx="5905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F41AB753-146F-4705-87E6-157C41381D72}"/>
              </a:ext>
            </a:extLst>
          </p:cNvPr>
          <p:cNvSpPr>
            <a:spLocks noGrp="1"/>
          </p:cNvSpPr>
          <p:nvPr/>
        </p:nvSpPr>
        <p:spPr>
          <a:xfrm>
            <a:off x="2543175" y="2095500"/>
            <a:ext cx="114300" cy="114300"/>
          </a:xfrm>
          <a:prstGeom prst="triangle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E26A5617-1D54-4D07-B9D8-A2DBA224F2E3}"/>
              </a:ext>
            </a:extLst>
          </p:cNvPr>
          <p:cNvSpPr>
            <a:spLocks noGrp="1"/>
          </p:cNvSpPr>
          <p:nvPr/>
        </p:nvSpPr>
        <p:spPr>
          <a:xfrm>
            <a:off x="4343400" y="2152650"/>
            <a:ext cx="5905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DBFBFA40-3B4D-4983-BFF1-81A705A18D01}"/>
              </a:ext>
            </a:extLst>
          </p:cNvPr>
          <p:cNvSpPr>
            <a:spLocks noGrp="1"/>
          </p:cNvSpPr>
          <p:nvPr/>
        </p:nvSpPr>
        <p:spPr>
          <a:xfrm>
            <a:off x="4848225" y="2095500"/>
            <a:ext cx="114300" cy="114300"/>
          </a:xfrm>
          <a:prstGeom prst="triangle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06160ECC-B395-4FEB-A22A-2D87AB44E695}"/>
              </a:ext>
            </a:extLst>
          </p:cNvPr>
          <p:cNvSpPr>
            <a:spLocks noGrp="1"/>
          </p:cNvSpPr>
          <p:nvPr/>
        </p:nvSpPr>
        <p:spPr>
          <a:xfrm>
            <a:off x="6953250" y="2152650"/>
            <a:ext cx="5905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55051DD7-4FCE-4A7D-A590-A34E1B68A93D}"/>
              </a:ext>
            </a:extLst>
          </p:cNvPr>
          <p:cNvSpPr>
            <a:spLocks noGrp="1"/>
          </p:cNvSpPr>
          <p:nvPr/>
        </p:nvSpPr>
        <p:spPr>
          <a:xfrm>
            <a:off x="7458075" y="2095500"/>
            <a:ext cx="114300" cy="114300"/>
          </a:xfrm>
          <a:prstGeom prst="triangle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7D0395E0-9882-4E36-8BD4-5082217A7624}"/>
              </a:ext>
            </a:extLst>
          </p:cNvPr>
          <p:cNvSpPr>
            <a:spLocks noGrp="1"/>
          </p:cNvSpPr>
          <p:nvPr/>
        </p:nvSpPr>
        <p:spPr>
          <a:xfrm>
            <a:off x="9563100" y="2152650"/>
            <a:ext cx="6096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5E51681E-5F82-49C2-92F3-76B30752CC0B}"/>
              </a:ext>
            </a:extLst>
          </p:cNvPr>
          <p:cNvSpPr>
            <a:spLocks noGrp="1"/>
          </p:cNvSpPr>
          <p:nvPr/>
        </p:nvSpPr>
        <p:spPr>
          <a:xfrm>
            <a:off x="10086975" y="2095500"/>
            <a:ext cx="114300" cy="114300"/>
          </a:xfrm>
          <a:prstGeom prst="triangle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3DDF1F-895F-4EB1-B712-D71E9DB65152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연결된 Gateway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BEDBA26-115F-482E-8941-8881485C98B3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2857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0B057C4-4090-4663-A4D9-54CCDCEA1636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1047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1D5264-B9DD-4974-B9C3-EED016BCBA87}"/>
              </a:ext>
            </a:extLst>
          </p:cNvPr>
          <p:cNvSpPr>
            <a:spLocks noGrp="1"/>
          </p:cNvSpPr>
          <p:nvPr/>
        </p:nvSpPr>
        <p:spPr>
          <a:xfrm>
            <a:off x="990600" y="38100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408321-8E88-4A0A-B39F-211B9EE0AF00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local port 19080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25F2FA-00A5-42B6-A53A-5A5ECA204C39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 + plugins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252ECA1-6016-4B1C-97E0-0A202AF20A40}"/>
              </a:ext>
            </a:extLst>
          </p:cNvPr>
          <p:cNvSpPr>
            <a:spLocks noGrp="1"/>
          </p:cNvSpPr>
          <p:nvPr/>
        </p:nvSpPr>
        <p:spPr>
          <a:xfrm>
            <a:off x="4000500" y="3562350"/>
            <a:ext cx="2857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955C4DA-7CF4-423B-8C82-1E4BD6B59B14}"/>
              </a:ext>
            </a:extLst>
          </p:cNvPr>
          <p:cNvSpPr>
            <a:spLocks noGrp="1"/>
          </p:cNvSpPr>
          <p:nvPr/>
        </p:nvSpPr>
        <p:spPr>
          <a:xfrm>
            <a:off x="4171950" y="3752850"/>
            <a:ext cx="1047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5980FF-2F86-42BB-8705-00137C3B85EB}"/>
              </a:ext>
            </a:extLst>
          </p:cNvPr>
          <p:cNvSpPr>
            <a:spLocks noGrp="1"/>
          </p:cNvSpPr>
          <p:nvPr/>
        </p:nvSpPr>
        <p:spPr>
          <a:xfrm>
            <a:off x="4267200" y="38100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1197D0-B5A0-4F1E-AF04-EB7ED2E29A99}"/>
              </a:ext>
            </a:extLst>
          </p:cNvPr>
          <p:cNvSpPr>
            <a:spLocks noGrp="1"/>
          </p:cNvSpPr>
          <p:nvPr/>
        </p:nvSpPr>
        <p:spPr>
          <a:xfrm>
            <a:off x="4171950" y="4152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local port 19081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565B4E-49FD-4D07-A3E2-143E4C6DAD9F}"/>
              </a:ext>
            </a:extLst>
          </p:cNvPr>
          <p:cNvSpPr>
            <a:spLocks noGrp="1"/>
          </p:cNvSpPr>
          <p:nvPr/>
        </p:nvSpPr>
        <p:spPr>
          <a:xfrm>
            <a:off x="4171950" y="4362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 + Lua filter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4B46571-D41D-4C0C-965E-8FEBC68664E0}"/>
              </a:ext>
            </a:extLst>
          </p:cNvPr>
          <p:cNvSpPr>
            <a:spLocks noGrp="1"/>
          </p:cNvSpPr>
          <p:nvPr/>
        </p:nvSpPr>
        <p:spPr>
          <a:xfrm>
            <a:off x="7277100" y="3562350"/>
            <a:ext cx="2857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ED11B53-4CB6-4CB8-A43B-6B9C0B7FD4AC}"/>
              </a:ext>
            </a:extLst>
          </p:cNvPr>
          <p:cNvSpPr>
            <a:spLocks noGrp="1"/>
          </p:cNvSpPr>
          <p:nvPr/>
        </p:nvSpPr>
        <p:spPr>
          <a:xfrm>
            <a:off x="7448550" y="3752850"/>
            <a:ext cx="10477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F509A99-4DA2-477C-A76E-F1C860B852E2}"/>
              </a:ext>
            </a:extLst>
          </p:cNvPr>
          <p:cNvSpPr>
            <a:spLocks noGrp="1"/>
          </p:cNvSpPr>
          <p:nvPr/>
        </p:nvSpPr>
        <p:spPr>
          <a:xfrm>
            <a:off x="7543800" y="38100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EEE611E-8916-422A-9D11-190C8FB63AD4}"/>
              </a:ext>
            </a:extLst>
          </p:cNvPr>
          <p:cNvSpPr>
            <a:spLocks noGrp="1"/>
          </p:cNvSpPr>
          <p:nvPr/>
        </p:nvSpPr>
        <p:spPr>
          <a:xfrm>
            <a:off x="7448550" y="4152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local port 14000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5AB8D1-4CE4-4E81-94CA-CB125696D7EC}"/>
              </a:ext>
            </a:extLst>
          </p:cNvPr>
          <p:cNvSpPr>
            <a:spLocks noGrp="1"/>
          </p:cNvSpPr>
          <p:nvPr/>
        </p:nvSpPr>
        <p:spPr>
          <a:xfrm>
            <a:off x="7448550" y="4362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OpenAI-compatible LLM proxy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8E8B7E8-223D-4AD1-8FA0-DAC0AD298AD8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표시 전용 후보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71C6C6D-2FE5-4D85-964B-A01E95F87BF7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1000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Kong / Cloudflare AI Gateway / Portkey / OpenRouter는 현재 콤보박스 후보로 표시되며, 로컬 라우팅 엔드포인트와 운영 인증 정보가 준비되면 연결 대상으로 승격됩니다.</a:t>
            </a:r>
          </a:p>
        </p:txBody>
      </p:sp>
    </p:spTree>
    <p:extLst>
      <p:ext uri="{BB962C8B-B14F-4D97-AF65-F5344CB8AC3E}">
        <p14:creationId xmlns:p14="http://schemas.microsoft.com/office/powerpoint/2010/main" val="164940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직사각형 74">
            <a:extLst>
              <a:ext uri="{FF2B5EF4-FFF2-40B4-BE49-F238E27FC236}">
                <a16:creationId xmlns:a16="http://schemas.microsoft.com/office/drawing/2014/main" id="{962B9E2D-5A4E-4D18-9231-48D65D48DD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D829D5-E331-4AB0-873A-9A5244A2B822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197545-55BC-414A-8853-697D34BC6781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연결 상태 차이: 무엇이 실제로 붙어 있는가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9D2681-475B-41BC-B441-2BE5FCBF3624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DC3904-55FF-4663-9D2C-E574A88095DF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14287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B9C6C-A777-4EB9-8DD7-F0B653EC6A19}"/>
              </a:ext>
            </a:extLst>
          </p:cNvPr>
          <p:cNvSpPr>
            <a:spLocks noGrp="1"/>
          </p:cNvSpPr>
          <p:nvPr/>
        </p:nvSpPr>
        <p:spPr>
          <a:xfrm>
            <a:off x="619125" y="150495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62CF1B-D066-4811-84AD-47B699BD6B2F}"/>
              </a:ext>
            </a:extLst>
          </p:cNvPr>
          <p:cNvSpPr>
            <a:spLocks noGrp="1"/>
          </p:cNvSpPr>
          <p:nvPr/>
        </p:nvSpPr>
        <p:spPr>
          <a:xfrm>
            <a:off x="1962150" y="1428750"/>
            <a:ext cx="133350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C4E44F-F712-42BC-B659-0AC22097D23F}"/>
              </a:ext>
            </a:extLst>
          </p:cNvPr>
          <p:cNvSpPr>
            <a:spLocks noGrp="1"/>
          </p:cNvSpPr>
          <p:nvPr/>
        </p:nvSpPr>
        <p:spPr>
          <a:xfrm>
            <a:off x="2047875" y="150495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608B10-4CA5-46F3-944C-F26DC47DD95B}"/>
              </a:ext>
            </a:extLst>
          </p:cNvPr>
          <p:cNvSpPr>
            <a:spLocks noGrp="1"/>
          </p:cNvSpPr>
          <p:nvPr/>
        </p:nvSpPr>
        <p:spPr>
          <a:xfrm>
            <a:off x="3295650" y="1428750"/>
            <a:ext cx="228600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0BBB1A-D6B0-424E-8547-5F70064BF3F2}"/>
              </a:ext>
            </a:extLst>
          </p:cNvPr>
          <p:cNvSpPr>
            <a:spLocks noGrp="1"/>
          </p:cNvSpPr>
          <p:nvPr/>
        </p:nvSpPr>
        <p:spPr>
          <a:xfrm>
            <a:off x="3381375" y="1504950"/>
            <a:ext cx="2114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연결 방식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C21EC5-F043-46DF-90EC-6582D80F7DEA}"/>
              </a:ext>
            </a:extLst>
          </p:cNvPr>
          <p:cNvSpPr>
            <a:spLocks noGrp="1"/>
          </p:cNvSpPr>
          <p:nvPr/>
        </p:nvSpPr>
        <p:spPr>
          <a:xfrm>
            <a:off x="5581650" y="1428750"/>
            <a:ext cx="31432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9C40F7-E49D-4223-9287-8CBD7282F4DF}"/>
              </a:ext>
            </a:extLst>
          </p:cNvPr>
          <p:cNvSpPr>
            <a:spLocks noGrp="1"/>
          </p:cNvSpPr>
          <p:nvPr/>
        </p:nvSpPr>
        <p:spPr>
          <a:xfrm>
            <a:off x="5667375" y="150495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PoC에서 확인 가능한 것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4BB95D-B0A1-4367-BC30-CAD1557AF5CF}"/>
              </a:ext>
            </a:extLst>
          </p:cNvPr>
          <p:cNvSpPr>
            <a:spLocks noGrp="1"/>
          </p:cNvSpPr>
          <p:nvPr/>
        </p:nvSpPr>
        <p:spPr>
          <a:xfrm>
            <a:off x="8724900" y="1428750"/>
            <a:ext cx="266700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983870-BF33-4FA0-9372-B93BA3C4F2B9}"/>
              </a:ext>
            </a:extLst>
          </p:cNvPr>
          <p:cNvSpPr>
            <a:spLocks noGrp="1"/>
          </p:cNvSpPr>
          <p:nvPr/>
        </p:nvSpPr>
        <p:spPr>
          <a:xfrm>
            <a:off x="8810625" y="1504950"/>
            <a:ext cx="2495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아직 필요한 것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DCBB31-85BB-4ADA-88CB-653C906A0C6C}"/>
              </a:ext>
            </a:extLst>
          </p:cNvPr>
          <p:cNvSpPr>
            <a:spLocks noGrp="1"/>
          </p:cNvSpPr>
          <p:nvPr/>
        </p:nvSpPr>
        <p:spPr>
          <a:xfrm>
            <a:off x="533400" y="1981200"/>
            <a:ext cx="14287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B51D18-1356-4447-AB69-1BBD4556A318}"/>
              </a:ext>
            </a:extLst>
          </p:cNvPr>
          <p:cNvSpPr>
            <a:spLocks noGrp="1"/>
          </p:cNvSpPr>
          <p:nvPr/>
        </p:nvSpPr>
        <p:spPr>
          <a:xfrm>
            <a:off x="619125" y="205740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03E997-3EA5-4C34-B17C-108048EB19E5}"/>
              </a:ext>
            </a:extLst>
          </p:cNvPr>
          <p:cNvSpPr>
            <a:spLocks noGrp="1"/>
          </p:cNvSpPr>
          <p:nvPr/>
        </p:nvSpPr>
        <p:spPr>
          <a:xfrm>
            <a:off x="1962150" y="1981200"/>
            <a:ext cx="13335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268471-2ED3-4EE0-9179-3D8CB27575F2}"/>
              </a:ext>
            </a:extLst>
          </p:cNvPr>
          <p:cNvSpPr>
            <a:spLocks noGrp="1"/>
          </p:cNvSpPr>
          <p:nvPr/>
        </p:nvSpPr>
        <p:spPr>
          <a:xfrm>
            <a:off x="2047875" y="205740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연결됨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9DB4DF-FDCF-4ED1-8D89-06D40CD7828A}"/>
              </a:ext>
            </a:extLst>
          </p:cNvPr>
          <p:cNvSpPr>
            <a:spLocks noGrp="1"/>
          </p:cNvSpPr>
          <p:nvPr/>
        </p:nvSpPr>
        <p:spPr>
          <a:xfrm>
            <a:off x="3295650" y="1981200"/>
            <a:ext cx="22860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66C719-66AB-4F6D-A1D1-CDFA93B72469}"/>
              </a:ext>
            </a:extLst>
          </p:cNvPr>
          <p:cNvSpPr>
            <a:spLocks noGrp="1"/>
          </p:cNvSpPr>
          <p:nvPr/>
        </p:nvSpPr>
        <p:spPr>
          <a:xfrm>
            <a:off x="3381375" y="2057400"/>
            <a:ext cx="2114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local route :19080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03DF91-CBB7-4793-80C7-C61F6B41356C}"/>
              </a:ext>
            </a:extLst>
          </p:cNvPr>
          <p:cNvSpPr>
            <a:spLocks noGrp="1"/>
          </p:cNvSpPr>
          <p:nvPr/>
        </p:nvSpPr>
        <p:spPr>
          <a:xfrm>
            <a:off x="5581650" y="1981200"/>
            <a:ext cx="3143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1EE0D7-6027-4431-BE2C-5D822660ABF2}"/>
              </a:ext>
            </a:extLst>
          </p:cNvPr>
          <p:cNvSpPr>
            <a:spLocks noGrp="1"/>
          </p:cNvSpPr>
          <p:nvPr/>
        </p:nvSpPr>
        <p:spPr>
          <a:xfrm>
            <a:off x="5667375" y="205740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HTTP routing, auth/rate-limit policy shape, plugin-based 운영 관점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0076C6-7582-4AF3-9CD3-931C8738256D}"/>
              </a:ext>
            </a:extLst>
          </p:cNvPr>
          <p:cNvSpPr>
            <a:spLocks noGrp="1"/>
          </p:cNvSpPr>
          <p:nvPr/>
        </p:nvSpPr>
        <p:spPr>
          <a:xfrm>
            <a:off x="8724900" y="1981200"/>
            <a:ext cx="26670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DFA1AF0-A42D-4B09-BA65-1F5877B8A15B}"/>
              </a:ext>
            </a:extLst>
          </p:cNvPr>
          <p:cNvSpPr>
            <a:spLocks noGrp="1"/>
          </p:cNvSpPr>
          <p:nvPr/>
        </p:nvSpPr>
        <p:spPr>
          <a:xfrm>
            <a:off x="8810625" y="2057400"/>
            <a:ext cx="2495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실 운영 plugin 정책/인증 저장소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2AAEC2-C94C-40EB-A955-16D8493C2A35}"/>
              </a:ext>
            </a:extLst>
          </p:cNvPr>
          <p:cNvSpPr>
            <a:spLocks noGrp="1"/>
          </p:cNvSpPr>
          <p:nvPr/>
        </p:nvSpPr>
        <p:spPr>
          <a:xfrm>
            <a:off x="533400" y="25336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BEDA07C-28EB-4BF0-B55B-E6846C2537FF}"/>
              </a:ext>
            </a:extLst>
          </p:cNvPr>
          <p:cNvSpPr>
            <a:spLocks noGrp="1"/>
          </p:cNvSpPr>
          <p:nvPr/>
        </p:nvSpPr>
        <p:spPr>
          <a:xfrm>
            <a:off x="619125" y="260985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0E51BA-8FC8-4625-AF88-335623EDD934}"/>
              </a:ext>
            </a:extLst>
          </p:cNvPr>
          <p:cNvSpPr>
            <a:spLocks noGrp="1"/>
          </p:cNvSpPr>
          <p:nvPr/>
        </p:nvSpPr>
        <p:spPr>
          <a:xfrm>
            <a:off x="1962150" y="2533650"/>
            <a:ext cx="1333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AFD2D73-93EB-4078-B746-E4FF1E381D5E}"/>
              </a:ext>
            </a:extLst>
          </p:cNvPr>
          <p:cNvSpPr>
            <a:spLocks noGrp="1"/>
          </p:cNvSpPr>
          <p:nvPr/>
        </p:nvSpPr>
        <p:spPr>
          <a:xfrm>
            <a:off x="2047875" y="260985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연결됨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EF9715-6EE8-4B6D-AE04-5743DB32F1C4}"/>
              </a:ext>
            </a:extLst>
          </p:cNvPr>
          <p:cNvSpPr>
            <a:spLocks noGrp="1"/>
          </p:cNvSpPr>
          <p:nvPr/>
        </p:nvSpPr>
        <p:spPr>
          <a:xfrm>
            <a:off x="3295650" y="2533650"/>
            <a:ext cx="228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F3B908E-2B38-40E2-A252-89C200F0358E}"/>
              </a:ext>
            </a:extLst>
          </p:cNvPr>
          <p:cNvSpPr>
            <a:spLocks noGrp="1"/>
          </p:cNvSpPr>
          <p:nvPr/>
        </p:nvSpPr>
        <p:spPr>
          <a:xfrm>
            <a:off x="3381375" y="2609850"/>
            <a:ext cx="2114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local route :19081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6FDCB55-FB32-4918-9578-4568A2FBFC5D}"/>
              </a:ext>
            </a:extLst>
          </p:cNvPr>
          <p:cNvSpPr>
            <a:spLocks noGrp="1"/>
          </p:cNvSpPr>
          <p:nvPr/>
        </p:nvSpPr>
        <p:spPr>
          <a:xfrm>
            <a:off x="5581650" y="253365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D38C57E-CF06-49DC-9D10-74C186DAF17D}"/>
              </a:ext>
            </a:extLst>
          </p:cNvPr>
          <p:cNvSpPr>
            <a:spLocks noGrp="1"/>
          </p:cNvSpPr>
          <p:nvPr/>
        </p:nvSpPr>
        <p:spPr>
          <a:xfrm>
            <a:off x="5667375" y="260985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L7 proxy behavior, filter/Lua policy, infra-native proxy 관점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66E3FA6-22C6-4994-BBA8-291F54E4202E}"/>
              </a:ext>
            </a:extLst>
          </p:cNvPr>
          <p:cNvSpPr>
            <a:spLocks noGrp="1"/>
          </p:cNvSpPr>
          <p:nvPr/>
        </p:nvSpPr>
        <p:spPr>
          <a:xfrm>
            <a:off x="8724900" y="2533650"/>
            <a:ext cx="2667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7108FA5-C675-446B-8A2D-972B5933D39F}"/>
              </a:ext>
            </a:extLst>
          </p:cNvPr>
          <p:cNvSpPr>
            <a:spLocks noGrp="1"/>
          </p:cNvSpPr>
          <p:nvPr/>
        </p:nvSpPr>
        <p:spPr>
          <a:xfrm>
            <a:off x="8810625" y="2609850"/>
            <a:ext cx="2495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xDS/mesh 운영 구조, observability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32EC60-40B5-422B-9EE0-81DB3BD3E517}"/>
              </a:ext>
            </a:extLst>
          </p:cNvPr>
          <p:cNvSpPr>
            <a:spLocks noGrp="1"/>
          </p:cNvSpPr>
          <p:nvPr/>
        </p:nvSpPr>
        <p:spPr>
          <a:xfrm>
            <a:off x="533400" y="3086100"/>
            <a:ext cx="14287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B6FBE4A-68C1-4ADE-B3C8-E5B075737AC9}"/>
              </a:ext>
            </a:extLst>
          </p:cNvPr>
          <p:cNvSpPr>
            <a:spLocks noGrp="1"/>
          </p:cNvSpPr>
          <p:nvPr/>
        </p:nvSpPr>
        <p:spPr>
          <a:xfrm>
            <a:off x="619125" y="316230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3393F76-0615-492B-9090-EDB123FF9B51}"/>
              </a:ext>
            </a:extLst>
          </p:cNvPr>
          <p:cNvSpPr>
            <a:spLocks noGrp="1"/>
          </p:cNvSpPr>
          <p:nvPr/>
        </p:nvSpPr>
        <p:spPr>
          <a:xfrm>
            <a:off x="1962150" y="3086100"/>
            <a:ext cx="13335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830292-5A03-4412-B8F7-204822AEFDE3}"/>
              </a:ext>
            </a:extLst>
          </p:cNvPr>
          <p:cNvSpPr>
            <a:spLocks noGrp="1"/>
          </p:cNvSpPr>
          <p:nvPr/>
        </p:nvSpPr>
        <p:spPr>
          <a:xfrm>
            <a:off x="2047875" y="316230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연결됨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F2D49E0-FD0B-4A31-9185-925F583F9E8B}"/>
              </a:ext>
            </a:extLst>
          </p:cNvPr>
          <p:cNvSpPr>
            <a:spLocks noGrp="1"/>
          </p:cNvSpPr>
          <p:nvPr/>
        </p:nvSpPr>
        <p:spPr>
          <a:xfrm>
            <a:off x="3295650" y="3086100"/>
            <a:ext cx="22860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D478420-3C3E-498C-B783-2772E480B291}"/>
              </a:ext>
            </a:extLst>
          </p:cNvPr>
          <p:cNvSpPr>
            <a:spLocks noGrp="1"/>
          </p:cNvSpPr>
          <p:nvPr/>
        </p:nvSpPr>
        <p:spPr>
          <a:xfrm>
            <a:off x="3381375" y="3162300"/>
            <a:ext cx="2114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OpenAI-compatible :14000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08A1A5A-4A68-4F8B-B021-28BFD3D50499}"/>
              </a:ext>
            </a:extLst>
          </p:cNvPr>
          <p:cNvSpPr>
            <a:spLocks noGrp="1"/>
          </p:cNvSpPr>
          <p:nvPr/>
        </p:nvSpPr>
        <p:spPr>
          <a:xfrm>
            <a:off x="5581650" y="3086100"/>
            <a:ext cx="3143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480EA56-221A-4A8D-BED8-6FF5114F423F}"/>
              </a:ext>
            </a:extLst>
          </p:cNvPr>
          <p:cNvSpPr>
            <a:spLocks noGrp="1"/>
          </p:cNvSpPr>
          <p:nvPr/>
        </p:nvSpPr>
        <p:spPr>
          <a:xfrm>
            <a:off x="5667375" y="316230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LLM provider 추상화, model routing, usage/cost metadata 관점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B8271FD-618F-4C5B-8A28-B5F67D43BC0F}"/>
              </a:ext>
            </a:extLst>
          </p:cNvPr>
          <p:cNvSpPr>
            <a:spLocks noGrp="1"/>
          </p:cNvSpPr>
          <p:nvPr/>
        </p:nvSpPr>
        <p:spPr>
          <a:xfrm>
            <a:off x="8724900" y="3086100"/>
            <a:ext cx="26670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5EA5915-8067-4B11-A1B7-A35C97571CED}"/>
              </a:ext>
            </a:extLst>
          </p:cNvPr>
          <p:cNvSpPr>
            <a:spLocks noGrp="1"/>
          </p:cNvSpPr>
          <p:nvPr/>
        </p:nvSpPr>
        <p:spPr>
          <a:xfrm>
            <a:off x="8810625" y="3162300"/>
            <a:ext cx="2495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실제 provider key, budget policy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8D8D788-5AE8-45A2-AF78-7A1551EDCC4E}"/>
              </a:ext>
            </a:extLst>
          </p:cNvPr>
          <p:cNvSpPr>
            <a:spLocks noGrp="1"/>
          </p:cNvSpPr>
          <p:nvPr/>
        </p:nvSpPr>
        <p:spPr>
          <a:xfrm>
            <a:off x="533400" y="36385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A960291-F920-4F7F-80CD-5E5613098010}"/>
              </a:ext>
            </a:extLst>
          </p:cNvPr>
          <p:cNvSpPr>
            <a:spLocks noGrp="1"/>
          </p:cNvSpPr>
          <p:nvPr/>
        </p:nvSpPr>
        <p:spPr>
          <a:xfrm>
            <a:off x="619125" y="371475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Kong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24ADF7A-BBA9-4F09-8550-081441328EEE}"/>
              </a:ext>
            </a:extLst>
          </p:cNvPr>
          <p:cNvSpPr>
            <a:spLocks noGrp="1"/>
          </p:cNvSpPr>
          <p:nvPr/>
        </p:nvSpPr>
        <p:spPr>
          <a:xfrm>
            <a:off x="1962150" y="3638550"/>
            <a:ext cx="1333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1FCB38F-71AC-43A4-8D36-EEB514551153}"/>
              </a:ext>
            </a:extLst>
          </p:cNvPr>
          <p:cNvSpPr>
            <a:spLocks noGrp="1"/>
          </p:cNvSpPr>
          <p:nvPr/>
        </p:nvSpPr>
        <p:spPr>
          <a:xfrm>
            <a:off x="2047875" y="371475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후보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E777373-E38B-4CA6-91A4-15A4CD92098F}"/>
              </a:ext>
            </a:extLst>
          </p:cNvPr>
          <p:cNvSpPr>
            <a:spLocks noGrp="1"/>
          </p:cNvSpPr>
          <p:nvPr/>
        </p:nvSpPr>
        <p:spPr>
          <a:xfrm>
            <a:off x="3295650" y="3638550"/>
            <a:ext cx="228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4936D12-FFA5-42C6-B215-D706FA17E2C0}"/>
              </a:ext>
            </a:extLst>
          </p:cNvPr>
          <p:cNvSpPr>
            <a:spLocks noGrp="1"/>
          </p:cNvSpPr>
          <p:nvPr/>
        </p:nvSpPr>
        <p:spPr>
          <a:xfrm>
            <a:off x="3381375" y="3714750"/>
            <a:ext cx="2114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미구성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77B62AF-4ADE-4CDB-B129-A7CF02FDBCA7}"/>
              </a:ext>
            </a:extLst>
          </p:cNvPr>
          <p:cNvSpPr>
            <a:spLocks noGrp="1"/>
          </p:cNvSpPr>
          <p:nvPr/>
        </p:nvSpPr>
        <p:spPr>
          <a:xfrm>
            <a:off x="5581650" y="363855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3F47219-386F-4D6E-885A-C0B391A2133F}"/>
              </a:ext>
            </a:extLst>
          </p:cNvPr>
          <p:cNvSpPr>
            <a:spLocks noGrp="1"/>
          </p:cNvSpPr>
          <p:nvPr/>
        </p:nvSpPr>
        <p:spPr>
          <a:xfrm>
            <a:off x="5667375" y="371475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Enterprise/API platform 후보로 비교 가능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E4F316F-54DB-4479-9133-0007824FC144}"/>
              </a:ext>
            </a:extLst>
          </p:cNvPr>
          <p:cNvSpPr>
            <a:spLocks noGrp="1"/>
          </p:cNvSpPr>
          <p:nvPr/>
        </p:nvSpPr>
        <p:spPr>
          <a:xfrm>
            <a:off x="8724900" y="3638550"/>
            <a:ext cx="2667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1BE8567-C00E-4217-844B-F7ACD64B0AEE}"/>
              </a:ext>
            </a:extLst>
          </p:cNvPr>
          <p:cNvSpPr>
            <a:spLocks noGrp="1"/>
          </p:cNvSpPr>
          <p:nvPr/>
        </p:nvSpPr>
        <p:spPr>
          <a:xfrm>
            <a:off x="8810625" y="3714750"/>
            <a:ext cx="2495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라이선스/플러그인/DB-less or DB 운영 선택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27F306A-86E7-4173-8B24-4FAAFF902ABD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14287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18B0F9E-DAE0-4DBB-924F-5816F2ED123B}"/>
              </a:ext>
            </a:extLst>
          </p:cNvPr>
          <p:cNvSpPr>
            <a:spLocks noGrp="1"/>
          </p:cNvSpPr>
          <p:nvPr/>
        </p:nvSpPr>
        <p:spPr>
          <a:xfrm>
            <a:off x="619125" y="426720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Cloudflare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0A147D8-A851-4BA3-8F4D-E6C4F1DCC154}"/>
              </a:ext>
            </a:extLst>
          </p:cNvPr>
          <p:cNvSpPr>
            <a:spLocks noGrp="1"/>
          </p:cNvSpPr>
          <p:nvPr/>
        </p:nvSpPr>
        <p:spPr>
          <a:xfrm>
            <a:off x="1962150" y="4191000"/>
            <a:ext cx="13335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2806D74-D910-4D2E-8E8F-85B1EDE4339D}"/>
              </a:ext>
            </a:extLst>
          </p:cNvPr>
          <p:cNvSpPr>
            <a:spLocks noGrp="1"/>
          </p:cNvSpPr>
          <p:nvPr/>
        </p:nvSpPr>
        <p:spPr>
          <a:xfrm>
            <a:off x="2047875" y="426720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후보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A06F54B-2F2B-4148-95E2-D4CA82EC3C5B}"/>
              </a:ext>
            </a:extLst>
          </p:cNvPr>
          <p:cNvSpPr>
            <a:spLocks noGrp="1"/>
          </p:cNvSpPr>
          <p:nvPr/>
        </p:nvSpPr>
        <p:spPr>
          <a:xfrm>
            <a:off x="3295650" y="4191000"/>
            <a:ext cx="22860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21D092C-0BC0-4979-8964-38FB19F8F17C}"/>
              </a:ext>
            </a:extLst>
          </p:cNvPr>
          <p:cNvSpPr>
            <a:spLocks noGrp="1"/>
          </p:cNvSpPr>
          <p:nvPr/>
        </p:nvSpPr>
        <p:spPr>
          <a:xfrm>
            <a:off x="3381375" y="4267200"/>
            <a:ext cx="2114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외부 SaaS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BD6D101-AA27-4572-9AA0-40EB2F4582C4}"/>
              </a:ext>
            </a:extLst>
          </p:cNvPr>
          <p:cNvSpPr>
            <a:spLocks noGrp="1"/>
          </p:cNvSpPr>
          <p:nvPr/>
        </p:nvSpPr>
        <p:spPr>
          <a:xfrm>
            <a:off x="5581650" y="4191000"/>
            <a:ext cx="3143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BFD2802-D58F-459D-A6AC-951C241B8382}"/>
              </a:ext>
            </a:extLst>
          </p:cNvPr>
          <p:cNvSpPr>
            <a:spLocks noGrp="1"/>
          </p:cNvSpPr>
          <p:nvPr/>
        </p:nvSpPr>
        <p:spPr>
          <a:xfrm>
            <a:off x="5667375" y="426720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managed AI gateway 후보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2D2A194-DFAB-4766-8C10-5E12EF74B436}"/>
              </a:ext>
            </a:extLst>
          </p:cNvPr>
          <p:cNvSpPr>
            <a:spLocks noGrp="1"/>
          </p:cNvSpPr>
          <p:nvPr/>
        </p:nvSpPr>
        <p:spPr>
          <a:xfrm>
            <a:off x="8724900" y="4191000"/>
            <a:ext cx="26670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DD923D1-B10A-41CE-AE7B-7DA66FBE214A}"/>
              </a:ext>
            </a:extLst>
          </p:cNvPr>
          <p:cNvSpPr>
            <a:spLocks noGrp="1"/>
          </p:cNvSpPr>
          <p:nvPr/>
        </p:nvSpPr>
        <p:spPr>
          <a:xfrm>
            <a:off x="8810625" y="4267200"/>
            <a:ext cx="2495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Cloudflare 계정/외부망/API token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91BB3FE-D4C9-4917-81AB-5190A70BFBF5}"/>
              </a:ext>
            </a:extLst>
          </p:cNvPr>
          <p:cNvSpPr>
            <a:spLocks noGrp="1"/>
          </p:cNvSpPr>
          <p:nvPr/>
        </p:nvSpPr>
        <p:spPr>
          <a:xfrm>
            <a:off x="533400" y="47434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C55FD0E-7DCB-43D9-AE52-C14E38AFD2B3}"/>
              </a:ext>
            </a:extLst>
          </p:cNvPr>
          <p:cNvSpPr>
            <a:spLocks noGrp="1"/>
          </p:cNvSpPr>
          <p:nvPr/>
        </p:nvSpPr>
        <p:spPr>
          <a:xfrm>
            <a:off x="619125" y="481965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Portkey/OpenRouter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8203240-5AEA-459A-98FD-85A6F154E46B}"/>
              </a:ext>
            </a:extLst>
          </p:cNvPr>
          <p:cNvSpPr>
            <a:spLocks noGrp="1"/>
          </p:cNvSpPr>
          <p:nvPr/>
        </p:nvSpPr>
        <p:spPr>
          <a:xfrm>
            <a:off x="1962150" y="4743450"/>
            <a:ext cx="1333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31BC581-29E6-4C06-AD8A-5BE45667CAD0}"/>
              </a:ext>
            </a:extLst>
          </p:cNvPr>
          <p:cNvSpPr>
            <a:spLocks noGrp="1"/>
          </p:cNvSpPr>
          <p:nvPr/>
        </p:nvSpPr>
        <p:spPr>
          <a:xfrm>
            <a:off x="2047875" y="481965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후보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649B224-3909-4254-9C90-4B22EEDF7E50}"/>
              </a:ext>
            </a:extLst>
          </p:cNvPr>
          <p:cNvSpPr>
            <a:spLocks noGrp="1"/>
          </p:cNvSpPr>
          <p:nvPr/>
        </p:nvSpPr>
        <p:spPr>
          <a:xfrm>
            <a:off x="3295650" y="4743450"/>
            <a:ext cx="228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888D77B-23A4-4FFD-A99F-8EC8FFED61C0}"/>
              </a:ext>
            </a:extLst>
          </p:cNvPr>
          <p:cNvSpPr>
            <a:spLocks noGrp="1"/>
          </p:cNvSpPr>
          <p:nvPr/>
        </p:nvSpPr>
        <p:spPr>
          <a:xfrm>
            <a:off x="3381375" y="4819650"/>
            <a:ext cx="2114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외부 SaaS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7EDD17E-E710-4875-814C-5B6C7AEB9246}"/>
              </a:ext>
            </a:extLst>
          </p:cNvPr>
          <p:cNvSpPr>
            <a:spLocks noGrp="1"/>
          </p:cNvSpPr>
          <p:nvPr/>
        </p:nvSpPr>
        <p:spPr>
          <a:xfrm>
            <a:off x="5581650" y="474345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7360FBC-9BC7-46E7-B110-0B05A14CD9EB}"/>
              </a:ext>
            </a:extLst>
          </p:cNvPr>
          <p:cNvSpPr>
            <a:spLocks noGrp="1"/>
          </p:cNvSpPr>
          <p:nvPr/>
        </p:nvSpPr>
        <p:spPr>
          <a:xfrm>
            <a:off x="5667375" y="481965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LLM app gateway / model marketplace 후보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2C0E9D0-60CE-4EF4-948B-24A158A65EA6}"/>
              </a:ext>
            </a:extLst>
          </p:cNvPr>
          <p:cNvSpPr>
            <a:spLocks noGrp="1"/>
          </p:cNvSpPr>
          <p:nvPr/>
        </p:nvSpPr>
        <p:spPr>
          <a:xfrm>
            <a:off x="8724900" y="4743450"/>
            <a:ext cx="2667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AD586DE-67D2-428F-94F9-E387713C145E}"/>
              </a:ext>
            </a:extLst>
          </p:cNvPr>
          <p:cNvSpPr>
            <a:spLocks noGrp="1"/>
          </p:cNvSpPr>
          <p:nvPr/>
        </p:nvSpPr>
        <p:spPr>
          <a:xfrm>
            <a:off x="8810625" y="4819650"/>
            <a:ext cx="24955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유료/무료 범위, 계정/API key</a:t>
            </a:r>
          </a:p>
        </p:txBody>
      </p:sp>
    </p:spTree>
    <p:extLst>
      <p:ext uri="{BB962C8B-B14F-4D97-AF65-F5344CB8AC3E}">
        <p14:creationId xmlns:p14="http://schemas.microsoft.com/office/powerpoint/2010/main" val="168440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FE115B00-C83D-453F-833F-D9A2E931C7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3F46D0-7698-4E71-9D16-F3140C15B3A6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848F5B-BB5E-4F63-8AAA-665F0CD013D2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Gateway별 특징: 같은 Gateway가 아니다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01D54F-3566-400B-8684-E6201D657FBA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057132-2A47-4994-8F94-10A3872290C1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3143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AA40B4-A7DD-48EC-B8A8-3F0AB1E5E11D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31432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C4AB25-F7FB-4FEC-A759-D0290D7028A0}"/>
              </a:ext>
            </a:extLst>
          </p:cNvPr>
          <p:cNvSpPr>
            <a:spLocks noGrp="1"/>
          </p:cNvSpPr>
          <p:nvPr/>
        </p:nvSpPr>
        <p:spPr>
          <a:xfrm>
            <a:off x="933450" y="19050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42B593-8AE5-4D11-83EB-D3781AF0F886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916BCB-FCEB-488F-9ECA-4ACBE4AC4E94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25717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라우팅, 인증, rate limit, plugin 생태계가 중심입니다. 일반 API 정책 운영 기준선으로 적합합니다.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DF755A-D4A4-4E13-BED9-0213D6B9A342}"/>
              </a:ext>
            </a:extLst>
          </p:cNvPr>
          <p:cNvSpPr>
            <a:spLocks noGrp="1"/>
          </p:cNvSpPr>
          <p:nvPr/>
        </p:nvSpPr>
        <p:spPr>
          <a:xfrm>
            <a:off x="4324350" y="1562100"/>
            <a:ext cx="3143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E2F9A0-F1CA-4FE5-9CA6-95C7444C7CD8}"/>
              </a:ext>
            </a:extLst>
          </p:cNvPr>
          <p:cNvSpPr>
            <a:spLocks noGrp="1"/>
          </p:cNvSpPr>
          <p:nvPr/>
        </p:nvSpPr>
        <p:spPr>
          <a:xfrm>
            <a:off x="4324350" y="1562100"/>
            <a:ext cx="314325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055D98-3A64-4CC5-8D3B-EF7C06FE13F7}"/>
              </a:ext>
            </a:extLst>
          </p:cNvPr>
          <p:cNvSpPr>
            <a:spLocks noGrp="1"/>
          </p:cNvSpPr>
          <p:nvPr/>
        </p:nvSpPr>
        <p:spPr>
          <a:xfrm>
            <a:off x="4552950" y="19050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262392-C951-4474-9634-797753234948}"/>
              </a:ext>
            </a:extLst>
          </p:cNvPr>
          <p:cNvSpPr>
            <a:spLocks noGrp="1"/>
          </p:cNvSpPr>
          <p:nvPr/>
        </p:nvSpPr>
        <p:spPr>
          <a:xfrm>
            <a:off x="4552950" y="23241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L7 Proxy / Infra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D91663-D7CD-48BC-A63F-9FA869E5749F}"/>
              </a:ext>
            </a:extLst>
          </p:cNvPr>
          <p:cNvSpPr>
            <a:spLocks noGrp="1"/>
          </p:cNvSpPr>
          <p:nvPr/>
        </p:nvSpPr>
        <p:spPr>
          <a:xfrm>
            <a:off x="4552950" y="2724150"/>
            <a:ext cx="25717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고성능 프록시, filter chain, mesh/xDS 친화 구조가 중심입니다. 인프라/플랫폼 프록시 기준선입니다.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D17210-9A44-422E-8CFD-1F52E3718F2A}"/>
              </a:ext>
            </a:extLst>
          </p:cNvPr>
          <p:cNvSpPr>
            <a:spLocks noGrp="1"/>
          </p:cNvSpPr>
          <p:nvPr/>
        </p:nvSpPr>
        <p:spPr>
          <a:xfrm>
            <a:off x="7943850" y="1562100"/>
            <a:ext cx="3143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75B131-10EA-456A-BD54-C8A24A4F80F7}"/>
              </a:ext>
            </a:extLst>
          </p:cNvPr>
          <p:cNvSpPr>
            <a:spLocks noGrp="1"/>
          </p:cNvSpPr>
          <p:nvPr/>
        </p:nvSpPr>
        <p:spPr>
          <a:xfrm>
            <a:off x="7943850" y="1562100"/>
            <a:ext cx="3143250" cy="76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448784-D79B-4FDB-A96D-FC8CD82D2614}"/>
              </a:ext>
            </a:extLst>
          </p:cNvPr>
          <p:cNvSpPr>
            <a:spLocks noGrp="1"/>
          </p:cNvSpPr>
          <p:nvPr/>
        </p:nvSpPr>
        <p:spPr>
          <a:xfrm>
            <a:off x="8172450" y="19050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C80D12-C7BD-4006-AC2E-B6C2D651AD79}"/>
              </a:ext>
            </a:extLst>
          </p:cNvPr>
          <p:cNvSpPr>
            <a:spLocks noGrp="1"/>
          </p:cNvSpPr>
          <p:nvPr/>
        </p:nvSpPr>
        <p:spPr>
          <a:xfrm>
            <a:off x="8172450" y="23241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LLM Gateway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FE8786-8358-42DA-B2FE-2F557F53871C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25717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OpenAI-compatible API 앞단에서 model/provider routing, fallback, 사용량/비용 통제가 중심입니다.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DD48D9-A552-4C21-94D4-74DF4CAEDC5C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10382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5EC037A-53CE-4708-8F9B-85380FA7C7D4}"/>
              </a:ext>
            </a:extLst>
          </p:cNvPr>
          <p:cNvSpPr>
            <a:spLocks noGrp="1"/>
          </p:cNvSpPr>
          <p:nvPr/>
        </p:nvSpPr>
        <p:spPr>
          <a:xfrm>
            <a:off x="952500" y="48387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비교 포인트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1A3194F-659C-44F5-95A7-4F6DC14A512C}"/>
              </a:ext>
            </a:extLst>
          </p:cNvPr>
          <p:cNvSpPr>
            <a:spLocks noGrp="1"/>
          </p:cNvSpPr>
          <p:nvPr/>
        </p:nvSpPr>
        <p:spPr>
          <a:xfrm>
            <a:off x="3048000" y="4819650"/>
            <a:ext cx="742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APISIX는 API 정책 생산성, Envoy는 인프라 통합과 프록시 성능, LiteLLM은 LLM provider 운영 추상화에서 의미가 큽니다.</a:t>
            </a:r>
          </a:p>
        </p:txBody>
      </p:sp>
    </p:spTree>
    <p:extLst>
      <p:ext uri="{BB962C8B-B14F-4D97-AF65-F5344CB8AC3E}">
        <p14:creationId xmlns:p14="http://schemas.microsoft.com/office/powerpoint/2010/main" val="447745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11C81D91-5306-4901-9B69-203431D9E4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F05E01-31C6-41F9-A8ED-5C72CE298325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A85C77-EE10-443C-B326-9BB8EB4A8D05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의미 있는 테스트: 단순 200 OK를 넘어서기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3C014C-656E-474B-9ED8-CCFB622721C3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D6F978-F016-491D-8D33-D5008CA94915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2000250" cy="5715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017DC3-0DFB-45A3-8B1D-A4C3007F2CFE}"/>
              </a:ext>
            </a:extLst>
          </p:cNvPr>
          <p:cNvSpPr>
            <a:spLocks noGrp="1"/>
          </p:cNvSpPr>
          <p:nvPr/>
        </p:nvSpPr>
        <p:spPr>
          <a:xfrm>
            <a:off x="676275" y="1504950"/>
            <a:ext cx="1828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테스트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9B0A3D-F40A-40A2-B436-CC642DCE147F}"/>
              </a:ext>
            </a:extLst>
          </p:cNvPr>
          <p:cNvSpPr>
            <a:spLocks noGrp="1"/>
          </p:cNvSpPr>
          <p:nvPr/>
        </p:nvSpPr>
        <p:spPr>
          <a:xfrm>
            <a:off x="2590800" y="1428750"/>
            <a:ext cx="2476500" cy="5715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A85711-679E-4FD1-B6FE-D0535893B40D}"/>
              </a:ext>
            </a:extLst>
          </p:cNvPr>
          <p:cNvSpPr>
            <a:spLocks noGrp="1"/>
          </p:cNvSpPr>
          <p:nvPr/>
        </p:nvSpPr>
        <p:spPr>
          <a:xfrm>
            <a:off x="2676525" y="15049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확인 신호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262AA0-9620-46BC-B524-6E6A68EFDC77}"/>
              </a:ext>
            </a:extLst>
          </p:cNvPr>
          <p:cNvSpPr>
            <a:spLocks noGrp="1"/>
          </p:cNvSpPr>
          <p:nvPr/>
        </p:nvSpPr>
        <p:spPr>
          <a:xfrm>
            <a:off x="5067300" y="1428750"/>
            <a:ext cx="2476500" cy="5715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6840C6-F266-48C1-9778-7655D91AA2CF}"/>
              </a:ext>
            </a:extLst>
          </p:cNvPr>
          <p:cNvSpPr>
            <a:spLocks noGrp="1"/>
          </p:cNvSpPr>
          <p:nvPr/>
        </p:nvSpPr>
        <p:spPr>
          <a:xfrm>
            <a:off x="5153025" y="15049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 차이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76378D-FEFA-4960-A1DD-18A4FFFA4C1B}"/>
              </a:ext>
            </a:extLst>
          </p:cNvPr>
          <p:cNvSpPr>
            <a:spLocks noGrp="1"/>
          </p:cNvSpPr>
          <p:nvPr/>
        </p:nvSpPr>
        <p:spPr>
          <a:xfrm>
            <a:off x="7543800" y="1428750"/>
            <a:ext cx="3143250" cy="5715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A8E41E-61B5-44A7-BEB5-5085BBFAB50F}"/>
              </a:ext>
            </a:extLst>
          </p:cNvPr>
          <p:cNvSpPr>
            <a:spLocks noGrp="1"/>
          </p:cNvSpPr>
          <p:nvPr/>
        </p:nvSpPr>
        <p:spPr>
          <a:xfrm>
            <a:off x="7629525" y="150495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의미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713423-E5AB-4822-96B1-64BCF780EDC6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20002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C7FB5C-0652-4732-B349-33A55BB57362}"/>
              </a:ext>
            </a:extLst>
          </p:cNvPr>
          <p:cNvSpPr>
            <a:spLocks noGrp="1"/>
          </p:cNvSpPr>
          <p:nvPr/>
        </p:nvSpPr>
        <p:spPr>
          <a:xfrm>
            <a:off x="676275" y="2076450"/>
            <a:ext cx="1828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ADDA5B-E389-4DC4-A5E4-DD319DB12F92}"/>
              </a:ext>
            </a:extLst>
          </p:cNvPr>
          <p:cNvSpPr>
            <a:spLocks noGrp="1"/>
          </p:cNvSpPr>
          <p:nvPr/>
        </p:nvSpPr>
        <p:spPr>
          <a:xfrm>
            <a:off x="2590800" y="2000250"/>
            <a:ext cx="247650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229874-F970-4D2A-AC27-E327745297F6}"/>
              </a:ext>
            </a:extLst>
          </p:cNvPr>
          <p:cNvSpPr>
            <a:spLocks noGrp="1"/>
          </p:cNvSpPr>
          <p:nvPr/>
        </p:nvSpPr>
        <p:spPr>
          <a:xfrm>
            <a:off x="2676525" y="20764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LLM 도달, route id, status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19B28E-EEEC-4C90-9A1C-3843EE126FDC}"/>
              </a:ext>
            </a:extLst>
          </p:cNvPr>
          <p:cNvSpPr>
            <a:spLocks noGrp="1"/>
          </p:cNvSpPr>
          <p:nvPr/>
        </p:nvSpPr>
        <p:spPr>
          <a:xfrm>
            <a:off x="5067300" y="2000250"/>
            <a:ext cx="247650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F9F605-370B-475D-AC9D-7DD81EF4858B}"/>
              </a:ext>
            </a:extLst>
          </p:cNvPr>
          <p:cNvSpPr>
            <a:spLocks noGrp="1"/>
          </p:cNvSpPr>
          <p:nvPr/>
        </p:nvSpPr>
        <p:spPr>
          <a:xfrm>
            <a:off x="5153025" y="20764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경로 구성 방식 차이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B02686-F0DD-4951-885B-D197B67C261D}"/>
              </a:ext>
            </a:extLst>
          </p:cNvPr>
          <p:cNvSpPr>
            <a:spLocks noGrp="1"/>
          </p:cNvSpPr>
          <p:nvPr/>
        </p:nvSpPr>
        <p:spPr>
          <a:xfrm>
            <a:off x="7543800" y="2000250"/>
            <a:ext cx="31432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9D4A26-8321-4C0E-AC38-E1AF0CFAD762}"/>
              </a:ext>
            </a:extLst>
          </p:cNvPr>
          <p:cNvSpPr>
            <a:spLocks noGrp="1"/>
          </p:cNvSpPr>
          <p:nvPr/>
        </p:nvSpPr>
        <p:spPr>
          <a:xfrm>
            <a:off x="7629525" y="207645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배포/롤백/경로 충돌 리스크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0178FE2-7904-4E26-97B7-682EBCA4E7BF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2000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233392-AD48-446D-9D81-4F203AE64E8E}"/>
              </a:ext>
            </a:extLst>
          </p:cNvPr>
          <p:cNvSpPr>
            <a:spLocks noGrp="1"/>
          </p:cNvSpPr>
          <p:nvPr/>
        </p:nvSpPr>
        <p:spPr>
          <a:xfrm>
            <a:off x="676275" y="2647950"/>
            <a:ext cx="1828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17F25C-05ED-4307-89FB-AB2BDE4C91B7}"/>
              </a:ext>
            </a:extLst>
          </p:cNvPr>
          <p:cNvSpPr>
            <a:spLocks noGrp="1"/>
          </p:cNvSpPr>
          <p:nvPr/>
        </p:nvSpPr>
        <p:spPr>
          <a:xfrm>
            <a:off x="2590800" y="2571750"/>
            <a:ext cx="2476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2408E5-78A5-4F6B-A141-3F965DC79763}"/>
              </a:ext>
            </a:extLst>
          </p:cNvPr>
          <p:cNvSpPr>
            <a:spLocks noGrp="1"/>
          </p:cNvSpPr>
          <p:nvPr/>
        </p:nvSpPr>
        <p:spPr>
          <a:xfrm>
            <a:off x="2676525" y="26479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key 누락/오류 응답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63B5E64-1817-4413-905C-15EBA706419F}"/>
              </a:ext>
            </a:extLst>
          </p:cNvPr>
          <p:cNvSpPr>
            <a:spLocks noGrp="1"/>
          </p:cNvSpPr>
          <p:nvPr/>
        </p:nvSpPr>
        <p:spPr>
          <a:xfrm>
            <a:off x="5067300" y="2571750"/>
            <a:ext cx="2476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39212B-FAC3-4968-A1B4-F58563F0F70D}"/>
              </a:ext>
            </a:extLst>
          </p:cNvPr>
          <p:cNvSpPr>
            <a:spLocks noGrp="1"/>
          </p:cNvSpPr>
          <p:nvPr/>
        </p:nvSpPr>
        <p:spPr>
          <a:xfrm>
            <a:off x="5153025" y="26479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plugin/filter/provider auth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8DD3FB0-15A0-4FD0-91D9-BBF3666F104F}"/>
              </a:ext>
            </a:extLst>
          </p:cNvPr>
          <p:cNvSpPr>
            <a:spLocks noGrp="1"/>
          </p:cNvSpPr>
          <p:nvPr/>
        </p:nvSpPr>
        <p:spPr>
          <a:xfrm>
            <a:off x="7543800" y="2571750"/>
            <a:ext cx="3143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D826CD7-917A-42F4-A78A-1A3EF87CBA27}"/>
              </a:ext>
            </a:extLst>
          </p:cNvPr>
          <p:cNvSpPr>
            <a:spLocks noGrp="1"/>
          </p:cNvSpPr>
          <p:nvPr/>
        </p:nvSpPr>
        <p:spPr>
          <a:xfrm>
            <a:off x="7629525" y="264795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보안 정책을 어디서 관리할지 결정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1F58DA9-79F6-42F0-A6E2-49C51A5C9D72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20002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104452-23D4-49ED-9AA6-C9B0F20D75A8}"/>
              </a:ext>
            </a:extLst>
          </p:cNvPr>
          <p:cNvSpPr>
            <a:spLocks noGrp="1"/>
          </p:cNvSpPr>
          <p:nvPr/>
        </p:nvSpPr>
        <p:spPr>
          <a:xfrm>
            <a:off x="676275" y="3219450"/>
            <a:ext cx="1828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Rate limit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1DB010E-7405-43A1-861A-A88FF8048993}"/>
              </a:ext>
            </a:extLst>
          </p:cNvPr>
          <p:cNvSpPr>
            <a:spLocks noGrp="1"/>
          </p:cNvSpPr>
          <p:nvPr/>
        </p:nvSpPr>
        <p:spPr>
          <a:xfrm>
            <a:off x="2590800" y="3143250"/>
            <a:ext cx="247650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EBE272-1E12-41C9-9F32-90978512EF56}"/>
              </a:ext>
            </a:extLst>
          </p:cNvPr>
          <p:cNvSpPr>
            <a:spLocks noGrp="1"/>
          </p:cNvSpPr>
          <p:nvPr/>
        </p:nvSpPr>
        <p:spPr>
          <a:xfrm>
            <a:off x="2676525" y="32194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429 또는 quota metadata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11F4ED-264C-4223-9378-96A8D7507E94}"/>
              </a:ext>
            </a:extLst>
          </p:cNvPr>
          <p:cNvSpPr>
            <a:spLocks noGrp="1"/>
          </p:cNvSpPr>
          <p:nvPr/>
        </p:nvSpPr>
        <p:spPr>
          <a:xfrm>
            <a:off x="5067300" y="3143250"/>
            <a:ext cx="247650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ADE7E6-7EA2-44F6-877B-ADE89F7E0C3D}"/>
              </a:ext>
            </a:extLst>
          </p:cNvPr>
          <p:cNvSpPr>
            <a:spLocks noGrp="1"/>
          </p:cNvSpPr>
          <p:nvPr/>
        </p:nvSpPr>
        <p:spPr>
          <a:xfrm>
            <a:off x="5153025" y="32194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 plugin vs Envoy/LiteLLM 정책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3CB0E2A-08E1-4A66-A06E-6929E45F44E9}"/>
              </a:ext>
            </a:extLst>
          </p:cNvPr>
          <p:cNvSpPr>
            <a:spLocks noGrp="1"/>
          </p:cNvSpPr>
          <p:nvPr/>
        </p:nvSpPr>
        <p:spPr>
          <a:xfrm>
            <a:off x="7543800" y="3143250"/>
            <a:ext cx="31432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D6D3632-C9F4-4B9E-98C0-7317A1D57275}"/>
              </a:ext>
            </a:extLst>
          </p:cNvPr>
          <p:cNvSpPr>
            <a:spLocks noGrp="1"/>
          </p:cNvSpPr>
          <p:nvPr/>
        </p:nvSpPr>
        <p:spPr>
          <a:xfrm>
            <a:off x="7629525" y="321945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사용량 통제와 장애 격리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8208C32-5D0F-40BB-A351-D501C01F5924}"/>
              </a:ext>
            </a:extLst>
          </p:cNvPr>
          <p:cNvSpPr>
            <a:spLocks noGrp="1"/>
          </p:cNvSpPr>
          <p:nvPr/>
        </p:nvSpPr>
        <p:spPr>
          <a:xfrm>
            <a:off x="590550" y="3714750"/>
            <a:ext cx="2000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7A03BC-700E-48FF-91EA-DAF040BCFE85}"/>
              </a:ext>
            </a:extLst>
          </p:cNvPr>
          <p:cNvSpPr>
            <a:spLocks noGrp="1"/>
          </p:cNvSpPr>
          <p:nvPr/>
        </p:nvSpPr>
        <p:spPr>
          <a:xfrm>
            <a:off x="676275" y="3790950"/>
            <a:ext cx="1828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055C4CA-AC09-4003-8CDB-23D57D3C8007}"/>
              </a:ext>
            </a:extLst>
          </p:cNvPr>
          <p:cNvSpPr>
            <a:spLocks noGrp="1"/>
          </p:cNvSpPr>
          <p:nvPr/>
        </p:nvSpPr>
        <p:spPr>
          <a:xfrm>
            <a:off x="2590800" y="3714750"/>
            <a:ext cx="2476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41AF3AD-4DB3-47B6-B87F-BF471902FDE3}"/>
              </a:ext>
            </a:extLst>
          </p:cNvPr>
          <p:cNvSpPr>
            <a:spLocks noGrp="1"/>
          </p:cNvSpPr>
          <p:nvPr/>
        </p:nvSpPr>
        <p:spPr>
          <a:xfrm>
            <a:off x="2676525" y="37909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MASK/BLOCK 결과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B2AA0E9-67B2-4A48-BC56-6332A51E5E78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2476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172FE23-650F-48BF-BDF8-BCE236309D10}"/>
              </a:ext>
            </a:extLst>
          </p:cNvPr>
          <p:cNvSpPr>
            <a:spLocks noGrp="1"/>
          </p:cNvSpPr>
          <p:nvPr/>
        </p:nvSpPr>
        <p:spPr>
          <a:xfrm>
            <a:off x="5153025" y="37909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Gateway와 무관하게 동일 적용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A682924-A81D-489A-8196-049CC49F4D9F}"/>
              </a:ext>
            </a:extLst>
          </p:cNvPr>
          <p:cNvSpPr>
            <a:spLocks noGrp="1"/>
          </p:cNvSpPr>
          <p:nvPr/>
        </p:nvSpPr>
        <p:spPr>
          <a:xfrm>
            <a:off x="7543800" y="3714750"/>
            <a:ext cx="3143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3EE81CD-A0A6-47CF-842B-DF89AFAFE1E9}"/>
              </a:ext>
            </a:extLst>
          </p:cNvPr>
          <p:cNvSpPr>
            <a:spLocks noGrp="1"/>
          </p:cNvSpPr>
          <p:nvPr/>
        </p:nvSpPr>
        <p:spPr>
          <a:xfrm>
            <a:off x="7629525" y="379095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개인정보 유출 전단 차단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E0E7C35-A148-4F67-B39D-414B37BF0EA9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0002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471E21-5589-4AF7-8884-FC4B41C70E35}"/>
              </a:ext>
            </a:extLst>
          </p:cNvPr>
          <p:cNvSpPr>
            <a:spLocks noGrp="1"/>
          </p:cNvSpPr>
          <p:nvPr/>
        </p:nvSpPr>
        <p:spPr>
          <a:xfrm>
            <a:off x="676275" y="4362450"/>
            <a:ext cx="1828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 shape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A1177BD-BB27-4650-8F84-207ADC0C7286}"/>
              </a:ext>
            </a:extLst>
          </p:cNvPr>
          <p:cNvSpPr>
            <a:spLocks noGrp="1"/>
          </p:cNvSpPr>
          <p:nvPr/>
        </p:nvSpPr>
        <p:spPr>
          <a:xfrm>
            <a:off x="2590800" y="4286250"/>
            <a:ext cx="247650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6CB94E1-5BC9-4937-BA70-955D788EFF15}"/>
              </a:ext>
            </a:extLst>
          </p:cNvPr>
          <p:cNvSpPr>
            <a:spLocks noGrp="1"/>
          </p:cNvSpPr>
          <p:nvPr/>
        </p:nvSpPr>
        <p:spPr>
          <a:xfrm>
            <a:off x="2676525" y="43624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model/provider/error format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8524062-2AB0-47A1-A3E1-36046B20A00E}"/>
              </a:ext>
            </a:extLst>
          </p:cNvPr>
          <p:cNvSpPr>
            <a:spLocks noGrp="1"/>
          </p:cNvSpPr>
          <p:nvPr/>
        </p:nvSpPr>
        <p:spPr>
          <a:xfrm>
            <a:off x="5067300" y="4286250"/>
            <a:ext cx="247650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ADC91BA-D919-4B86-8AA9-A1DA5038056C}"/>
              </a:ext>
            </a:extLst>
          </p:cNvPr>
          <p:cNvSpPr>
            <a:spLocks noGrp="1"/>
          </p:cNvSpPr>
          <p:nvPr/>
        </p:nvSpPr>
        <p:spPr>
          <a:xfrm>
            <a:off x="5153025" y="4362450"/>
            <a:ext cx="2305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LiteLLM은 LLM metadata가 풍부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24AA97F-3B8F-4AEC-88FA-36D2CF512A47}"/>
              </a:ext>
            </a:extLst>
          </p:cNvPr>
          <p:cNvSpPr>
            <a:spLocks noGrp="1"/>
          </p:cNvSpPr>
          <p:nvPr/>
        </p:nvSpPr>
        <p:spPr>
          <a:xfrm>
            <a:off x="7543800" y="4286250"/>
            <a:ext cx="31432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CB2C531-80D2-4931-BC72-80889E6003FE}"/>
              </a:ext>
            </a:extLst>
          </p:cNvPr>
          <p:cNvSpPr>
            <a:spLocks noGrp="1"/>
          </p:cNvSpPr>
          <p:nvPr/>
        </p:nvSpPr>
        <p:spPr>
          <a:xfrm>
            <a:off x="7629525" y="436245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모니터링/비용 정산 모델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55AA1BE-552A-48EE-983E-BE87BDE18A2A}"/>
              </a:ext>
            </a:extLst>
          </p:cNvPr>
          <p:cNvSpPr>
            <a:spLocks noGrp="1"/>
          </p:cNvSpPr>
          <p:nvPr/>
        </p:nvSpPr>
        <p:spPr>
          <a:xfrm>
            <a:off x="590550" y="5219700"/>
            <a:ext cx="990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29D06E5-0F9B-4A30-933E-8DFA50E09084}"/>
              </a:ext>
            </a:extLst>
          </p:cNvPr>
          <p:cNvSpPr>
            <a:spLocks noGrp="1"/>
          </p:cNvSpPr>
          <p:nvPr/>
        </p:nvSpPr>
        <p:spPr>
          <a:xfrm>
            <a:off x="838200" y="53911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권장 운영 테스트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6FC15D9-5A0E-4048-86FD-CD22F9433210}"/>
              </a:ext>
            </a:extLst>
          </p:cNvPr>
          <p:cNvSpPr>
            <a:spLocks noGrp="1"/>
          </p:cNvSpPr>
          <p:nvPr/>
        </p:nvSpPr>
        <p:spPr>
          <a:xfrm>
            <a:off x="2381250" y="5314950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동일 payload를 전체 연결 Gateway로 batch compare하고, status / decision / latency / raw preview / LLM reached를 함께 저장합니다.</a:t>
            </a:r>
          </a:p>
        </p:txBody>
      </p:sp>
    </p:spTree>
    <p:extLst>
      <p:ext uri="{BB962C8B-B14F-4D97-AF65-F5344CB8AC3E}">
        <p14:creationId xmlns:p14="http://schemas.microsoft.com/office/powerpoint/2010/main" val="332134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ECC16B00-8A30-4E17-8469-2A83D1A22B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2CCDC9-23DA-4EA4-B763-D1B07E488CB3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061161-FE70-47D9-95EF-01C8EDCE793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연결 Gateway 전체 비교 화면에서 보는 신호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1C4DEC-6348-405E-85FD-AF08E98431E6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FA10D5-D2BA-4FB6-BEB1-E0B9CC5684EE}"/>
              </a:ext>
            </a:extLst>
          </p:cNvPr>
          <p:cNvSpPr>
            <a:spLocks noGrp="1"/>
          </p:cNvSpPr>
          <p:nvPr/>
        </p:nvSpPr>
        <p:spPr>
          <a:xfrm>
            <a:off x="590550" y="1371600"/>
            <a:ext cx="371475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550901-7A0D-47B1-918B-D18EB059A671}"/>
              </a:ext>
            </a:extLst>
          </p:cNvPr>
          <p:cNvSpPr>
            <a:spLocks noGrp="1"/>
          </p:cNvSpPr>
          <p:nvPr/>
        </p:nvSpPr>
        <p:spPr>
          <a:xfrm>
            <a:off x="857250" y="16573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UI/API 결과 예시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3AA908-1ED8-4AB7-9E52-B79C16DB71C7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연결 Gateway 전체 비교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255F9-F453-4C00-B995-5ACC37DC404D}"/>
              </a:ext>
            </a:extLst>
          </p:cNvPr>
          <p:cNvSpPr>
            <a:spLocks noGrp="1"/>
          </p:cNvSpPr>
          <p:nvPr/>
        </p:nvSpPr>
        <p:spPr>
          <a:xfrm>
            <a:off x="857250" y="2457450"/>
            <a:ext cx="114300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5097D3-4A0A-497F-9D90-26F0965AEFE1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3/3 통과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30189E-7A94-4493-86B4-447FC98AE272}"/>
              </a:ext>
            </a:extLst>
          </p:cNvPr>
          <p:cNvSpPr>
            <a:spLocks noGrp="1"/>
          </p:cNvSpPr>
          <p:nvPr/>
        </p:nvSpPr>
        <p:spPr>
          <a:xfrm>
            <a:off x="2152650" y="2457450"/>
            <a:ext cx="1047750" cy="28575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087405-CEDD-45CE-896A-A9FE455A9AFB}"/>
              </a:ext>
            </a:extLst>
          </p:cNvPr>
          <p:cNvSpPr>
            <a:spLocks noGrp="1"/>
          </p:cNvSpPr>
          <p:nvPr/>
        </p:nvSpPr>
        <p:spPr>
          <a:xfrm>
            <a:off x="2247900" y="25146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DE12E1-F5A1-4C30-A6DD-F0940792B737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2952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한 번의 요청으로 APISIX, Envoy, LiteLLM을 순차 호출하고 결과를 같은 표에 표시합니다.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C9F9F1-FEFC-4209-912B-E6FE404CD8E4}"/>
              </a:ext>
            </a:extLst>
          </p:cNvPr>
          <p:cNvSpPr>
            <a:spLocks noGrp="1"/>
          </p:cNvSpPr>
          <p:nvPr/>
        </p:nvSpPr>
        <p:spPr>
          <a:xfrm>
            <a:off x="857250" y="398145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주의: 아래 지연 시간은 로컬 단일 실행 예시이며 벤치마크가 아닙니다.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ED8FF3-5760-4FEB-97CC-8909EFA1DD6E}"/>
              </a:ext>
            </a:extLst>
          </p:cNvPr>
          <p:cNvSpPr>
            <a:spLocks noGrp="1"/>
          </p:cNvSpPr>
          <p:nvPr/>
        </p:nvSpPr>
        <p:spPr>
          <a:xfrm>
            <a:off x="4667250" y="1504950"/>
            <a:ext cx="14287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4D3D34-78B4-4313-A7E5-EBB33A3D8549}"/>
              </a:ext>
            </a:extLst>
          </p:cNvPr>
          <p:cNvSpPr>
            <a:spLocks noGrp="1"/>
          </p:cNvSpPr>
          <p:nvPr/>
        </p:nvSpPr>
        <p:spPr>
          <a:xfrm>
            <a:off x="4752975" y="158115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7A0F05-858B-41D0-99C9-75214DA9D186}"/>
              </a:ext>
            </a:extLst>
          </p:cNvPr>
          <p:cNvSpPr>
            <a:spLocks noGrp="1"/>
          </p:cNvSpPr>
          <p:nvPr/>
        </p:nvSpPr>
        <p:spPr>
          <a:xfrm>
            <a:off x="6096000" y="1504950"/>
            <a:ext cx="12382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623B70-B064-46E7-931F-288218DEA2F3}"/>
              </a:ext>
            </a:extLst>
          </p:cNvPr>
          <p:cNvSpPr>
            <a:spLocks noGrp="1"/>
          </p:cNvSpPr>
          <p:nvPr/>
        </p:nvSpPr>
        <p:spPr>
          <a:xfrm>
            <a:off x="6181725" y="1581150"/>
            <a:ext cx="1066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7D57AF-4B18-4F67-8F71-31692BCB694D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133350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8D5E56-7749-4094-9FE5-4BD115752B35}"/>
              </a:ext>
            </a:extLst>
          </p:cNvPr>
          <p:cNvSpPr>
            <a:spLocks noGrp="1"/>
          </p:cNvSpPr>
          <p:nvPr/>
        </p:nvSpPr>
        <p:spPr>
          <a:xfrm>
            <a:off x="7419975" y="158115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FAECCC0-B97D-41F6-959A-EF1A5BE7B4BC}"/>
              </a:ext>
            </a:extLst>
          </p:cNvPr>
          <p:cNvSpPr>
            <a:spLocks noGrp="1"/>
          </p:cNvSpPr>
          <p:nvPr/>
        </p:nvSpPr>
        <p:spPr>
          <a:xfrm>
            <a:off x="8667750" y="1504950"/>
            <a:ext cx="1381125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42CF56-CF4A-4887-A3B0-1C62A8A5E4D3}"/>
              </a:ext>
            </a:extLst>
          </p:cNvPr>
          <p:cNvSpPr>
            <a:spLocks noGrp="1"/>
          </p:cNvSpPr>
          <p:nvPr/>
        </p:nvSpPr>
        <p:spPr>
          <a:xfrm>
            <a:off x="8753475" y="1581150"/>
            <a:ext cx="12096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LLM reached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656DFBE-CC02-4CF8-AFA5-F3139583C51A}"/>
              </a:ext>
            </a:extLst>
          </p:cNvPr>
          <p:cNvSpPr>
            <a:spLocks noGrp="1"/>
          </p:cNvSpPr>
          <p:nvPr/>
        </p:nvSpPr>
        <p:spPr>
          <a:xfrm>
            <a:off x="10048875" y="1504950"/>
            <a:ext cx="12382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DC9CB8-70E8-47F0-A1D9-6DCD6AED05D3}"/>
              </a:ext>
            </a:extLst>
          </p:cNvPr>
          <p:cNvSpPr>
            <a:spLocks noGrp="1"/>
          </p:cNvSpPr>
          <p:nvPr/>
        </p:nvSpPr>
        <p:spPr>
          <a:xfrm>
            <a:off x="10134600" y="1581150"/>
            <a:ext cx="1066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Elapsed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B878B2-D5B9-42CE-8EA7-37623335A3CC}"/>
              </a:ext>
            </a:extLst>
          </p:cNvPr>
          <p:cNvSpPr>
            <a:spLocks noGrp="1"/>
          </p:cNvSpPr>
          <p:nvPr/>
        </p:nvSpPr>
        <p:spPr>
          <a:xfrm>
            <a:off x="4667250" y="2057400"/>
            <a:ext cx="14287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DEB087-1D0B-4F06-B2DF-2CF292D99492}"/>
              </a:ext>
            </a:extLst>
          </p:cNvPr>
          <p:cNvSpPr>
            <a:spLocks noGrp="1"/>
          </p:cNvSpPr>
          <p:nvPr/>
        </p:nvSpPr>
        <p:spPr>
          <a:xfrm>
            <a:off x="4752975" y="213360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8280258-B552-4B51-AB04-34818C2E20D8}"/>
              </a:ext>
            </a:extLst>
          </p:cNvPr>
          <p:cNvSpPr>
            <a:spLocks noGrp="1"/>
          </p:cNvSpPr>
          <p:nvPr/>
        </p:nvSpPr>
        <p:spPr>
          <a:xfrm>
            <a:off x="6096000" y="2057400"/>
            <a:ext cx="1238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3199D9-822B-4E16-BA4E-A1370CAE08EE}"/>
              </a:ext>
            </a:extLst>
          </p:cNvPr>
          <p:cNvSpPr>
            <a:spLocks noGrp="1"/>
          </p:cNvSpPr>
          <p:nvPr/>
        </p:nvSpPr>
        <p:spPr>
          <a:xfrm>
            <a:off x="6181725" y="2133600"/>
            <a:ext cx="1066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E64E168-623E-4082-853C-FB00D233D275}"/>
              </a:ext>
            </a:extLst>
          </p:cNvPr>
          <p:cNvSpPr>
            <a:spLocks noGrp="1"/>
          </p:cNvSpPr>
          <p:nvPr/>
        </p:nvSpPr>
        <p:spPr>
          <a:xfrm>
            <a:off x="7334250" y="2057400"/>
            <a:ext cx="13335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13BE3C-DF81-4AA4-B362-625E72305E5A}"/>
              </a:ext>
            </a:extLst>
          </p:cNvPr>
          <p:cNvSpPr>
            <a:spLocks noGrp="1"/>
          </p:cNvSpPr>
          <p:nvPr/>
        </p:nvSpPr>
        <p:spPr>
          <a:xfrm>
            <a:off x="7419975" y="213360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B5A597E-03B1-425F-8C7A-FA9B0D55C118}"/>
              </a:ext>
            </a:extLst>
          </p:cNvPr>
          <p:cNvSpPr>
            <a:spLocks noGrp="1"/>
          </p:cNvSpPr>
          <p:nvPr/>
        </p:nvSpPr>
        <p:spPr>
          <a:xfrm>
            <a:off x="8667750" y="2057400"/>
            <a:ext cx="1381125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1247AB3-0F46-4694-804E-0FC6FF118642}"/>
              </a:ext>
            </a:extLst>
          </p:cNvPr>
          <p:cNvSpPr>
            <a:spLocks noGrp="1"/>
          </p:cNvSpPr>
          <p:nvPr/>
        </p:nvSpPr>
        <p:spPr>
          <a:xfrm>
            <a:off x="8753475" y="2133600"/>
            <a:ext cx="12096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2E8C820-F58E-4D85-9C13-578B5909174D}"/>
              </a:ext>
            </a:extLst>
          </p:cNvPr>
          <p:cNvSpPr>
            <a:spLocks noGrp="1"/>
          </p:cNvSpPr>
          <p:nvPr/>
        </p:nvSpPr>
        <p:spPr>
          <a:xfrm>
            <a:off x="10048875" y="2057400"/>
            <a:ext cx="1238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D60FD0E-CF59-4A28-8D0B-3473F8AB2990}"/>
              </a:ext>
            </a:extLst>
          </p:cNvPr>
          <p:cNvSpPr>
            <a:spLocks noGrp="1"/>
          </p:cNvSpPr>
          <p:nvPr/>
        </p:nvSpPr>
        <p:spPr>
          <a:xfrm>
            <a:off x="10134600" y="2133600"/>
            <a:ext cx="1066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~13 ms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8198C9F-8BFC-417B-8656-880375D858F4}"/>
              </a:ext>
            </a:extLst>
          </p:cNvPr>
          <p:cNvSpPr>
            <a:spLocks noGrp="1"/>
          </p:cNvSpPr>
          <p:nvPr/>
        </p:nvSpPr>
        <p:spPr>
          <a:xfrm>
            <a:off x="4667250" y="26098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06F117C-6D2D-4577-9023-C9FD0CD4AA35}"/>
              </a:ext>
            </a:extLst>
          </p:cNvPr>
          <p:cNvSpPr>
            <a:spLocks noGrp="1"/>
          </p:cNvSpPr>
          <p:nvPr/>
        </p:nvSpPr>
        <p:spPr>
          <a:xfrm>
            <a:off x="4752975" y="268605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6C3EB76-5E26-4F7E-B729-896BAE6F48B8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983795B-7882-4C8A-9A33-D5B3D66AE9A9}"/>
              </a:ext>
            </a:extLst>
          </p:cNvPr>
          <p:cNvSpPr>
            <a:spLocks noGrp="1"/>
          </p:cNvSpPr>
          <p:nvPr/>
        </p:nvSpPr>
        <p:spPr>
          <a:xfrm>
            <a:off x="6181725" y="2686050"/>
            <a:ext cx="1066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D6A798-64A6-46B1-8547-2D3AF44400C8}"/>
              </a:ext>
            </a:extLst>
          </p:cNvPr>
          <p:cNvSpPr>
            <a:spLocks noGrp="1"/>
          </p:cNvSpPr>
          <p:nvPr/>
        </p:nvSpPr>
        <p:spPr>
          <a:xfrm>
            <a:off x="7334250" y="2609850"/>
            <a:ext cx="1333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C123EB2-9430-4123-9DE1-8F0C93D5C633}"/>
              </a:ext>
            </a:extLst>
          </p:cNvPr>
          <p:cNvSpPr>
            <a:spLocks noGrp="1"/>
          </p:cNvSpPr>
          <p:nvPr/>
        </p:nvSpPr>
        <p:spPr>
          <a:xfrm>
            <a:off x="7419975" y="268605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A7F0E4-82B4-441B-A4AE-EC69BF45106E}"/>
              </a:ext>
            </a:extLst>
          </p:cNvPr>
          <p:cNvSpPr>
            <a:spLocks noGrp="1"/>
          </p:cNvSpPr>
          <p:nvPr/>
        </p:nvSpPr>
        <p:spPr>
          <a:xfrm>
            <a:off x="8667750" y="2609850"/>
            <a:ext cx="13811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81B52D-3510-4D81-A614-35AFC1CAF4E2}"/>
              </a:ext>
            </a:extLst>
          </p:cNvPr>
          <p:cNvSpPr>
            <a:spLocks noGrp="1"/>
          </p:cNvSpPr>
          <p:nvPr/>
        </p:nvSpPr>
        <p:spPr>
          <a:xfrm>
            <a:off x="8753475" y="2686050"/>
            <a:ext cx="12096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CE65458-EA86-4E15-AC33-C744FABC5DD6}"/>
              </a:ext>
            </a:extLst>
          </p:cNvPr>
          <p:cNvSpPr>
            <a:spLocks noGrp="1"/>
          </p:cNvSpPr>
          <p:nvPr/>
        </p:nvSpPr>
        <p:spPr>
          <a:xfrm>
            <a:off x="10048875" y="260985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3185950-8BEA-4B1A-8E72-85CA4F10CE89}"/>
              </a:ext>
            </a:extLst>
          </p:cNvPr>
          <p:cNvSpPr>
            <a:spLocks noGrp="1"/>
          </p:cNvSpPr>
          <p:nvPr/>
        </p:nvSpPr>
        <p:spPr>
          <a:xfrm>
            <a:off x="10134600" y="2686050"/>
            <a:ext cx="1066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~9 ms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945B3D7-601B-4BE5-85C2-07353DA9D915}"/>
              </a:ext>
            </a:extLst>
          </p:cNvPr>
          <p:cNvSpPr>
            <a:spLocks noGrp="1"/>
          </p:cNvSpPr>
          <p:nvPr/>
        </p:nvSpPr>
        <p:spPr>
          <a:xfrm>
            <a:off x="4667250" y="3162300"/>
            <a:ext cx="14287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A6915B3-E67D-429E-A0BB-E960C35FBB60}"/>
              </a:ext>
            </a:extLst>
          </p:cNvPr>
          <p:cNvSpPr>
            <a:spLocks noGrp="1"/>
          </p:cNvSpPr>
          <p:nvPr/>
        </p:nvSpPr>
        <p:spPr>
          <a:xfrm>
            <a:off x="4752975" y="323850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5F7169A-D167-41CA-9420-8F4376BCC8DB}"/>
              </a:ext>
            </a:extLst>
          </p:cNvPr>
          <p:cNvSpPr>
            <a:spLocks noGrp="1"/>
          </p:cNvSpPr>
          <p:nvPr/>
        </p:nvSpPr>
        <p:spPr>
          <a:xfrm>
            <a:off x="6096000" y="3162300"/>
            <a:ext cx="1238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BD482D3-DFF0-4780-A774-98FB3260DB9B}"/>
              </a:ext>
            </a:extLst>
          </p:cNvPr>
          <p:cNvSpPr>
            <a:spLocks noGrp="1"/>
          </p:cNvSpPr>
          <p:nvPr/>
        </p:nvSpPr>
        <p:spPr>
          <a:xfrm>
            <a:off x="6181725" y="3238500"/>
            <a:ext cx="1066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6FF4C61-59D3-4881-B1D7-46379B73EAE1}"/>
              </a:ext>
            </a:extLst>
          </p:cNvPr>
          <p:cNvSpPr>
            <a:spLocks noGrp="1"/>
          </p:cNvSpPr>
          <p:nvPr/>
        </p:nvSpPr>
        <p:spPr>
          <a:xfrm>
            <a:off x="7334250" y="3162300"/>
            <a:ext cx="133350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632ED3C-663A-4E54-B1EC-222895D56ECA}"/>
              </a:ext>
            </a:extLst>
          </p:cNvPr>
          <p:cNvSpPr>
            <a:spLocks noGrp="1"/>
          </p:cNvSpPr>
          <p:nvPr/>
        </p:nvSpPr>
        <p:spPr>
          <a:xfrm>
            <a:off x="7419975" y="323850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5E1EB3D-1864-4F4A-83E8-520A682071C0}"/>
              </a:ext>
            </a:extLst>
          </p:cNvPr>
          <p:cNvSpPr>
            <a:spLocks noGrp="1"/>
          </p:cNvSpPr>
          <p:nvPr/>
        </p:nvSpPr>
        <p:spPr>
          <a:xfrm>
            <a:off x="8667750" y="3162300"/>
            <a:ext cx="1381125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7765B4F-40DC-4EBF-AF4C-1A52693FECCA}"/>
              </a:ext>
            </a:extLst>
          </p:cNvPr>
          <p:cNvSpPr>
            <a:spLocks noGrp="1"/>
          </p:cNvSpPr>
          <p:nvPr/>
        </p:nvSpPr>
        <p:spPr>
          <a:xfrm>
            <a:off x="8753475" y="3238500"/>
            <a:ext cx="12096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A4B26BD-698D-4928-8143-D01B2CF80AA0}"/>
              </a:ext>
            </a:extLst>
          </p:cNvPr>
          <p:cNvSpPr>
            <a:spLocks noGrp="1"/>
          </p:cNvSpPr>
          <p:nvPr/>
        </p:nvSpPr>
        <p:spPr>
          <a:xfrm>
            <a:off x="10048875" y="3162300"/>
            <a:ext cx="1238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65691CF-1A9F-48F9-A647-FD88991420EB}"/>
              </a:ext>
            </a:extLst>
          </p:cNvPr>
          <p:cNvSpPr>
            <a:spLocks noGrp="1"/>
          </p:cNvSpPr>
          <p:nvPr/>
        </p:nvSpPr>
        <p:spPr>
          <a:xfrm>
            <a:off x="10134600" y="3238500"/>
            <a:ext cx="1066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~30 ms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8B7E509-B505-4659-947A-3CC7BB6C3270}"/>
              </a:ext>
            </a:extLst>
          </p:cNvPr>
          <p:cNvSpPr>
            <a:spLocks noGrp="1"/>
          </p:cNvSpPr>
          <p:nvPr/>
        </p:nvSpPr>
        <p:spPr>
          <a:xfrm>
            <a:off x="4667250" y="4229100"/>
            <a:ext cx="66198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CDC74E0-523C-4F30-803F-B18FE110E690}"/>
              </a:ext>
            </a:extLst>
          </p:cNvPr>
          <p:cNvSpPr>
            <a:spLocks noGrp="1"/>
          </p:cNvSpPr>
          <p:nvPr/>
        </p:nvSpPr>
        <p:spPr>
          <a:xfrm>
            <a:off x="4914900" y="4438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이 테스트의 가치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DCE93B7-1EC2-4361-9607-23DA3305FCA0}"/>
              </a:ext>
            </a:extLst>
          </p:cNvPr>
          <p:cNvSpPr>
            <a:spLocks noGrp="1"/>
          </p:cNvSpPr>
          <p:nvPr/>
        </p:nvSpPr>
        <p:spPr>
          <a:xfrm>
            <a:off x="6705600" y="4381500"/>
            <a:ext cx="4095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기능 연결 여부, Gateway별 응답 포맷 차이, privacy guard 결정, 장애 시 실패 지점을 한 화면에서 설명할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9326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9551B7AA-191E-485B-82C7-1A49C2F309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00708E-EA95-422F-920B-177EFE64405C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25B53D-DC2D-4AE6-BF53-6FBCDA6EAAE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개인정보 제약: Gateway 전 service 단에서 공통 처리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22810E-4D1F-43F1-8D55-E6DFDD9E895A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4AA793-D98A-4704-BEB7-D6A95E14E82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2095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1D64E9-9FF5-4B27-A23C-4523091CA16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209550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E21CEE-39C9-4E42-AAAD-EAE239A1E18B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B69E8D-5376-4A3F-9D4D-FC77F7F5E241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01012345678 포함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4F378104-272C-4800-A0A2-640F10D7837F}"/>
              </a:ext>
            </a:extLst>
          </p:cNvPr>
          <p:cNvSpPr>
            <a:spLocks noGrp="1"/>
          </p:cNvSpPr>
          <p:nvPr/>
        </p:nvSpPr>
        <p:spPr>
          <a:xfrm>
            <a:off x="2762250" y="2266950"/>
            <a:ext cx="6286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3A1338C8-A536-4BD7-A477-8709CF7D88A0}"/>
              </a:ext>
            </a:extLst>
          </p:cNvPr>
          <p:cNvSpPr>
            <a:spLocks noGrp="1"/>
          </p:cNvSpPr>
          <p:nvPr/>
        </p:nvSpPr>
        <p:spPr>
          <a:xfrm>
            <a:off x="3305175" y="2209800"/>
            <a:ext cx="114300" cy="114300"/>
          </a:xfrm>
          <a:prstGeom prst="triangle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BEE0C9-C93E-4FE5-9626-1AD5E120C6D7}"/>
              </a:ext>
            </a:extLst>
          </p:cNvPr>
          <p:cNvSpPr>
            <a:spLocks noGrp="1"/>
          </p:cNvSpPr>
          <p:nvPr/>
        </p:nvSpPr>
        <p:spPr>
          <a:xfrm>
            <a:off x="3429000" y="1714500"/>
            <a:ext cx="2095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CC4AA5-D14D-4571-BAA7-22F57A226D48}"/>
              </a:ext>
            </a:extLst>
          </p:cNvPr>
          <p:cNvSpPr>
            <a:spLocks noGrp="1"/>
          </p:cNvSpPr>
          <p:nvPr/>
        </p:nvSpPr>
        <p:spPr>
          <a:xfrm>
            <a:off x="3429000" y="1714500"/>
            <a:ext cx="2095500" cy="571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C593C3-055B-48AF-A0C6-22A75725E606}"/>
              </a:ext>
            </a:extLst>
          </p:cNvPr>
          <p:cNvSpPr>
            <a:spLocks noGrp="1"/>
          </p:cNvSpPr>
          <p:nvPr/>
        </p:nvSpPr>
        <p:spPr>
          <a:xfrm>
            <a:off x="3619500" y="20002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Privacy Guard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2C462C-AA67-4A9D-985E-E6A4C6FEE3CC}"/>
              </a:ext>
            </a:extLst>
          </p:cNvPr>
          <p:cNvSpPr>
            <a:spLocks noGrp="1"/>
          </p:cNvSpPr>
          <p:nvPr/>
        </p:nvSpPr>
        <p:spPr>
          <a:xfrm>
            <a:off x="3619500" y="236220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11자리 전화번호 탐지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2A94B350-0509-4042-8087-33A616FF0F8B}"/>
              </a:ext>
            </a:extLst>
          </p:cNvPr>
          <p:cNvSpPr>
            <a:spLocks noGrp="1"/>
          </p:cNvSpPr>
          <p:nvPr/>
        </p:nvSpPr>
        <p:spPr>
          <a:xfrm>
            <a:off x="5524500" y="2266950"/>
            <a:ext cx="6286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F38261C3-1C08-434C-9247-4389B9FF59EC}"/>
              </a:ext>
            </a:extLst>
          </p:cNvPr>
          <p:cNvSpPr>
            <a:spLocks noGrp="1"/>
          </p:cNvSpPr>
          <p:nvPr/>
        </p:nvSpPr>
        <p:spPr>
          <a:xfrm>
            <a:off x="6067425" y="2209800"/>
            <a:ext cx="114300" cy="114300"/>
          </a:xfrm>
          <a:prstGeom prst="triangle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107E00-A5FE-4ACF-928F-8F120F2C228C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2095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3BA9B7-CE05-4369-8B76-2DAFA854407E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209550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83D51C-404E-48E0-BB25-B4B91D72C994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정책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53F565-CF35-41F7-AA0E-7F87DD237794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MASK 또는 BLOCK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127ECF9D-C5EF-4A3C-B5F7-660A6843DD66}"/>
              </a:ext>
            </a:extLst>
          </p:cNvPr>
          <p:cNvSpPr>
            <a:spLocks noGrp="1"/>
          </p:cNvSpPr>
          <p:nvPr/>
        </p:nvSpPr>
        <p:spPr>
          <a:xfrm>
            <a:off x="8286750" y="2266950"/>
            <a:ext cx="62865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FE9D9592-2E7C-4F4A-A1A3-057C9E5A54EE}"/>
              </a:ext>
            </a:extLst>
          </p:cNvPr>
          <p:cNvSpPr>
            <a:spLocks noGrp="1"/>
          </p:cNvSpPr>
          <p:nvPr/>
        </p:nvSpPr>
        <p:spPr>
          <a:xfrm>
            <a:off x="8829675" y="2209800"/>
            <a:ext cx="114300" cy="114300"/>
          </a:xfrm>
          <a:prstGeom prst="triangle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86E999-3F9F-4A4E-B404-C2B91E2B62A4}"/>
              </a:ext>
            </a:extLst>
          </p:cNvPr>
          <p:cNvSpPr>
            <a:spLocks noGrp="1"/>
          </p:cNvSpPr>
          <p:nvPr/>
        </p:nvSpPr>
        <p:spPr>
          <a:xfrm>
            <a:off x="8953500" y="1714500"/>
            <a:ext cx="2095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27F803-92E6-4C91-8303-2EF243CCB842}"/>
              </a:ext>
            </a:extLst>
          </p:cNvPr>
          <p:cNvSpPr>
            <a:spLocks noGrp="1"/>
          </p:cNvSpPr>
          <p:nvPr/>
        </p:nvSpPr>
        <p:spPr>
          <a:xfrm>
            <a:off x="8953500" y="1714500"/>
            <a:ext cx="2095500" cy="571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C88336-E316-4C88-8838-F68B9DD9CA50}"/>
              </a:ext>
            </a:extLst>
          </p:cNvPr>
          <p:cNvSpPr>
            <a:spLocks noGrp="1"/>
          </p:cNvSpPr>
          <p:nvPr/>
        </p:nvSpPr>
        <p:spPr>
          <a:xfrm>
            <a:off x="9144000" y="20002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4665034-BE0F-4BB5-A910-2299AC3C32D8}"/>
              </a:ext>
            </a:extLst>
          </p:cNvPr>
          <p:cNvSpPr>
            <a:spLocks noGrp="1"/>
          </p:cNvSpPr>
          <p:nvPr/>
        </p:nvSpPr>
        <p:spPr>
          <a:xfrm>
            <a:off x="9144000" y="236220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선택 Gateway 호출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921236D-A3F1-48E2-9270-D90AB9480B3C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45720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C9A2CFC-74BE-4478-A45B-F9A1F69AA966}"/>
              </a:ext>
            </a:extLst>
          </p:cNvPr>
          <p:cNvSpPr>
            <a:spLocks noGrp="1"/>
          </p:cNvSpPr>
          <p:nvPr/>
        </p:nvSpPr>
        <p:spPr>
          <a:xfrm>
            <a:off x="1200150" y="39814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AAFBC6-578B-4666-870F-F1D68F03FA0A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010-****-5678로 치환한 뒤 Gateway 호출을 계속합니다.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E1E895-4246-488D-ACF3-CF4480441C5E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1238250" cy="2857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A03B9C-4661-49FB-AE68-8622B4800CA0}"/>
              </a:ext>
            </a:extLst>
          </p:cNvPr>
          <p:cNvSpPr>
            <a:spLocks noGrp="1"/>
          </p:cNvSpPr>
          <p:nvPr/>
        </p:nvSpPr>
        <p:spPr>
          <a:xfrm>
            <a:off x="1295400" y="47625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LLM 호출 가능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F9DBD7-BFA8-43F2-B7E1-1FD124F73DFE}"/>
              </a:ext>
            </a:extLst>
          </p:cNvPr>
          <p:cNvSpPr>
            <a:spLocks noGrp="1"/>
          </p:cNvSpPr>
          <p:nvPr/>
        </p:nvSpPr>
        <p:spPr>
          <a:xfrm>
            <a:off x="6172200" y="3695700"/>
            <a:ext cx="45720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47CF34-0088-4733-A032-5129E5BC8C24}"/>
              </a:ext>
            </a:extLst>
          </p:cNvPr>
          <p:cNvSpPr>
            <a:spLocks noGrp="1"/>
          </p:cNvSpPr>
          <p:nvPr/>
        </p:nvSpPr>
        <p:spPr>
          <a:xfrm>
            <a:off x="6457950" y="39814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BLOCK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2C55BA3-3530-469C-B2F3-13D02E7CD054}"/>
              </a:ext>
            </a:extLst>
          </p:cNvPr>
          <p:cNvSpPr>
            <a:spLocks noGrp="1"/>
          </p:cNvSpPr>
          <p:nvPr/>
        </p:nvSpPr>
        <p:spPr>
          <a:xfrm>
            <a:off x="6457950" y="42481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Gateway 호출 전에 중단하고 BLOCKED_BY_PRIVACY_GUARD를 반환합니다.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3B1F93-19D3-4B87-96D2-3D47230F6455}"/>
              </a:ext>
            </a:extLst>
          </p:cNvPr>
          <p:cNvSpPr>
            <a:spLocks noGrp="1"/>
          </p:cNvSpPr>
          <p:nvPr/>
        </p:nvSpPr>
        <p:spPr>
          <a:xfrm>
            <a:off x="6457950" y="4705350"/>
            <a:ext cx="1238250" cy="285750"/>
          </a:xfrm>
          <a:prstGeom prst="rect">
            <a:avLst/>
          </a:prstGeom>
          <a:solidFill>
            <a:srgbClr val="FDECEC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5E94CC0-B6C6-4D72-8503-0E9B66B06185}"/>
              </a:ext>
            </a:extLst>
          </p:cNvPr>
          <p:cNvSpPr>
            <a:spLocks noGrp="1"/>
          </p:cNvSpPr>
          <p:nvPr/>
        </p:nvSpPr>
        <p:spPr>
          <a:xfrm>
            <a:off x="6553200" y="47625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LLM 호출 차단</a:t>
            </a:r>
          </a:p>
        </p:txBody>
      </p:sp>
    </p:spTree>
    <p:extLst>
      <p:ext uri="{BB962C8B-B14F-4D97-AF65-F5344CB8AC3E}">
        <p14:creationId xmlns:p14="http://schemas.microsoft.com/office/powerpoint/2010/main" val="574436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838ADD26-361D-4AA9-A96C-953A7F37AC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C511CD-921C-46B1-8BC2-7E058ABF70C3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38863A-B239-4B2E-820D-19B888093ABA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운영 예상: 사양, 비용, 개발 공수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739006-A237-441B-B07C-6590E94E15D0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5F6B23-0A4A-4027-A79B-DAFE6F258B00}"/>
              </a:ext>
            </a:extLst>
          </p:cNvPr>
          <p:cNvSpPr>
            <a:spLocks noGrp="1"/>
          </p:cNvSpPr>
          <p:nvPr/>
        </p:nvSpPr>
        <p:spPr>
          <a:xfrm>
            <a:off x="476250" y="1428750"/>
            <a:ext cx="1428750" cy="5905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212DF-A2F5-43F3-8766-46AC020277E7}"/>
              </a:ext>
            </a:extLst>
          </p:cNvPr>
          <p:cNvSpPr>
            <a:spLocks noGrp="1"/>
          </p:cNvSpPr>
          <p:nvPr/>
        </p:nvSpPr>
        <p:spPr>
          <a:xfrm>
            <a:off x="561975" y="1504950"/>
            <a:ext cx="1257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67B0A-771D-4344-B719-1DA6D6874C52}"/>
              </a:ext>
            </a:extLst>
          </p:cNvPr>
          <p:cNvSpPr>
            <a:spLocks noGrp="1"/>
          </p:cNvSpPr>
          <p:nvPr/>
        </p:nvSpPr>
        <p:spPr>
          <a:xfrm>
            <a:off x="1905000" y="1428750"/>
            <a:ext cx="1809750" cy="5905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C5329A-D55B-46B2-9057-4A4D73CBD514}"/>
              </a:ext>
            </a:extLst>
          </p:cNvPr>
          <p:cNvSpPr>
            <a:spLocks noGrp="1"/>
          </p:cNvSpPr>
          <p:nvPr/>
        </p:nvSpPr>
        <p:spPr>
          <a:xfrm>
            <a:off x="1990725" y="1504950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PoC 운영 사양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F9FC15-3C0B-4ABC-9D13-264B5CED7595}"/>
              </a:ext>
            </a:extLst>
          </p:cNvPr>
          <p:cNvSpPr>
            <a:spLocks noGrp="1"/>
          </p:cNvSpPr>
          <p:nvPr/>
        </p:nvSpPr>
        <p:spPr>
          <a:xfrm>
            <a:off x="3714750" y="1428750"/>
            <a:ext cx="2000250" cy="5905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365F64-19CC-46D2-993F-181D5C065768}"/>
              </a:ext>
            </a:extLst>
          </p:cNvPr>
          <p:cNvSpPr>
            <a:spLocks noGrp="1"/>
          </p:cNvSpPr>
          <p:nvPr/>
        </p:nvSpPr>
        <p:spPr>
          <a:xfrm>
            <a:off x="3800475" y="1504950"/>
            <a:ext cx="1828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비용 관점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746894-D950-4B6F-BD06-DB47BF34344F}"/>
              </a:ext>
            </a:extLst>
          </p:cNvPr>
          <p:cNvSpPr>
            <a:spLocks noGrp="1"/>
          </p:cNvSpPr>
          <p:nvPr/>
        </p:nvSpPr>
        <p:spPr>
          <a:xfrm>
            <a:off x="5715000" y="1428750"/>
            <a:ext cx="2190750" cy="5905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F032DC-38BB-40D1-8A3D-DC28BA1CFA74}"/>
              </a:ext>
            </a:extLst>
          </p:cNvPr>
          <p:cNvSpPr>
            <a:spLocks noGrp="1"/>
          </p:cNvSpPr>
          <p:nvPr/>
        </p:nvSpPr>
        <p:spPr>
          <a:xfrm>
            <a:off x="5800725" y="1504950"/>
            <a:ext cx="2019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개발 공수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2E67D4-8C04-46D5-B983-8ECFCCEB5E56}"/>
              </a:ext>
            </a:extLst>
          </p:cNvPr>
          <p:cNvSpPr>
            <a:spLocks noGrp="1"/>
          </p:cNvSpPr>
          <p:nvPr/>
        </p:nvSpPr>
        <p:spPr>
          <a:xfrm>
            <a:off x="7905750" y="1428750"/>
            <a:ext cx="3143250" cy="5905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60A144-893C-4CEF-8817-DBF8604D92BD}"/>
              </a:ext>
            </a:extLst>
          </p:cNvPr>
          <p:cNvSpPr>
            <a:spLocks noGrp="1"/>
          </p:cNvSpPr>
          <p:nvPr/>
        </p:nvSpPr>
        <p:spPr>
          <a:xfrm>
            <a:off x="7991475" y="1504950"/>
            <a:ext cx="2971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리스크/주의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AD5A2C-D96D-46A8-B13F-6B196DD13A62}"/>
              </a:ext>
            </a:extLst>
          </p:cNvPr>
          <p:cNvSpPr>
            <a:spLocks noGrp="1"/>
          </p:cNvSpPr>
          <p:nvPr/>
        </p:nvSpPr>
        <p:spPr>
          <a:xfrm>
            <a:off x="476250" y="2019300"/>
            <a:ext cx="1428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1BD8FE-89AC-4B55-84B8-DF256D681B8D}"/>
              </a:ext>
            </a:extLst>
          </p:cNvPr>
          <p:cNvSpPr>
            <a:spLocks noGrp="1"/>
          </p:cNvSpPr>
          <p:nvPr/>
        </p:nvSpPr>
        <p:spPr>
          <a:xfrm>
            <a:off x="561975" y="2095500"/>
            <a:ext cx="1257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1E7ECD-97D2-4BD5-9AE5-E2112E5EB639}"/>
              </a:ext>
            </a:extLst>
          </p:cNvPr>
          <p:cNvSpPr>
            <a:spLocks noGrp="1"/>
          </p:cNvSpPr>
          <p:nvPr/>
        </p:nvSpPr>
        <p:spPr>
          <a:xfrm>
            <a:off x="1905000" y="2019300"/>
            <a:ext cx="1809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AD7C50-CC4A-4277-9DFE-1FF92E007980}"/>
              </a:ext>
            </a:extLst>
          </p:cNvPr>
          <p:cNvSpPr>
            <a:spLocks noGrp="1"/>
          </p:cNvSpPr>
          <p:nvPr/>
        </p:nvSpPr>
        <p:spPr>
          <a:xfrm>
            <a:off x="1990725" y="2095500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1-2 vCPU / 512MB-1GB부터 PoC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AC8405-0730-4613-8A5B-B029F7BA50EA}"/>
              </a:ext>
            </a:extLst>
          </p:cNvPr>
          <p:cNvSpPr>
            <a:spLocks noGrp="1"/>
          </p:cNvSpPr>
          <p:nvPr/>
        </p:nvSpPr>
        <p:spPr>
          <a:xfrm>
            <a:off x="3714750" y="2019300"/>
            <a:ext cx="20002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C93649-8254-4498-9B97-55A2009268B6}"/>
              </a:ext>
            </a:extLst>
          </p:cNvPr>
          <p:cNvSpPr>
            <a:spLocks noGrp="1"/>
          </p:cNvSpPr>
          <p:nvPr/>
        </p:nvSpPr>
        <p:spPr>
          <a:xfrm>
            <a:off x="3800475" y="2095500"/>
            <a:ext cx="1828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OSS 자체 운영은 무료, 인프라 비용 발생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555EAC-706F-4CFC-BA5E-B71FF22EEFDA}"/>
              </a:ext>
            </a:extLst>
          </p:cNvPr>
          <p:cNvSpPr>
            <a:spLocks noGrp="1"/>
          </p:cNvSpPr>
          <p:nvPr/>
        </p:nvSpPr>
        <p:spPr>
          <a:xfrm>
            <a:off x="5715000" y="2019300"/>
            <a:ext cx="2190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914C11-8AB4-47A0-903C-2EE40FE0AD6F}"/>
              </a:ext>
            </a:extLst>
          </p:cNvPr>
          <p:cNvSpPr>
            <a:spLocks noGrp="1"/>
          </p:cNvSpPr>
          <p:nvPr/>
        </p:nvSpPr>
        <p:spPr>
          <a:xfrm>
            <a:off x="5800725" y="2095500"/>
            <a:ext cx="2019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낮음-중간: route/plugin 구성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49E69-F57C-4B90-847B-C92A88040668}"/>
              </a:ext>
            </a:extLst>
          </p:cNvPr>
          <p:cNvSpPr>
            <a:spLocks noGrp="1"/>
          </p:cNvSpPr>
          <p:nvPr/>
        </p:nvSpPr>
        <p:spPr>
          <a:xfrm>
            <a:off x="7905750" y="2019300"/>
            <a:ext cx="31432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FF076DE-C3D7-46E6-91D8-6DCC9169031F}"/>
              </a:ext>
            </a:extLst>
          </p:cNvPr>
          <p:cNvSpPr>
            <a:spLocks noGrp="1"/>
          </p:cNvSpPr>
          <p:nvPr/>
        </p:nvSpPr>
        <p:spPr>
          <a:xfrm>
            <a:off x="7991475" y="2095500"/>
            <a:ext cx="2971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plugin 정책 표준화, admin API 보호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4F331F-D194-425F-9E19-40D362C517AA}"/>
              </a:ext>
            </a:extLst>
          </p:cNvPr>
          <p:cNvSpPr>
            <a:spLocks noGrp="1"/>
          </p:cNvSpPr>
          <p:nvPr/>
        </p:nvSpPr>
        <p:spPr>
          <a:xfrm>
            <a:off x="476250" y="26098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C63CBAD-5E85-454F-9272-9F18501F09CC}"/>
              </a:ext>
            </a:extLst>
          </p:cNvPr>
          <p:cNvSpPr>
            <a:spLocks noGrp="1"/>
          </p:cNvSpPr>
          <p:nvPr/>
        </p:nvSpPr>
        <p:spPr>
          <a:xfrm>
            <a:off x="561975" y="2686050"/>
            <a:ext cx="1257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1E081B-5488-48E3-8856-331099CADDD8}"/>
              </a:ext>
            </a:extLst>
          </p:cNvPr>
          <p:cNvSpPr>
            <a:spLocks noGrp="1"/>
          </p:cNvSpPr>
          <p:nvPr/>
        </p:nvSpPr>
        <p:spPr>
          <a:xfrm>
            <a:off x="1905000" y="260985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6D33F6A-460A-4899-969B-553B50B6E571}"/>
              </a:ext>
            </a:extLst>
          </p:cNvPr>
          <p:cNvSpPr>
            <a:spLocks noGrp="1"/>
          </p:cNvSpPr>
          <p:nvPr/>
        </p:nvSpPr>
        <p:spPr>
          <a:xfrm>
            <a:off x="1990725" y="2686050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 vCPU / 256MB-1GB부터 PoC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76BFE5-DEAE-472B-9A00-9489E0A1E21E}"/>
              </a:ext>
            </a:extLst>
          </p:cNvPr>
          <p:cNvSpPr>
            <a:spLocks noGrp="1"/>
          </p:cNvSpPr>
          <p:nvPr/>
        </p:nvSpPr>
        <p:spPr>
          <a:xfrm>
            <a:off x="3714750" y="260985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6EBE515-F84A-41E9-A96F-D737105C9BEF}"/>
              </a:ext>
            </a:extLst>
          </p:cNvPr>
          <p:cNvSpPr>
            <a:spLocks noGrp="1"/>
          </p:cNvSpPr>
          <p:nvPr/>
        </p:nvSpPr>
        <p:spPr>
          <a:xfrm>
            <a:off x="3800475" y="2686050"/>
            <a:ext cx="1828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OSS 자체 운영은 무료, 인프라 비용 발생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106CE4-138D-4057-BC8E-A82C4FEC236E}"/>
              </a:ext>
            </a:extLst>
          </p:cNvPr>
          <p:cNvSpPr>
            <a:spLocks noGrp="1"/>
          </p:cNvSpPr>
          <p:nvPr/>
        </p:nvSpPr>
        <p:spPr>
          <a:xfrm>
            <a:off x="5715000" y="2609850"/>
            <a:ext cx="2190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B7F855-53A8-4FC3-AAD4-CAAA9C41260D}"/>
              </a:ext>
            </a:extLst>
          </p:cNvPr>
          <p:cNvSpPr>
            <a:spLocks noGrp="1"/>
          </p:cNvSpPr>
          <p:nvPr/>
        </p:nvSpPr>
        <p:spPr>
          <a:xfrm>
            <a:off x="5800725" y="2686050"/>
            <a:ext cx="2019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중간: config/filter 이해 필요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C71756-576C-4EA1-9A9A-A038B881FED4}"/>
              </a:ext>
            </a:extLst>
          </p:cNvPr>
          <p:cNvSpPr>
            <a:spLocks noGrp="1"/>
          </p:cNvSpPr>
          <p:nvPr/>
        </p:nvSpPr>
        <p:spPr>
          <a:xfrm>
            <a:off x="7905750" y="260985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9BB3C58-29FE-4822-92FA-28DFC2A9E5A0}"/>
              </a:ext>
            </a:extLst>
          </p:cNvPr>
          <p:cNvSpPr>
            <a:spLocks noGrp="1"/>
          </p:cNvSpPr>
          <p:nvPr/>
        </p:nvSpPr>
        <p:spPr>
          <a:xfrm>
            <a:off x="7991475" y="2686050"/>
            <a:ext cx="2971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xDS/mesh 도입 시 운영 복잡도 증가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B719FC-5BDD-42A9-84AB-42E184CBF682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428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C9BD23E-0BF4-40D0-9A88-89648760BE95}"/>
              </a:ext>
            </a:extLst>
          </p:cNvPr>
          <p:cNvSpPr>
            <a:spLocks noGrp="1"/>
          </p:cNvSpPr>
          <p:nvPr/>
        </p:nvSpPr>
        <p:spPr>
          <a:xfrm>
            <a:off x="561975" y="3276600"/>
            <a:ext cx="1257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802650-479E-4D6D-9485-C465A82271D9}"/>
              </a:ext>
            </a:extLst>
          </p:cNvPr>
          <p:cNvSpPr>
            <a:spLocks noGrp="1"/>
          </p:cNvSpPr>
          <p:nvPr/>
        </p:nvSpPr>
        <p:spPr>
          <a:xfrm>
            <a:off x="1905000" y="3200400"/>
            <a:ext cx="1809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E6518A-7848-414F-85BE-CF8D9B2D19E3}"/>
              </a:ext>
            </a:extLst>
          </p:cNvPr>
          <p:cNvSpPr>
            <a:spLocks noGrp="1"/>
          </p:cNvSpPr>
          <p:nvPr/>
        </p:nvSpPr>
        <p:spPr>
          <a:xfrm>
            <a:off x="1990725" y="3276600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1-2 vCPU / 512MB-1GB부터 PoC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5593964-1510-43D9-A2C0-078990C51851}"/>
              </a:ext>
            </a:extLst>
          </p:cNvPr>
          <p:cNvSpPr>
            <a:spLocks noGrp="1"/>
          </p:cNvSpPr>
          <p:nvPr/>
        </p:nvSpPr>
        <p:spPr>
          <a:xfrm>
            <a:off x="3714750" y="3200400"/>
            <a:ext cx="20002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EF23E0E-D93D-46DB-B702-ED1442383EAE}"/>
              </a:ext>
            </a:extLst>
          </p:cNvPr>
          <p:cNvSpPr>
            <a:spLocks noGrp="1"/>
          </p:cNvSpPr>
          <p:nvPr/>
        </p:nvSpPr>
        <p:spPr>
          <a:xfrm>
            <a:off x="3800475" y="3276600"/>
            <a:ext cx="1828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OSS 자체 운영은 무료, LLM provider 비용 별도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965A240-EA4F-4AC5-849A-46942EE7D4C3}"/>
              </a:ext>
            </a:extLst>
          </p:cNvPr>
          <p:cNvSpPr>
            <a:spLocks noGrp="1"/>
          </p:cNvSpPr>
          <p:nvPr/>
        </p:nvSpPr>
        <p:spPr>
          <a:xfrm>
            <a:off x="5715000" y="3200400"/>
            <a:ext cx="2190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F1C7ED-BA74-4539-8526-4405FD14CB95}"/>
              </a:ext>
            </a:extLst>
          </p:cNvPr>
          <p:cNvSpPr>
            <a:spLocks noGrp="1"/>
          </p:cNvSpPr>
          <p:nvPr/>
        </p:nvSpPr>
        <p:spPr>
          <a:xfrm>
            <a:off x="5800725" y="3276600"/>
            <a:ext cx="2019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중간: model/provider/budget 설정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F020073-9DDD-4F59-B8C4-29F545560E9B}"/>
              </a:ext>
            </a:extLst>
          </p:cNvPr>
          <p:cNvSpPr>
            <a:spLocks noGrp="1"/>
          </p:cNvSpPr>
          <p:nvPr/>
        </p:nvSpPr>
        <p:spPr>
          <a:xfrm>
            <a:off x="7905750" y="3200400"/>
            <a:ext cx="31432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E8C74B4-3031-4B93-BF27-5D48BE6E1C12}"/>
              </a:ext>
            </a:extLst>
          </p:cNvPr>
          <p:cNvSpPr>
            <a:spLocks noGrp="1"/>
          </p:cNvSpPr>
          <p:nvPr/>
        </p:nvSpPr>
        <p:spPr>
          <a:xfrm>
            <a:off x="7991475" y="3276600"/>
            <a:ext cx="2971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provider key/비용/쿼터 관리 필요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75B1DD4-52D8-4B24-B84A-6CA60A8AD483}"/>
              </a:ext>
            </a:extLst>
          </p:cNvPr>
          <p:cNvSpPr>
            <a:spLocks noGrp="1"/>
          </p:cNvSpPr>
          <p:nvPr/>
        </p:nvSpPr>
        <p:spPr>
          <a:xfrm>
            <a:off x="476250" y="37909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67DF669-99A0-482F-9A81-9E7D0F01A999}"/>
              </a:ext>
            </a:extLst>
          </p:cNvPr>
          <p:cNvSpPr>
            <a:spLocks noGrp="1"/>
          </p:cNvSpPr>
          <p:nvPr/>
        </p:nvSpPr>
        <p:spPr>
          <a:xfrm>
            <a:off x="561975" y="3867150"/>
            <a:ext cx="1257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Kong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5CFD786-D51E-456C-9113-42740EF75DE2}"/>
              </a:ext>
            </a:extLst>
          </p:cNvPr>
          <p:cNvSpPr>
            <a:spLocks noGrp="1"/>
          </p:cNvSpPr>
          <p:nvPr/>
        </p:nvSpPr>
        <p:spPr>
          <a:xfrm>
            <a:off x="1905000" y="379095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2ADC941-39F9-4AAB-9E40-D261C79C9D02}"/>
              </a:ext>
            </a:extLst>
          </p:cNvPr>
          <p:cNvSpPr>
            <a:spLocks noGrp="1"/>
          </p:cNvSpPr>
          <p:nvPr/>
        </p:nvSpPr>
        <p:spPr>
          <a:xfrm>
            <a:off x="1990725" y="3867150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구성 방식에 따라 상이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BAF9ED5-8B42-4501-B475-43AC47B8B2D7}"/>
              </a:ext>
            </a:extLst>
          </p:cNvPr>
          <p:cNvSpPr>
            <a:spLocks noGrp="1"/>
          </p:cNvSpPr>
          <p:nvPr/>
        </p:nvSpPr>
        <p:spPr>
          <a:xfrm>
            <a:off x="3714750" y="379095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462E6A4-74FC-4E2C-B82B-A49D8D7F1507}"/>
              </a:ext>
            </a:extLst>
          </p:cNvPr>
          <p:cNvSpPr>
            <a:spLocks noGrp="1"/>
          </p:cNvSpPr>
          <p:nvPr/>
        </p:nvSpPr>
        <p:spPr>
          <a:xfrm>
            <a:off x="3800475" y="3867150"/>
            <a:ext cx="1828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OSS 가능, Enterprise는 유료 가능성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9043923-C2A1-4EDE-B98D-9787A0951C9B}"/>
              </a:ext>
            </a:extLst>
          </p:cNvPr>
          <p:cNvSpPr>
            <a:spLocks noGrp="1"/>
          </p:cNvSpPr>
          <p:nvPr/>
        </p:nvSpPr>
        <p:spPr>
          <a:xfrm>
            <a:off x="5715000" y="3790950"/>
            <a:ext cx="2190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133A132-D367-4674-B5E8-A1C9807556ED}"/>
              </a:ext>
            </a:extLst>
          </p:cNvPr>
          <p:cNvSpPr>
            <a:spLocks noGrp="1"/>
          </p:cNvSpPr>
          <p:nvPr/>
        </p:nvSpPr>
        <p:spPr>
          <a:xfrm>
            <a:off x="5800725" y="3867150"/>
            <a:ext cx="2019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중간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535F46F-2704-4B35-8DC2-16F45D784A72}"/>
              </a:ext>
            </a:extLst>
          </p:cNvPr>
          <p:cNvSpPr>
            <a:spLocks noGrp="1"/>
          </p:cNvSpPr>
          <p:nvPr/>
        </p:nvSpPr>
        <p:spPr>
          <a:xfrm>
            <a:off x="7905750" y="379095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8A220A9-B2C0-426A-8F7A-9BFB9179892A}"/>
              </a:ext>
            </a:extLst>
          </p:cNvPr>
          <p:cNvSpPr>
            <a:spLocks noGrp="1"/>
          </p:cNvSpPr>
          <p:nvPr/>
        </p:nvSpPr>
        <p:spPr>
          <a:xfrm>
            <a:off x="7991475" y="3867150"/>
            <a:ext cx="2971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라이선스/플러그인 범위 확인 필요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8875843-1770-4921-917A-F26138A081AB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428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CEB5A6F-0A99-4295-A24A-D4E2B5834BA4}"/>
              </a:ext>
            </a:extLst>
          </p:cNvPr>
          <p:cNvSpPr>
            <a:spLocks noGrp="1"/>
          </p:cNvSpPr>
          <p:nvPr/>
        </p:nvSpPr>
        <p:spPr>
          <a:xfrm>
            <a:off x="561975" y="4457700"/>
            <a:ext cx="1257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Cloudflare/Portkey/OpenRouter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6DF7349-2C7D-45B4-A07D-9C6CA915F8E7}"/>
              </a:ext>
            </a:extLst>
          </p:cNvPr>
          <p:cNvSpPr>
            <a:spLocks noGrp="1"/>
          </p:cNvSpPr>
          <p:nvPr/>
        </p:nvSpPr>
        <p:spPr>
          <a:xfrm>
            <a:off x="1905000" y="4381500"/>
            <a:ext cx="1809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344FE73-750B-4AAC-9B60-1D14BC35C1F5}"/>
              </a:ext>
            </a:extLst>
          </p:cNvPr>
          <p:cNvSpPr>
            <a:spLocks noGrp="1"/>
          </p:cNvSpPr>
          <p:nvPr/>
        </p:nvSpPr>
        <p:spPr>
          <a:xfrm>
            <a:off x="1990725" y="4457700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SaaS 중심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A853427-C9C0-4AA5-8BB9-CDC8601BE3E7}"/>
              </a:ext>
            </a:extLst>
          </p:cNvPr>
          <p:cNvSpPr>
            <a:spLocks noGrp="1"/>
          </p:cNvSpPr>
          <p:nvPr/>
        </p:nvSpPr>
        <p:spPr>
          <a:xfrm>
            <a:off x="3714750" y="4381500"/>
            <a:ext cx="20002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0C0F9A7-5FD9-4EA2-9A26-4B48A5716146}"/>
              </a:ext>
            </a:extLst>
          </p:cNvPr>
          <p:cNvSpPr>
            <a:spLocks noGrp="1"/>
          </p:cNvSpPr>
          <p:nvPr/>
        </p:nvSpPr>
        <p:spPr>
          <a:xfrm>
            <a:off x="3800475" y="4457700"/>
            <a:ext cx="1828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무료 tier 가능성이나 운영 사용은 요금 확인 필요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81D301B-6679-48B1-9125-2BC4D76ECDE4}"/>
              </a:ext>
            </a:extLst>
          </p:cNvPr>
          <p:cNvSpPr>
            <a:spLocks noGrp="1"/>
          </p:cNvSpPr>
          <p:nvPr/>
        </p:nvSpPr>
        <p:spPr>
          <a:xfrm>
            <a:off x="5715000" y="4381500"/>
            <a:ext cx="21907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AC9F340-7B92-4708-9B22-D6ECF8062386}"/>
              </a:ext>
            </a:extLst>
          </p:cNvPr>
          <p:cNvSpPr>
            <a:spLocks noGrp="1"/>
          </p:cNvSpPr>
          <p:nvPr/>
        </p:nvSpPr>
        <p:spPr>
          <a:xfrm>
            <a:off x="5800725" y="4457700"/>
            <a:ext cx="2019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낮음: 계정/API key 중심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C7E6BE-56B9-4FB6-9EBD-CDC363D8BDFD}"/>
              </a:ext>
            </a:extLst>
          </p:cNvPr>
          <p:cNvSpPr>
            <a:spLocks noGrp="1"/>
          </p:cNvSpPr>
          <p:nvPr/>
        </p:nvSpPr>
        <p:spPr>
          <a:xfrm>
            <a:off x="7905750" y="4381500"/>
            <a:ext cx="3143250" cy="5905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17A7F80-AED1-45F9-BCE8-D010010AF6A0}"/>
              </a:ext>
            </a:extLst>
          </p:cNvPr>
          <p:cNvSpPr>
            <a:spLocks noGrp="1"/>
          </p:cNvSpPr>
          <p:nvPr/>
        </p:nvSpPr>
        <p:spPr>
          <a:xfrm>
            <a:off x="7991475" y="4457700"/>
            <a:ext cx="2971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외부망, 데이터 정책, SLA, 벤더 종속</a:t>
            </a:r>
          </a:p>
        </p:txBody>
      </p:sp>
    </p:spTree>
    <p:extLst>
      <p:ext uri="{BB962C8B-B14F-4D97-AF65-F5344CB8AC3E}">
        <p14:creationId xmlns:p14="http://schemas.microsoft.com/office/powerpoint/2010/main" val="913626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2D91BE-2CBE-46B6-A6A4-926502D3C5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7D86AD-2B44-4DAB-A249-F9643457386D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Gateway 운영 전환 예상 공수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86630D-1FB0-48D5-92AC-E97623A72F8B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전제: PoC 비교 후 APISIX / Envoy / LiteLLM 중 하나의 Gateway를 선정하여 운영 반영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56CC96-89E6-46F8-A8AA-57A0BE1E6294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287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683405-E9D8-484D-9107-B53DB8B7A7B1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산정 기준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F7767B-F698-439C-8806-88073667B83A}"/>
              </a:ext>
            </a:extLst>
          </p:cNvPr>
          <p:cNvSpPr>
            <a:spLocks noGrp="1"/>
          </p:cNvSpPr>
          <p:nvPr/>
        </p:nvSpPr>
        <p:spPr>
          <a:xfrm>
            <a:off x="2000250" y="1638300"/>
            <a:ext cx="800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 M/M = 20 MD 기준. 기존 PoC 구조를 유지하고, 운영 적용 대상 Gateway는 1개로 제한합니다.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B8D97F-B01A-4963-89C0-B4C82DE88E67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20002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2F3B3F-0C75-4099-AE6A-E12DF2ABDBC4}"/>
              </a:ext>
            </a:extLst>
          </p:cNvPr>
          <p:cNvSpPr>
            <a:spLocks noGrp="1"/>
          </p:cNvSpPr>
          <p:nvPr/>
        </p:nvSpPr>
        <p:spPr>
          <a:xfrm>
            <a:off x="647700" y="23907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역할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6A0C52-F9D4-49BF-839D-243ECC07116D}"/>
              </a:ext>
            </a:extLst>
          </p:cNvPr>
          <p:cNvSpPr>
            <a:spLocks noGrp="1"/>
          </p:cNvSpPr>
          <p:nvPr/>
        </p:nvSpPr>
        <p:spPr>
          <a:xfrm>
            <a:off x="2552700" y="2305050"/>
            <a:ext cx="33337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0F605B-C8DB-4763-B827-871A50A35A9E}"/>
              </a:ext>
            </a:extLst>
          </p:cNvPr>
          <p:cNvSpPr>
            <a:spLocks noGrp="1"/>
          </p:cNvSpPr>
          <p:nvPr/>
        </p:nvSpPr>
        <p:spPr>
          <a:xfrm>
            <a:off x="2647950" y="2390775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주요 업무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A4BA36-B37C-4950-B774-3E59C6BA88BB}"/>
              </a:ext>
            </a:extLst>
          </p:cNvPr>
          <p:cNvSpPr>
            <a:spLocks noGrp="1"/>
          </p:cNvSpPr>
          <p:nvPr/>
        </p:nvSpPr>
        <p:spPr>
          <a:xfrm>
            <a:off x="5886450" y="2305050"/>
            <a:ext cx="16192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AC9338-39F5-4E70-AE14-278986B0A5DD}"/>
              </a:ext>
            </a:extLst>
          </p:cNvPr>
          <p:cNvSpPr>
            <a:spLocks noGrp="1"/>
          </p:cNvSpPr>
          <p:nvPr/>
        </p:nvSpPr>
        <p:spPr>
          <a:xfrm>
            <a:off x="5981700" y="23907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MD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69CD79-23EE-4F16-841A-F2C62216C61E}"/>
              </a:ext>
            </a:extLst>
          </p:cNvPr>
          <p:cNvSpPr>
            <a:spLocks noGrp="1"/>
          </p:cNvSpPr>
          <p:nvPr/>
        </p:nvSpPr>
        <p:spPr>
          <a:xfrm>
            <a:off x="7505700" y="2305050"/>
            <a:ext cx="16192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D68ADB-7EE5-41D5-B430-E59D262F7584}"/>
              </a:ext>
            </a:extLst>
          </p:cNvPr>
          <p:cNvSpPr>
            <a:spLocks noGrp="1"/>
          </p:cNvSpPr>
          <p:nvPr/>
        </p:nvSpPr>
        <p:spPr>
          <a:xfrm>
            <a:off x="7600950" y="23907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M/M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176FCB-C68B-4587-BDCA-B6FA292A7EF7}"/>
              </a:ext>
            </a:extLst>
          </p:cNvPr>
          <p:cNvSpPr>
            <a:spLocks noGrp="1"/>
          </p:cNvSpPr>
          <p:nvPr/>
        </p:nvSpPr>
        <p:spPr>
          <a:xfrm>
            <a:off x="9124950" y="2305050"/>
            <a:ext cx="1619250" cy="55245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ECA5FC-B1CB-422F-912C-4E69EDBB9923}"/>
              </a:ext>
            </a:extLst>
          </p:cNvPr>
          <p:cNvSpPr>
            <a:spLocks noGrp="1"/>
          </p:cNvSpPr>
          <p:nvPr/>
        </p:nvSpPr>
        <p:spPr>
          <a:xfrm>
            <a:off x="9220200" y="23907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비고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746B3D-6A23-44AC-83E1-C5DF8E5480AE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2000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62DFEE-0EB8-4DD0-BB24-A2753AE3A408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파트 리더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CB9AD35-1469-45A5-9E77-8897C6DAC711}"/>
              </a:ext>
            </a:extLst>
          </p:cNvPr>
          <p:cNvSpPr>
            <a:spLocks noGrp="1"/>
          </p:cNvSpPr>
          <p:nvPr/>
        </p:nvSpPr>
        <p:spPr>
          <a:xfrm>
            <a:off x="2552700" y="2857500"/>
            <a:ext cx="33337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969653-5EA4-424D-A624-EEC3945B431F}"/>
              </a:ext>
            </a:extLst>
          </p:cNvPr>
          <p:cNvSpPr>
            <a:spLocks noGrp="1"/>
          </p:cNvSpPr>
          <p:nvPr/>
        </p:nvSpPr>
        <p:spPr>
          <a:xfrm>
            <a:off x="2647950" y="2943225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선정 기준 확정, 아키텍처 결정, 보안/운영 정책 리뷰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0CBBDE-1E65-496D-80FC-FF5FD3898037}"/>
              </a:ext>
            </a:extLst>
          </p:cNvPr>
          <p:cNvSpPr>
            <a:spLocks noGrp="1"/>
          </p:cNvSpPr>
          <p:nvPr/>
        </p:nvSpPr>
        <p:spPr>
          <a:xfrm>
            <a:off x="5886450" y="2857500"/>
            <a:ext cx="1619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9863418-8B6B-4166-BA53-65E556588000}"/>
              </a:ext>
            </a:extLst>
          </p:cNvPr>
          <p:cNvSpPr>
            <a:spLocks noGrp="1"/>
          </p:cNvSpPr>
          <p:nvPr/>
        </p:nvSpPr>
        <p:spPr>
          <a:xfrm>
            <a:off x="5981700" y="29432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6-10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C90E87E-B327-460E-B25D-05CEBA4EBDB3}"/>
              </a:ext>
            </a:extLst>
          </p:cNvPr>
          <p:cNvSpPr>
            <a:spLocks noGrp="1"/>
          </p:cNvSpPr>
          <p:nvPr/>
        </p:nvSpPr>
        <p:spPr>
          <a:xfrm>
            <a:off x="7505700" y="2857500"/>
            <a:ext cx="1619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8B9DCD-089C-4959-961E-87C6A53D8117}"/>
              </a:ext>
            </a:extLst>
          </p:cNvPr>
          <p:cNvSpPr>
            <a:spLocks noGrp="1"/>
          </p:cNvSpPr>
          <p:nvPr/>
        </p:nvSpPr>
        <p:spPr>
          <a:xfrm>
            <a:off x="7600950" y="29432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0.3-0.5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FADACB-C9AC-4735-9F26-9D0F8FC7CA90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1619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B91F8E-ED48-4B97-BBB6-53AFA88D23CE}"/>
              </a:ext>
            </a:extLst>
          </p:cNvPr>
          <p:cNvSpPr>
            <a:spLocks noGrp="1"/>
          </p:cNvSpPr>
          <p:nvPr/>
        </p:nvSpPr>
        <p:spPr>
          <a:xfrm>
            <a:off x="9220200" y="29432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의사결정/리뷰 중심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987967-D447-4527-9D49-9085403B28A0}"/>
              </a:ext>
            </a:extLst>
          </p:cNvPr>
          <p:cNvSpPr>
            <a:spLocks noGrp="1"/>
          </p:cNvSpPr>
          <p:nvPr/>
        </p:nvSpPr>
        <p:spPr>
          <a:xfrm>
            <a:off x="552450" y="340995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0F02D1-5496-456B-93DB-9C4779B27C0E}"/>
              </a:ext>
            </a:extLst>
          </p:cNvPr>
          <p:cNvSpPr>
            <a:spLocks noGrp="1"/>
          </p:cNvSpPr>
          <p:nvPr/>
        </p:nvSpPr>
        <p:spPr>
          <a:xfrm>
            <a:off x="647700" y="34956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개발자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31EB905-2167-4AA7-843C-0732C9CDD005}"/>
              </a:ext>
            </a:extLst>
          </p:cNvPr>
          <p:cNvSpPr>
            <a:spLocks noGrp="1"/>
          </p:cNvSpPr>
          <p:nvPr/>
        </p:nvSpPr>
        <p:spPr>
          <a:xfrm>
            <a:off x="2552700" y="3409950"/>
            <a:ext cx="3333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61CE6E1-0F37-4143-8029-A4939C491F3E}"/>
              </a:ext>
            </a:extLst>
          </p:cNvPr>
          <p:cNvSpPr>
            <a:spLocks noGrp="1"/>
          </p:cNvSpPr>
          <p:nvPr/>
        </p:nvSpPr>
        <p:spPr>
          <a:xfrm>
            <a:off x="2647950" y="3495675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선택 Gateway 연동 고도화, 설정 정리, 테스트 자동화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A2CD2A-6162-41CC-8774-D5F31C3E3D5A}"/>
              </a:ext>
            </a:extLst>
          </p:cNvPr>
          <p:cNvSpPr>
            <a:spLocks noGrp="1"/>
          </p:cNvSpPr>
          <p:nvPr/>
        </p:nvSpPr>
        <p:spPr>
          <a:xfrm>
            <a:off x="5886450" y="340995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F59618-FC3E-44B7-A73C-B1C0D710274E}"/>
              </a:ext>
            </a:extLst>
          </p:cNvPr>
          <p:cNvSpPr>
            <a:spLocks noGrp="1"/>
          </p:cNvSpPr>
          <p:nvPr/>
        </p:nvSpPr>
        <p:spPr>
          <a:xfrm>
            <a:off x="5981700" y="34956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15-23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EECB7C-D171-49B2-9634-ADD7EBB90581}"/>
              </a:ext>
            </a:extLst>
          </p:cNvPr>
          <p:cNvSpPr>
            <a:spLocks noGrp="1"/>
          </p:cNvSpPr>
          <p:nvPr/>
        </p:nvSpPr>
        <p:spPr>
          <a:xfrm>
            <a:off x="7505700" y="340995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19D40F-4AFE-4739-86C6-5517869CA479}"/>
              </a:ext>
            </a:extLst>
          </p:cNvPr>
          <p:cNvSpPr>
            <a:spLocks noGrp="1"/>
          </p:cNvSpPr>
          <p:nvPr/>
        </p:nvSpPr>
        <p:spPr>
          <a:xfrm>
            <a:off x="7600950" y="34956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0.75-1.15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89C0F65-ADB1-4C0D-8A75-423C18E447FB}"/>
              </a:ext>
            </a:extLst>
          </p:cNvPr>
          <p:cNvSpPr>
            <a:spLocks noGrp="1"/>
          </p:cNvSpPr>
          <p:nvPr/>
        </p:nvSpPr>
        <p:spPr>
          <a:xfrm>
            <a:off x="9124950" y="340995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1D4B23F-55CB-4B10-89DA-972609A0BB49}"/>
              </a:ext>
            </a:extLst>
          </p:cNvPr>
          <p:cNvSpPr>
            <a:spLocks noGrp="1"/>
          </p:cNvSpPr>
          <p:nvPr/>
        </p:nvSpPr>
        <p:spPr>
          <a:xfrm>
            <a:off x="9220200" y="34956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구현/검증 중심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2BA1042-18A8-4E8E-A526-2B92243E1B48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2000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99E17FA-5C42-4AEA-9F5E-5AC04ABD4654}"/>
              </a:ext>
            </a:extLst>
          </p:cNvPr>
          <p:cNvSpPr>
            <a:spLocks noGrp="1"/>
          </p:cNvSpPr>
          <p:nvPr/>
        </p:nvSpPr>
        <p:spPr>
          <a:xfrm>
            <a:off x="647700" y="404812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합계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D6E3815-BDAE-41E3-804C-85B1B79015D9}"/>
              </a:ext>
            </a:extLst>
          </p:cNvPr>
          <p:cNvSpPr>
            <a:spLocks noGrp="1"/>
          </p:cNvSpPr>
          <p:nvPr/>
        </p:nvSpPr>
        <p:spPr>
          <a:xfrm>
            <a:off x="2552700" y="3962400"/>
            <a:ext cx="33337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0F6EF9C-F93B-4D0E-BD31-365216DB4CBB}"/>
              </a:ext>
            </a:extLst>
          </p:cNvPr>
          <p:cNvSpPr>
            <a:spLocks noGrp="1"/>
          </p:cNvSpPr>
          <p:nvPr/>
        </p:nvSpPr>
        <p:spPr>
          <a:xfrm>
            <a:off x="2647950" y="4048125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1개 Gateway 운영 전환 기준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0405100-84D5-4D1F-BD77-54AF917A2F67}"/>
              </a:ext>
            </a:extLst>
          </p:cNvPr>
          <p:cNvSpPr>
            <a:spLocks noGrp="1"/>
          </p:cNvSpPr>
          <p:nvPr/>
        </p:nvSpPr>
        <p:spPr>
          <a:xfrm>
            <a:off x="5886450" y="3962400"/>
            <a:ext cx="1619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66BBF0-A330-4BC9-87FC-889258510AE8}"/>
              </a:ext>
            </a:extLst>
          </p:cNvPr>
          <p:cNvSpPr>
            <a:spLocks noGrp="1"/>
          </p:cNvSpPr>
          <p:nvPr/>
        </p:nvSpPr>
        <p:spPr>
          <a:xfrm>
            <a:off x="5981700" y="40481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21-33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7D1FAD2-B752-4B12-B616-7C57E5A96B25}"/>
              </a:ext>
            </a:extLst>
          </p:cNvPr>
          <p:cNvSpPr>
            <a:spLocks noGrp="1"/>
          </p:cNvSpPr>
          <p:nvPr/>
        </p:nvSpPr>
        <p:spPr>
          <a:xfrm>
            <a:off x="7505700" y="3962400"/>
            <a:ext cx="1619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33DCE79-7D2C-481F-9575-D5C3BECDBCE5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1.05-1.65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C43D7FD-E8ED-46FB-9974-79C0956D0888}"/>
              </a:ext>
            </a:extLst>
          </p:cNvPr>
          <p:cNvSpPr>
            <a:spLocks noGrp="1"/>
          </p:cNvSpPr>
          <p:nvPr/>
        </p:nvSpPr>
        <p:spPr>
          <a:xfrm>
            <a:off x="9124950" y="3962400"/>
            <a:ext cx="1619250" cy="552450"/>
          </a:xfrm>
          <a:prstGeom prst="rect">
            <a:avLst/>
          </a:prstGeom>
          <a:solidFill>
            <a:srgbClr val="FAFB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6DAD255-B44B-44D0-B066-A1C5F6859F47}"/>
              </a:ext>
            </a:extLst>
          </p:cNvPr>
          <p:cNvSpPr>
            <a:spLocks noGrp="1"/>
          </p:cNvSpPr>
          <p:nvPr/>
        </p:nvSpPr>
        <p:spPr>
          <a:xfrm>
            <a:off x="9220200" y="40481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약 3-4주 일정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3808AE9-6FB0-4886-B671-9DFA239CAFE6}"/>
              </a:ext>
            </a:extLst>
          </p:cNvPr>
          <p:cNvSpPr>
            <a:spLocks noGrp="1"/>
          </p:cNvSpPr>
          <p:nvPr/>
        </p:nvSpPr>
        <p:spPr>
          <a:xfrm>
            <a:off x="552450" y="451485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A4F53C6-993B-4C2D-B81F-24EA0E22C1B1}"/>
              </a:ext>
            </a:extLst>
          </p:cNvPr>
          <p:cNvSpPr>
            <a:spLocks noGrp="1"/>
          </p:cNvSpPr>
          <p:nvPr/>
        </p:nvSpPr>
        <p:spPr>
          <a:xfrm>
            <a:off x="647700" y="46005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외부 SaaS 추가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9710294-E473-4347-B84C-D56A44D726B0}"/>
              </a:ext>
            </a:extLst>
          </p:cNvPr>
          <p:cNvSpPr>
            <a:spLocks noGrp="1"/>
          </p:cNvSpPr>
          <p:nvPr/>
        </p:nvSpPr>
        <p:spPr>
          <a:xfrm>
            <a:off x="2552700" y="4514850"/>
            <a:ext cx="3333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CC49434-194E-49A4-B550-8EA6F0475C75}"/>
              </a:ext>
            </a:extLst>
          </p:cNvPr>
          <p:cNvSpPr>
            <a:spLocks noGrp="1"/>
          </p:cNvSpPr>
          <p:nvPr/>
        </p:nvSpPr>
        <p:spPr>
          <a:xfrm>
            <a:off x="2647950" y="4600575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Cloudflare / Portkey / OpenRouter 등 실제 연결 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C7CA221-C109-41F8-9113-57D6657358D3}"/>
              </a:ext>
            </a:extLst>
          </p:cNvPr>
          <p:cNvSpPr>
            <a:spLocks noGrp="1"/>
          </p:cNvSpPr>
          <p:nvPr/>
        </p:nvSpPr>
        <p:spPr>
          <a:xfrm>
            <a:off x="5886450" y="451485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AFFBA10-DB64-4A37-A49A-634939D53B50}"/>
              </a:ext>
            </a:extLst>
          </p:cNvPr>
          <p:cNvSpPr>
            <a:spLocks noGrp="1"/>
          </p:cNvSpPr>
          <p:nvPr/>
        </p:nvSpPr>
        <p:spPr>
          <a:xfrm>
            <a:off x="5981700" y="46005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+3-7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FEA15C1-C376-4FDD-B31C-6C07656BF5C9}"/>
              </a:ext>
            </a:extLst>
          </p:cNvPr>
          <p:cNvSpPr>
            <a:spLocks noGrp="1"/>
          </p:cNvSpPr>
          <p:nvPr/>
        </p:nvSpPr>
        <p:spPr>
          <a:xfrm>
            <a:off x="7505700" y="451485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386872A-F337-4B91-9258-D772B2677DED}"/>
              </a:ext>
            </a:extLst>
          </p:cNvPr>
          <p:cNvSpPr>
            <a:spLocks noGrp="1"/>
          </p:cNvSpPr>
          <p:nvPr/>
        </p:nvSpPr>
        <p:spPr>
          <a:xfrm>
            <a:off x="7600950" y="46005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+0.15-0.35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925F8D3-BF74-4A1F-AC30-0897A755AF4E}"/>
              </a:ext>
            </a:extLst>
          </p:cNvPr>
          <p:cNvSpPr>
            <a:spLocks noGrp="1"/>
          </p:cNvSpPr>
          <p:nvPr/>
        </p:nvSpPr>
        <p:spPr>
          <a:xfrm>
            <a:off x="9124950" y="451485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B069711-D183-4F0A-A21E-EC020C995EF1}"/>
              </a:ext>
            </a:extLst>
          </p:cNvPr>
          <p:cNvSpPr>
            <a:spLocks noGrp="1"/>
          </p:cNvSpPr>
          <p:nvPr/>
        </p:nvSpPr>
        <p:spPr>
          <a:xfrm>
            <a:off x="9220200" y="460057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계정/비용/데이터 검토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5AC98E0-0908-4D5E-B62D-00FF9CAFAC79}"/>
              </a:ext>
            </a:extLst>
          </p:cNvPr>
          <p:cNvSpPr>
            <a:spLocks noGrp="1"/>
          </p:cNvSpPr>
          <p:nvPr/>
        </p:nvSpPr>
        <p:spPr>
          <a:xfrm>
            <a:off x="552450" y="5372100"/>
            <a:ext cx="10287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A0C236E-D50B-47CB-BF57-9A6CEFB6B535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운영 투입 해석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C9CBAF9-6007-411C-9956-4BFEA887E958}"/>
              </a:ext>
            </a:extLst>
          </p:cNvPr>
          <p:cNvSpPr>
            <a:spLocks noGrp="1"/>
          </p:cNvSpPr>
          <p:nvPr/>
        </p:nvSpPr>
        <p:spPr>
          <a:xfrm>
            <a:off x="2343150" y="552450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내부 OSS Gateway 1개 선정 시 총 1.05-1.65 M/M 수준입니다. 외부 SaaS형 Gateway를 선택하면 보안/비용/데이터 반출 검토로 최대 0.35 M/M 정도가 추가됩니다.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41A8E02-D62A-42FF-982C-BB65E9248AE5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D471C3C-16FE-4CD0-AFB2-6FDEE3C98BA3}"/>
              </a:ext>
            </a:extLst>
          </p:cNvPr>
          <p:cNvSpPr>
            <a:spLocks noGrp="1"/>
          </p:cNvSpPr>
          <p:nvPr/>
        </p:nvSpPr>
        <p:spPr>
          <a:xfrm>
            <a:off x="9829800" y="6343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M/M estimate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E23C3FA-944E-6EC9-AC7E-D4971B00DD9F}"/>
              </a:ext>
            </a:extLst>
          </p:cNvPr>
          <p:cNvSpPr/>
          <p:nvPr/>
        </p:nvSpPr>
        <p:spPr>
          <a:xfrm>
            <a:off x="5886450" y="2543175"/>
            <a:ext cx="590550" cy="2381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2861122-4AF6-400E-BF7A-36790A6808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B68E43-0652-4880-AFA5-B07751466EDC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EC1EEA-615E-4428-B3B6-5D2FC2611F5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F"/>
                </a:solidFill>
                <a:latin typeface="Aptos Display"/>
                <a:ea typeface="Aptos Display"/>
                <a:cs typeface="Aptos Display"/>
              </a:rPr>
              <a:t>의사결정 가이드와 다음 단계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FEF5BA-C15F-48E6-84EB-DB9AAE1417A8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457429-3DD3-4CDB-8D41-68FC93221C98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990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73059E-66E4-41E5-BC94-23991AB91D14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D"/>
                </a:solidFill>
                <a:latin typeface="Aptos"/>
                <a:ea typeface="Aptos"/>
                <a:cs typeface="Aptos"/>
              </a:rPr>
              <a:t>API 정책 중심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FEFB7B-21CA-4B31-B043-97694188A1EE}"/>
              </a:ext>
            </a:extLst>
          </p:cNvPr>
          <p:cNvSpPr>
            <a:spLocks noGrp="1"/>
          </p:cNvSpPr>
          <p:nvPr/>
        </p:nvSpPr>
        <p:spPr>
          <a:xfrm>
            <a:off x="2724150" y="1600200"/>
            <a:ext cx="1238250" cy="285750"/>
          </a:xfrm>
          <a:prstGeom prst="rect">
            <a:avLst/>
          </a:prstGeom>
          <a:solidFill>
            <a:srgbClr val="F3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69CBFA-6B4D-4EB5-9BFF-FDF68D9004F7}"/>
              </a:ext>
            </a:extLst>
          </p:cNvPr>
          <p:cNvSpPr>
            <a:spLocks noGrp="1"/>
          </p:cNvSpPr>
          <p:nvPr/>
        </p:nvSpPr>
        <p:spPr>
          <a:xfrm>
            <a:off x="2819400" y="16573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552A9A-C7F8-41DF-A53A-97DC8DC23A23}"/>
              </a:ext>
            </a:extLst>
          </p:cNvPr>
          <p:cNvSpPr>
            <a:spLocks noGrp="1"/>
          </p:cNvSpPr>
          <p:nvPr/>
        </p:nvSpPr>
        <p:spPr>
          <a:xfrm>
            <a:off x="4286250" y="1657350"/>
            <a:ext cx="571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route/plugin, 인증, rate-limit 정책을 빠르게 실험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9D97DD-5B00-41CE-B36C-544B69691445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990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D58167-B152-4400-A3FD-57BB480F75D4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D"/>
                </a:solidFill>
                <a:latin typeface="Aptos"/>
                <a:ea typeface="Aptos"/>
                <a:cs typeface="Aptos"/>
              </a:rPr>
              <a:t>인프라 프록시 중심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8AD5B0-7E6F-4180-A684-A24FE2B00FDA}"/>
              </a:ext>
            </a:extLst>
          </p:cNvPr>
          <p:cNvSpPr>
            <a:spLocks noGrp="1"/>
          </p:cNvSpPr>
          <p:nvPr/>
        </p:nvSpPr>
        <p:spPr>
          <a:xfrm>
            <a:off x="2724150" y="2667000"/>
            <a:ext cx="1238250" cy="285750"/>
          </a:xfrm>
          <a:prstGeom prst="rect">
            <a:avLst/>
          </a:prstGeom>
          <a:solidFill>
            <a:srgbClr val="F3F6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EE9A5E-70B0-4F42-AF8B-64E2FF234D79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629A49-6EA9-4190-8971-DB8C2DA2A560}"/>
              </a:ext>
            </a:extLst>
          </p:cNvPr>
          <p:cNvSpPr>
            <a:spLocks noGrp="1"/>
          </p:cNvSpPr>
          <p:nvPr/>
        </p:nvSpPr>
        <p:spPr>
          <a:xfrm>
            <a:off x="4286250" y="2724150"/>
            <a:ext cx="571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mesh/xDS/필터 기반의 L7 proxy 운영 가정 검증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13ECAF-2828-4092-B8C2-CCA0C66F8B7E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9906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68B239-608F-40EB-8B72-CE155B38AD6F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D"/>
                </a:solidFill>
                <a:latin typeface="Aptos"/>
                <a:ea typeface="Aptos"/>
                <a:cs typeface="Aptos"/>
              </a:rPr>
              <a:t>LLM 운영 중심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F74534-0854-4884-9913-480B117D98FE}"/>
              </a:ext>
            </a:extLst>
          </p:cNvPr>
          <p:cNvSpPr>
            <a:spLocks noGrp="1"/>
          </p:cNvSpPr>
          <p:nvPr/>
        </p:nvSpPr>
        <p:spPr>
          <a:xfrm>
            <a:off x="2724150" y="3733800"/>
            <a:ext cx="1238250" cy="285750"/>
          </a:xfrm>
          <a:prstGeom prst="rect">
            <a:avLst/>
          </a:prstGeom>
          <a:solidFill>
            <a:srgbClr val="F3F6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A0064D-924F-4613-902F-A172814918D7}"/>
              </a:ext>
            </a:extLst>
          </p:cNvPr>
          <p:cNvSpPr>
            <a:spLocks noGrp="1"/>
          </p:cNvSpPr>
          <p:nvPr/>
        </p:nvSpPr>
        <p:spPr>
          <a:xfrm>
            <a:off x="2819400" y="37909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8CDD81-4C9D-4AE3-B3C5-14578F5DC943}"/>
              </a:ext>
            </a:extLst>
          </p:cNvPr>
          <p:cNvSpPr>
            <a:spLocks noGrp="1"/>
          </p:cNvSpPr>
          <p:nvPr/>
        </p:nvSpPr>
        <p:spPr>
          <a:xfrm>
            <a:off x="4286250" y="3790950"/>
            <a:ext cx="571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provider routing, 모델 교체, 비용/쿼터 관리 검증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D1224A-EFCC-4552-A449-A8458C7CFA74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990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3509D2-92F0-4E17-A83D-DD167ECAB8B5}"/>
              </a:ext>
            </a:extLst>
          </p:cNvPr>
          <p:cNvSpPr>
            <a:spLocks noGrp="1"/>
          </p:cNvSpPr>
          <p:nvPr/>
        </p:nvSpPr>
        <p:spPr>
          <a:xfrm>
            <a:off x="952500" y="52006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다음 단계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50BA8C-90A9-4416-8E4F-481E3CCDDDE6}"/>
              </a:ext>
            </a:extLst>
          </p:cNvPr>
          <p:cNvSpPr>
            <a:spLocks noGrp="1"/>
          </p:cNvSpPr>
          <p:nvPr/>
        </p:nvSpPr>
        <p:spPr>
          <a:xfrm>
            <a:off x="2628900" y="5048250"/>
            <a:ext cx="7239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 batch compare 결과 저장 및 회귀 테스트화</a:t>
            </a:r>
          </a:p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2. auth/rate-limit/privacy 실패 케이스 자동화</a:t>
            </a:r>
          </a:p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3. Portkey/Cloudflare/OpenRouter는 계정/비용/데이터 정책 확인 후 후보에서 연결됨으로 승격</a:t>
            </a:r>
          </a:p>
        </p:txBody>
      </p:sp>
    </p:spTree>
    <p:extLst>
      <p:ext uri="{BB962C8B-B14F-4D97-AF65-F5344CB8AC3E}">
        <p14:creationId xmlns:p14="http://schemas.microsoft.com/office/powerpoint/2010/main" val="6850881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Office PowerPoint</Application>
  <DocSecurity>0</DocSecurity>
  <PresentationFormat>와이드스크린</PresentationFormat>
  <Paragraphs>283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Aptos</vt:lpstr>
      <vt:lpstr>Aptos Display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yhjeong</cp:lastModifiedBy>
  <cp:revision>1</cp:revision>
  <dcterms:created xsi:type="dcterms:W3CDTF">2026-06-08T05:30:13Z</dcterms:created>
  <dcterms:modified xsi:type="dcterms:W3CDTF">2026-06-09T02:29:25Z</dcterms:modified>
</cp:coreProperties>
</file>