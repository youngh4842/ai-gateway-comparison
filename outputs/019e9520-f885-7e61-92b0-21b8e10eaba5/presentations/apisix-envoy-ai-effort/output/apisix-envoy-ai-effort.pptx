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6edbbdc4954719" /><Relationship Type="http://schemas.openxmlformats.org/officeDocument/2006/relationships/extended-properties" Target="/docProps/app.xml" Id="R63c62556b0144ed9" /><Relationship Type="http://schemas.openxmlformats.org/officeDocument/2006/relationships/officeDocument" Target="/ppt/presentation.xml" Id="Rc3246a2e745940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51343b22c24fc2"/>
  </p:sldMasterIdLst>
  <p:notesMasterIdLst>
    <p:notesMasterId xmlns:r="http://schemas.openxmlformats.org/officeDocument/2006/relationships" r:id="Rc8aabcf2abc44666"/>
  </p:notesMasterIdLst>
  <p:sldIdLst>
    <p:sldId xmlns:r="http://schemas.openxmlformats.org/officeDocument/2006/relationships" id="256" r:id="Rae6b41a6827a4f0c"/>
    <p:sldId xmlns:r="http://schemas.openxmlformats.org/officeDocument/2006/relationships" id="257" r:id="R9e0a17ab47d84b9f"/>
    <p:sldId xmlns:r="http://schemas.openxmlformats.org/officeDocument/2006/relationships" id="258" r:id="R848b179e99804b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ebd05da2c642e7" /><Relationship Type="http://schemas.openxmlformats.org/officeDocument/2006/relationships/slideMaster" Target="/ppt/slideMasters/slideMaster1.xml" Id="R0b51343b22c24fc2" /><Relationship Type="http://schemas.openxmlformats.org/officeDocument/2006/relationships/notesMaster" Target="/ppt/notesMasters/notesMaster1.xml" Id="Rc8aabcf2abc44666" /><Relationship Type="http://schemas.openxmlformats.org/officeDocument/2006/relationships/presProps" Target="/ppt/presProps.xml" Id="R976684463fd1461a" /><Relationship Type="http://schemas.openxmlformats.org/officeDocument/2006/relationships/viewProps" Target="/ppt/viewProps.xml" Id="R082b66fff0974a81" /><Relationship Type="http://schemas.openxmlformats.org/officeDocument/2006/relationships/tableStyles" Target="/ppt/tableStyles.xml" Id="R7f458d1a6fa3467c" /><Relationship Type="http://schemas.openxmlformats.org/officeDocument/2006/relationships/slide" Target="/ppt/slides/slide1.xml" Id="Rae6b41a6827a4f0c" /><Relationship Type="http://schemas.openxmlformats.org/officeDocument/2006/relationships/slide" Target="/ppt/slides/slide2.xml" Id="R9e0a17ab47d84b9f" /><Relationship Type="http://schemas.openxmlformats.org/officeDocument/2006/relationships/slide" Target="/ppt/slides/slide3.xml" Id="R848b179e99804b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9ed4be842b4e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10017b312f40af" /><Relationship Type="http://schemas.openxmlformats.org/officeDocument/2006/relationships/notesMaster" Target="/ppt/notesMasters/notesMaster1.xml" Id="Rbab9d1ace2e644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ee36608d8e4763" /><Relationship Type="http://schemas.openxmlformats.org/officeDocument/2006/relationships/notesMaster" Target="/ppt/notesMasters/notesMaster1.xml" Id="Rca59b6ae1f644e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69d926048c41ce" /><Relationship Type="http://schemas.openxmlformats.org/officeDocument/2006/relationships/notesMaster" Target="/ppt/notesMasters/notesMaster1.xml" Id="R397e8587001644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b9738c47046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966dc642db40a4" /><Relationship Type="http://schemas.openxmlformats.org/officeDocument/2006/relationships/slideLayout" Target="/ppt/slideLayouts/slideLayout1.xml" Id="R8cb70c417b9349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b70c417b9349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ef0f7de37413b" /><Relationship Type="http://schemas.openxmlformats.org/officeDocument/2006/relationships/notesSlide" Target="/ppt/notesSlides/notesSlide1.xml" Id="R9295a864443b4e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27b11472148d4" /><Relationship Type="http://schemas.openxmlformats.org/officeDocument/2006/relationships/notesSlide" Target="/ppt/notesSlides/notesSlide2.xml" Id="R98bf959c39b049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e7540a22c4cd0" /><Relationship Type="http://schemas.openxmlformats.org/officeDocument/2006/relationships/notesSlide" Target="/ppt/notesSlides/notesSlide3.xml" Id="R655a5563f3db48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308E6A-913A-4ABA-B239-60C88613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F9041-8D05-4A62-A13E-B346FB97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APISIX/Envoy 선택 시 AI Gateway 추가 공수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37560-274A-4741-88DE-DCB55978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범용 Gateway를 AI Gateway로 쓰려면 LLM 특화 운영 기능을 별도로 설계/구현해야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213E3-9D72-4233-ABC7-1D5E69EC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AB263-9C88-45C8-B9DD-5C3C1E57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핵심 판단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C3D76-E2FA-49D6-9297-D9C88205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7640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APISIX와 Envoy는 라우팅/프록시/정책 적용에는 강하지만, LLM 호출 로그, token/cost, model policy, provider fallback은 기본 AI Gateway 제품처럼 바로 제공되는 영역이 아닙니다.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4D6CE-CE35-4A51-AEE6-FE1C67AA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2362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8FB77-ACF3-4D62-A13A-A124017D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2362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66A6C-4015-4D12-AF89-675C2B6F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1. 호출 로그 표준화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96A69-F3BB-4A49-9B12-6E0FBDE0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model, provider, user, service, request id, masked prompt/response를 공통 schema로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6D9F1-EE28-4FDB-A463-C876B816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28950"/>
            <a:ext cx="2362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4E86E-EF48-45D0-8A0E-34C47BEA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28950"/>
            <a:ext cx="2362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A8F38-4687-46E6-B69C-3B61C5CD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147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2. 토큰/비용 계산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2CBF8-4DB2-4F0B-970A-D532B3CC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385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모델별 tokenizer, provider별 단가, retry/fallback 비용을 집계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547ED-7589-45FA-91E2-8F0B8869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2362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C1EFA-162B-4DEF-807D-14F69D7E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2362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1AF9D-5B5B-4487-8675-628CA3B9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147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3. 모델 정책 관리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9B008-C76C-4DC1-838D-25C889E1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허용 모델, max token, temperature, budget, fallback 정책 저장/조회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06675-B163-40E8-9D56-BE829567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28950"/>
            <a:ext cx="2362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11E41-4D47-40B3-A182-0CEF8340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28950"/>
            <a:ext cx="2362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D309B-7630-4EA2-9247-8778746F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147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4. 장애 대응 정책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CD127-7966-44CC-A70E-77E4892B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385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timeout, retry/backoff, circuit breaker, provider fallback, 에러 표준화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BC97E0-1670-4EC9-BEA8-E9A43BF9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66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2309E-9A97-42D9-A6C4-79387005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결론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F8125-C6E7-4A54-A9F8-B72869DD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7685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APISIX/Envoy를 최종 Gateway로 선정하면 기존 운영 전환 공수 외에 AI Gateway 기능 구현 공수를 별도로 더해야 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1D8F1-9AA5-4799-8AB3-151226F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44847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2B57D1-E4ED-4372-9A61-57BE6F7B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F8A0F-9C62-4C94-BC63-091B3853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AI Gateway 기능 추가 공수 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696F4-93C0-490F-B547-8C59F12D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1 M/M = 20 MD 기준. APISIX/Envoy 선택 시 추가 구현 또는 별도 컴포넌트 연계가 필요한 항목입니다.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C5CE9-9C0C-4191-B117-84C27AF3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AEE27-783E-4A53-9861-3F3B9260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7F244-390E-4FE7-93D7-3290DA99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668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DBF3A-ED69-4267-9EC1-FA705246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430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필요 작업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A23FF-57FD-4770-B7AF-74C5766B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6685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36AE6-40C9-4D51-8A18-DFE66CD2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430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D9181-4A8A-410B-BFE4-8AD5AA82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6685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232BF-F465-467E-9F27-6E1A2784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430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M/M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D0BE5-2C30-430C-B01D-C96EE122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4668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00B66-CF0A-4A20-976C-B369F84C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543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비고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BFE66-8572-4977-B0C4-023D7F5E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AC7AC-475B-4A41-83BD-45321B0F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AI 호출 로그 표준화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710F9-038B-4D9D-B023-7EB38835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3E7F7-EE5D-4157-9922-DB20F85C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98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요청/응답 schema, model/provider/user/service/request id, masking, 로그 저장 포맷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07316-F413-44F3-811C-18424459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B3B77-4AF2-477B-9D3F-E3F71643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5-8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CB4EA-AE77-49D8-81C1-7EF5E2A3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3360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57F7F-79D4-4AE4-9AFF-2E574281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9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0.25-0.40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05FDE-3BC4-4B56-9556-88D46C4A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336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25BA9-0231-450B-A629-4E839C4B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09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관측성 기반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B84D7D-17DF-42B7-A510-56D01296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0511C-880E-4E74-BFF3-374A09A2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토큰/비용 계산 로직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4D683-8C39-4BCF-BD3F-6E26DF19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003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72F564-2BA8-4164-BB02-C25E6F15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76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모델별 tokenizer, provider 단가 테이블, retry/fallback 비용, 월별 집계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D7AB75-6906-4A0C-8AD3-D81D6928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0035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CDB7BB-0E0F-4CF3-8DF7-10CC190E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765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8-12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977710-2EC2-4FD7-97FF-5C12F8A4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035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69360C-E64D-4C00-8EC5-E08D1C4A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765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0.40-0.60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37D6DC-8D69-4C56-B191-A315EA61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003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9B0DFD-F151-4604-9203-67606E0A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65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비용 통제 핵심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9ED827-0AFD-4260-AF51-C4589C56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6A8727-5A86-489C-90D5-095CCC8E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모델 정책 관리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F57F2E-4F56-4356-8207-92E5FCD6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671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7CF3BD-EB13-414B-891A-04A8D95D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433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서비스별 허용 모델, fallback 모델, max token, temperature, budget 정책 저장/조회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EE0D5E-FC27-4973-9B3E-36F08AB9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AFA42F-2F62-4415-BC23-C9DCEAAF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433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7-12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B91C77-270A-4893-A48F-F6B1B799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C42083-8AA6-4BE2-82F5-994524C6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433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0.35-0.60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E1520F-60E2-454A-B5AB-64F48258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4671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4F3115-F7E0-43B9-91DE-407352AC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43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운영 정책화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152CB9-6EDD-4717-BEA7-8F21420C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338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A48315-5003-404B-9F5E-45B4BD58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00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장애 대응 정책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1A4E85-F356-472A-B4BB-D561C9F1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338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01E04B-CE0A-4415-87EB-A765E49C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100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provider 장애 감지, retry/backoff, timeout, circuit breaker, fallback, 에러 표준화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DD2F54-09E3-49B5-92DB-EC1D6155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3385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99D5E7-163A-4B8F-AC1B-7E5A37DC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100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7-10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21533F-690E-43D3-947C-31BB9CEE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3385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6C3C60-F581-4DAC-AC94-DCB8FB65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100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0.35-0.50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27D03C-6FA7-4EF7-AFDD-CEECDCE7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338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4C480E-4655-477E-8532-C934EB95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10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장애 격리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3A30F4-FF04-44D3-9CB2-A481D2DC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006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0BF5C5-FE9E-41DD-9C46-085C8D03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추가 합계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3B1DEB-232E-4593-99E3-38D0B4E0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006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10954A-59B9-4C07-A937-BD17E947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768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APISIX/Envoy를 AI Gateway처럼 운영하기 위한 추가 범위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6A1919-84CC-4A5F-8736-1C3F486D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6258C4-9B51-4B38-9B26-6DC0AC84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76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27-42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E549BE-B649-4700-B8E4-D579D7D8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0060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28ED80-B932-498E-B901-45C2E24A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76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1.35-2.10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1E0CAD-1A91-4130-A927-786C9081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8006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643B91-E944-4B80-81BD-94F1A6DD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76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기본 전환 공수 외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5702F1-5FD7-4E48-9734-047B61D1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962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7D6F80-9DE0-4F01-B0B7-2E585266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주의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97B22B-9867-4C68-A31D-372A5A16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8674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LiteLLM/Portkey는 위 기능 일부를 제품 기능으로 활용할 수 있으므로 같은 기준의 추가 공수가 크게 줄어듭니다.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A092E4-96FC-4BCE-A922-0085739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99271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135825-505F-44E4-AF9A-104A63D0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A8D72-3792-4043-ABC0-1444DA82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66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Gateway별 총 M/M 보정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0C9A5-05AE-4548-BFF7-DF118B17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기존 운영 전환 공수에 AI Gateway 기능 추가분을 반영하면 선택지별 총 공수가 달라집니다.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CBD64-AEB7-41FD-891B-B7A4905B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867A8-9DD1-4E88-93F9-62D657E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선택 Gateway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FBC3C-1316-421F-8E48-4509DA63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621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D5334-026C-4172-871B-DBAFEBF1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383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기본 운영 전환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495B5-C5AE-44B0-8F76-23BA14D6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621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B9465-AA88-45A3-9135-AC876994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383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AI 기능 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55FCA-7EE9-4C4C-9C4D-359F4F51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62100"/>
            <a:ext cx="190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0000A-6D59-4F05-ACAC-895D41A2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383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총 예상 M/M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A36DF-A588-4648-8284-B6E33CFA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6210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70CDB-5149-4733-844C-EBFD27B8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383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판단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C7A53-34B2-4CE0-95D6-92A0BC21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E0EFE-2C0E-4396-85F0-08ADDD1B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LiteLLM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BE126-429F-4C51-AF6D-A54BC1D9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D6573-FD81-4965-9CD3-D9AA168C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6695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1.05-1.65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82477-4AB4-4487-A095-748C4CBB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2C356-08B5-4EA1-9FEC-BB4D6176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0-0.15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70B6F-479A-494B-A8D6-3E88BB54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190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35133-C078-4C71-9685-EA8BABCD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1.05-1.80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B84ED-0229-4DF4-AC00-CA3AD9A9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C70DFF-4849-4036-B67B-80853D6E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LLM Gateway 기능 활용. 가장 낮은 추가 공수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017189-0350-4B49-BBA6-01963CC4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2EC33-CA0E-45E1-973E-D822505D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APISIX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338EB-1748-4398-836F-AD73B894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95E12B-9423-4FFB-A1CF-45658200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956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1.05-1.65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494154-4E92-40B8-B985-6AFFA136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682EE8-120F-4901-B1F7-6FE625A3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956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1.35-2.10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E3EB0-B896-4689-B26D-15B66B07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19400"/>
            <a:ext cx="190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58EB72-91FE-4E91-82F4-A4EAA23A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2.40-3.75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9491F2-DF47-47DA-AAB5-1BD431E9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83350-D6AD-431D-A8EC-13468C9C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범용 API Gateway 기반. AI 기능 별도 구현 필요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F56863-9749-46D4-9669-37D525EE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3EFA0C-56AB-4C4D-A1AE-913AE5CE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Envoy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F6FA04-1B58-48B5-B04D-D0D23527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480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134190-6C18-4B00-B077-FB1D47B7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1.05-1.65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995ED7-5F32-428B-97DB-9A235E4A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480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D807D9-4E46-4E8C-9189-855487C2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242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1.50-2.30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01815A-72BC-4DA5-8083-1535E39A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48050"/>
            <a:ext cx="190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0D1A7B-34C9-4F7B-95FC-4DEC49C3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242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2.55-3.95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4D9FD3-CED3-492F-803E-05D420E1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805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83997C-256C-4EA0-8AFE-38D31B0A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L7 Proxy 기반. filter/WASM/Lua/xDS 운영 난도 고려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0CCAC7-470B-4B5F-8AC5-D3FE38B7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5B708D-DB41-4DD5-B9E9-1320D2F3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의사결정 메시지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1E0F77-39F7-497A-A776-078B8D4B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4820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APISIX/Envoy를 선택할 수는 있지만, 그 경우 AI Gateway 전용 기능을 별도 구현하는 프로젝트가 추가됩니다. 따라서 최종 선정 시에는 Gateway 자체 성능뿐 아니라 AI 운영 기능 구현 공수까지 포함해 비교해야 합니다.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A59F2F-0D27-4886-AA8F-B306B442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34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권장 비교 기준: 총 M/M + 운영 리스크 + 기능 내재화 수준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568A82-E6BF-4CEE-B9C2-D2C33F4D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80455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2026-06-09T03:38:46.8150000Z</dcterms:created>
  <dcterms:modified xsi:type="dcterms:W3CDTF">2026-06-09T03:38:46.8150000Z</dcterms:modified>
</coreProperties>
</file>