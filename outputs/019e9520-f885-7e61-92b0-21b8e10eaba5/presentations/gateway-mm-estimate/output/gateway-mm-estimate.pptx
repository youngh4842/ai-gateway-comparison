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8e8b0b1101407e" /><Relationship Type="http://schemas.openxmlformats.org/officeDocument/2006/relationships/extended-properties" Target="/docProps/app.xml" Id="Rfd5941f9c15249d9" /><Relationship Type="http://schemas.openxmlformats.org/officeDocument/2006/relationships/officeDocument" Target="/ppt/presentation.xml" Id="R8b856fa2d58340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bf33f71d3649e4"/>
  </p:sldMasterIdLst>
  <p:notesMasterIdLst>
    <p:notesMasterId xmlns:r="http://schemas.openxmlformats.org/officeDocument/2006/relationships" r:id="R0ee28f63a0704138"/>
  </p:notesMasterIdLst>
  <p:sldIdLst>
    <p:sldId xmlns:r="http://schemas.openxmlformats.org/officeDocument/2006/relationships" id="256" r:id="R46f1b5be62bb41df"/>
    <p:sldId xmlns:r="http://schemas.openxmlformats.org/officeDocument/2006/relationships" id="257" r:id="R18f2d84d53f54317"/>
    <p:sldId xmlns:r="http://schemas.openxmlformats.org/officeDocument/2006/relationships" id="258" r:id="R1cf672043b3b4d2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de714cd2e34d62" /><Relationship Type="http://schemas.openxmlformats.org/officeDocument/2006/relationships/slideMaster" Target="/ppt/slideMasters/slideMaster1.xml" Id="Ra2bf33f71d3649e4" /><Relationship Type="http://schemas.openxmlformats.org/officeDocument/2006/relationships/notesMaster" Target="/ppt/notesMasters/notesMaster1.xml" Id="R0ee28f63a0704138" /><Relationship Type="http://schemas.openxmlformats.org/officeDocument/2006/relationships/presProps" Target="/ppt/presProps.xml" Id="R82951f08e2a3467e" /><Relationship Type="http://schemas.openxmlformats.org/officeDocument/2006/relationships/viewProps" Target="/ppt/viewProps.xml" Id="Red93cf4a67a045ba" /><Relationship Type="http://schemas.openxmlformats.org/officeDocument/2006/relationships/tableStyles" Target="/ppt/tableStyles.xml" Id="R324944c822414f5e" /><Relationship Type="http://schemas.openxmlformats.org/officeDocument/2006/relationships/slide" Target="/ppt/slides/slide1.xml" Id="R46f1b5be62bb41df" /><Relationship Type="http://schemas.openxmlformats.org/officeDocument/2006/relationships/slide" Target="/ppt/slides/slide2.xml" Id="R18f2d84d53f54317" /><Relationship Type="http://schemas.openxmlformats.org/officeDocument/2006/relationships/slide" Target="/ppt/slides/slide3.xml" Id="R1cf672043b3b4d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64ceba62b048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0451eb49f6480e" /><Relationship Type="http://schemas.openxmlformats.org/officeDocument/2006/relationships/notesMaster" Target="/ppt/notesMasters/notesMaster1.xml" Id="R4714226a65fa48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50ca5dfb25455a" /><Relationship Type="http://schemas.openxmlformats.org/officeDocument/2006/relationships/notesMaster" Target="/ppt/notesMasters/notesMaster1.xml" Id="Ref3efa96f81f46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835600aca34639" /><Relationship Type="http://schemas.openxmlformats.org/officeDocument/2006/relationships/notesMaster" Target="/ppt/notesMasters/notesMaster1.xml" Id="R6e4171bfbd2942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695ced967f46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84a542a4c44708" /><Relationship Type="http://schemas.openxmlformats.org/officeDocument/2006/relationships/slideLayout" Target="/ppt/slideLayouts/slideLayout1.xml" Id="Rbac422644add4a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c422644add4a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d7c34326184bf6" /><Relationship Type="http://schemas.openxmlformats.org/officeDocument/2006/relationships/notesSlide" Target="/ppt/notesSlides/notesSlide1.xml" Id="Rd89e080bd51641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fd39088664f86" /><Relationship Type="http://schemas.openxmlformats.org/officeDocument/2006/relationships/notesSlide" Target="/ppt/notesSlides/notesSlide2.xml" Id="R5eaa2f8c58c94c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3cd1522114c77" /><Relationship Type="http://schemas.openxmlformats.org/officeDocument/2006/relationships/notesSlide" Target="/ppt/notesSlides/notesSlide3.xml" Id="R46e8f73dabe749a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D4434B-B5D5-47B9-B6BF-BB5A418B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AFB4C4-1507-4CB1-8D56-DED64F42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3F3B7-572E-4D13-909A-DF2B9060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5FAFD-9379-4AB4-9605-0130B81D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85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Gateway 운영 전환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B500B2-2FDF-43D5-A960-F54919C7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90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예상 공수 산정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9B479C-7F16-4A54-84EA-B23C24FF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PoC 비교 후 1개 Gateway를 선정해 운영 반영하는 기준의 M/M 산정 자료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8DCAE-2566-4B5B-B190-FAB4687A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24200"/>
            <a:ext cx="7810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BD608F-340F-4C72-B71B-FC92EC0C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산정 범위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4166AA-066E-4A14-8684-D70D2385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90950"/>
            <a:ext cx="609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APISIX / Envoy / LiteLLM 중 1개 Gateway 선정</a:t>
            </a:r>
          </a:p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파트 리더와 개발자 역할 기준</a:t>
            </a:r>
          </a:p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1 M/M = 20 MD 기준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D6105D-37DE-4EB1-86CD-1D214C6A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352550"/>
            <a:ext cx="2190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DC78CF-CD4C-4EEC-A36D-DBFFDD4A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6764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핵심 수치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E79B36-4EC3-46C0-A143-E80C3EBA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907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1.05-1.65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DF3584-D920-48D6-BB54-A7072721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860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M/M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D2B2A7-4917-4D8D-9A4F-26D9A3BF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623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내부 OSS Gateway</a:t>
            </a:r>
          </a:p>
          <a:p xmlns:a="http://schemas.openxmlformats.org/drawingml/2006/main">
            <a:pPr algn="ctr">
              <a:defRPr sz="12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1개 선정 기준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9B18D0-B167-4912-B143-760BE0E5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Gateway Comparison PoC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BC33E2-1155-4BA6-AE19-9DF69450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61912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2026.06</a:t>
            </a:r>
          </a:p>
        </p:txBody>
      </p:sp>
    </p:spTree>
    <p:extLst>
      <p:ext uri="{BB962C8B-B14F-4D97-AF65-F5344CB8AC3E}">
        <p14:creationId xmlns:p14="http://schemas.microsoft.com/office/powerpoint/2010/main" val="15383164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414D80-5D92-4321-B2C1-C9604823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437073-7CD7-47BF-B9F7-3AA9D732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목차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55C42B-D7AA-43BC-985E-4A31084B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666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Gateway 운영 전환 예상 공수 산정 자료의 구성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3AE09-E6C2-4735-A7A4-9D6FD7CF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962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D2F3F-2CCD-4892-B994-658DB951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D77763-9BFE-4945-B357-F50EB679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6215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67DE6C-8E8F-4931-9478-7C597900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9050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산정 전제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38FB3D-640E-4B8D-9D32-A3DBBA9A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2288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PoC 비교 후 운영 대상 Gateway를 1개로 선정하고, 기존 app-cs-service 구조를 유지합니다.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A40CDE-3BCE-4369-8BA1-7479ADAA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962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8A301A-519F-4546-992F-D1829F35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D94FD9-0DA2-4AB1-8778-A1D8D964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2420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C1A8EE-4504-4729-866F-A340C639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0670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역할별 공수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6560BF-B239-4DA1-85F4-4340DE2F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39090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파트 리더와 개발자의 역할을 분리해 MD와 M/M 기준으로 산정합니다.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E8D4C2-07DF-4BD9-A85D-FED315D8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962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3D06C1-43DC-438E-A96A-0C727714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8BEEC3-A338-4639-8C07-43B33028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8625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D98C98-AEDA-4F29-B0E8-CF6E766F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2291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운영 투입 해석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33DA73-FD2C-42B4-8BFC-32C9D0A5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5529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내부 OSS Gateway 선택 시 기본 공수와 외부 SaaS Gateway 선택 시 추가 공수를 구분합니다.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B1A074-703E-41BC-B588-35D96E30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86400"/>
            <a:ext cx="962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EA4768-4FA5-4D6A-8297-74ED3CBA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578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요약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85E848-CFEF-49BE-95D7-5B805F3C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57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내부 OSS Gateway 1개 선정 기준 총 1.05-1.65 M/M, 외부 SaaS 선택 시 +0.15-0.35 M/M 추가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BF7169-4E34-4422-B459-590C09FC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055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390037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2F4EFB-AD6F-4664-BA0D-2249B6A7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EBD75B-7FFD-43D3-9E49-06EDDD66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F"/>
                </a:solidFill>
                <a:latin typeface="Aptos Display"/>
                <a:ea typeface="Aptos Display"/>
                <a:cs typeface="Aptos Display"/>
              </a:rPr>
              <a:t>Gateway 운영 전환 예상 공수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6E540F-BCA7-4C40-8658-8F627D18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914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전제: PoC 비교 후 APISIX / Envoy / LiteLLM 중 하나의 Gateway를 선정하여 운영 반영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C52DE9-6337-40BC-96F4-481113C6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28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B8A86-6B08-47C1-B165-54A89D28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산정 기준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D1986B-05DD-425C-BE31-C28C04C6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638300"/>
            <a:ext cx="800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1 M/M = 20 MD 기준. 기존 PoC 구조를 유지하고, 운영 적용 대상 Gateway는 1개로 제한합니다.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C1DF51-A049-42FA-92CA-7F727A5F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C4A9C4-B33B-4D5E-924E-09C99922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90775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역할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BF139-9BB2-4EF0-A045-FC891493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30505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A181EE-25D6-4486-9A78-3F4D377D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90775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주요 업무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795B65-5BC1-4447-BA76-3B7833E4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050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80FEAE-23CC-48A4-B200-19059D7C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90775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6DA6A4-FF97-48C8-92F2-D30FBA47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050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690861-B802-4386-8321-7A337120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90775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M/M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9F1915-5FBE-45BF-BDDD-89D14817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050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B37557-0C5F-40FF-AB77-4C87F2E6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90775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비고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284CC9-4F44-4038-B41B-FBCA8361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3001A5-01A4-4602-8352-8CE2B484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43225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파트 리더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C276AF-1166-4FD9-A609-F9BAB181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5750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F8E8FA-8F96-4CF6-8BEB-3C0EE3DC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43225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선정 기준 확정, 아키텍처 결정, 보안/운영 정책 리뷰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F44584-9392-414C-89BA-2BB334FD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575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86820-DC61-4C72-8373-A84EA810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43225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6-10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B70E18-CC90-4042-BC13-0662078A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575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48A508-882E-4F53-BC0B-A4613BB1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43225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0.3-0.5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B5EFD1-14BC-400E-9F11-F3A450CC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575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84ADE6-8E4D-4985-9734-B890746E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43225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의사결정/리뷰 중심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C29A2D-4B9C-48D0-9345-50F2460A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099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0C6330-D874-4D84-9C10-A1E70575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95675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개발자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8E7906-2D69-419C-B48E-DC91894B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40995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4D44D6-1E31-4E20-AD97-35E75663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495675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선택 Gateway 연동 고도화, 설정 정리, 테스트 자동화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59142D-2FDA-408F-8164-3B6B297A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099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C216A1-20CB-4720-A05C-A3EE41A5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95675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15-23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3B9172-9872-4AF4-85DC-758932D8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099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1E222F-A3E2-4C38-96F6-685BB2CD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95675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0.75-1.15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5E8AD3-7858-4783-900B-FBE689FC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099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AA6688-5F39-4FB2-B2C9-A67F928A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95675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구현/검증 중심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51795B-DA0C-48F5-9479-A6921786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624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375D20-0D29-4908-B03C-9DB51BF2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48125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합계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4CFB7F-EF25-463B-B4B2-A3B4D8D0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96240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6D143A-038A-4C1F-91AA-9793A56B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48125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1개 Gateway 운영 전환 기준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C8E367-CC39-4329-AD87-7CFC5C43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9624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BABF8D-4063-4794-96D2-33549499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48125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21-33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1B24738-4C32-42EE-8B73-FAFC178C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9624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FDE401-C4EC-43D4-9BAD-2FE61DAB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48125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1.05-1.65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012AF75-D12A-45DF-95D8-2A96F351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9624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FB44EA4-068C-461A-9B94-3401559B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48125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약 3-4주 일정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13E8491-4B09-4C66-9FEC-5A9D4285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97C698C-F177-41C3-9F41-1D852351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00575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외부 SaaS 추가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00DADC8-82E3-4E68-AF51-14627866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51485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981ED58-E5D5-4CF2-9AD2-C260DEB5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600575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Cloudflare / Portkey / OpenRouter 등 실제 연결 시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89EAE0C-A5D2-4B81-AC5E-A99521E6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5148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0AFD3B4-911A-43D2-9A87-684766E5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600575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+3-7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F3BED7C-0D84-4061-B80D-457E7BB3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5148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CA1855E-9F9D-4E1C-B95C-58EAECAA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00575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+0.15-0.35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D79DBBC-2AA8-4791-AE9E-215E3ADC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5148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139D56B-904D-4E52-B533-F8769B01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600575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계정/비용/데이터 검토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CF266DD-896B-4E52-BD5F-81E617B2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72100"/>
            <a:ext cx="1028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76F669D-72A8-47E8-9CBD-9895A268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운영 투입 해석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04017CC-54BE-4695-8C7C-F2FF8003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5245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내부 OSS Gateway 1개 선정 시 총 1.05-1.65 M/M 수준입니다. 외부 SaaS형 Gateway를 선택하면 보안/비용/데이터 반출 검토로 최대 0.35 M/M 정도가 추가됩니다.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3E96F0F-B84D-4270-BEDB-CD58BFC4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Gateway Comparison PoC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F291C16-96C6-48CA-86F0-ED805E11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3436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M/M estimate</a:t>
            </a:r>
          </a:p>
        </p:txBody>
      </p:sp>
    </p:spTree>
    <p:extLst>
      <p:ext uri="{BB962C8B-B14F-4D97-AF65-F5344CB8AC3E}">
        <p14:creationId xmlns:p14="http://schemas.microsoft.com/office/powerpoint/2010/main" val="9698563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2026-06-09T02:05:13.7470000Z</dcterms:created>
  <dcterms:modified xsi:type="dcterms:W3CDTF">2026-06-09T02:05:13.7470000Z</dcterms:modified>
</coreProperties>
</file>