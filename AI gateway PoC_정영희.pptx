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68" r:id="rId2"/>
    <p:sldId id="267" r:id="rId3"/>
    <p:sldId id="257" r:id="rId4"/>
    <p:sldId id="272" r:id="rId5"/>
    <p:sldId id="275" r:id="rId6"/>
    <p:sldId id="273" r:id="rId7"/>
    <p:sldId id="274" r:id="rId8"/>
    <p:sldId id="277" r:id="rId9"/>
    <p:sldId id="280" r:id="rId10"/>
    <p:sldId id="281" r:id="rId11"/>
    <p:sldId id="282" r:id="rId12"/>
    <p:sldId id="283" r:id="rId13"/>
    <p:sldId id="276" r:id="rId14"/>
    <p:sldId id="278" r:id="rId15"/>
    <p:sldId id="284" r:id="rId16"/>
    <p:sldId id="279" r:id="rId17"/>
    <p:sldId id="271" r:id="rId18"/>
    <p:sldId id="285" r:id="rId19"/>
    <p:sldId id="287" r:id="rId20"/>
    <p:sldId id="289" r:id="rId21"/>
    <p:sldId id="28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16A34A"/>
    <a:srgbClr val="E19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806" autoAdjust="0"/>
  </p:normalViewPr>
  <p:slideViewPr>
    <p:cSldViewPr snapToGrid="0">
      <p:cViewPr varScale="1">
        <p:scale>
          <a:sx n="65" d="100"/>
          <a:sy n="65" d="100"/>
        </p:scale>
        <p:origin x="13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AE1A-385A-B641-CC2C-226FF79C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FDF88-F7A2-AF81-E1B4-3D61B4825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20FF2-12D4-4E80-4BD4-EBB087880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4EB54-1756-E136-171E-E9DADFCA42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17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2) </a:t>
            </a:r>
            <a:r>
              <a:rPr lang="en-US" altLang="ko-KR" sz="1200" b="0" i="0" kern="1200" dirty="0">
                <a:effectLst/>
              </a:rPr>
              <a:t>LLM</a:t>
            </a:r>
            <a:r>
              <a:rPr lang="ko-KR" altLang="en-US" sz="1200" b="0" i="0" kern="1200" dirty="0">
                <a:effectLst/>
              </a:rPr>
              <a:t>을 직접 서비스 코드에서 호출하면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모델이나 </a:t>
            </a:r>
            <a:r>
              <a:rPr lang="en-US" altLang="ko-KR" sz="1200" b="0" i="0" kern="1200" dirty="0">
                <a:effectLst/>
              </a:rPr>
              <a:t>provider</a:t>
            </a:r>
            <a:r>
              <a:rPr lang="ko-KR" altLang="en-US" sz="1200" b="0" i="0" kern="1200" dirty="0">
                <a:effectLst/>
              </a:rPr>
              <a:t>를 바꿀 때마다 애플리케이션 코드가 영향을 받습니다</a:t>
            </a:r>
            <a:br>
              <a:rPr lang="en-US" altLang="ko-KR" sz="1200" b="0" i="0" kern="1200" dirty="0">
                <a:effectLst/>
              </a:rPr>
            </a:br>
            <a:r>
              <a:rPr lang="en-US" altLang="ko-KR" sz="1200" b="0" i="0" kern="1200" dirty="0">
                <a:effectLst/>
              </a:rPr>
              <a:t>-&gt; </a:t>
            </a:r>
            <a:r>
              <a:rPr lang="ko-KR" altLang="en-US" sz="1200" b="0" i="0" kern="1200" dirty="0">
                <a:effectLst/>
              </a:rPr>
              <a:t> 예를 들어 처음에는 </a:t>
            </a:r>
            <a:r>
              <a:rPr lang="en-US" altLang="ko-KR" sz="1200" b="0" i="0" kern="1200" dirty="0">
                <a:effectLst/>
              </a:rPr>
              <a:t>OpenAI gpt-4o</a:t>
            </a:r>
            <a:r>
              <a:rPr lang="ko-KR" altLang="en-US" sz="1200" b="0" i="0" kern="1200" dirty="0">
                <a:effectLst/>
              </a:rPr>
              <a:t>를 쓰다가 </a:t>
            </a:r>
            <a:r>
              <a:rPr lang="en-US" altLang="ko-KR" sz="1200" b="0" i="0" kern="1200" dirty="0">
                <a:effectLst/>
              </a:rPr>
              <a:t>Anthropic Claude, Google Vertex AI, AWS Bedrock, </a:t>
            </a:r>
            <a:r>
              <a:rPr lang="ko-KR" altLang="en-US" sz="1200" b="0" i="0" kern="1200" dirty="0">
                <a:effectLst/>
              </a:rPr>
              <a:t>사내 모델로 바꾸려면 </a:t>
            </a:r>
            <a:r>
              <a:rPr lang="en-US" altLang="ko-KR" sz="1200" b="0" i="0" kern="1200" dirty="0">
                <a:effectLst/>
              </a:rPr>
              <a:t>API endpoint, </a:t>
            </a:r>
            <a:r>
              <a:rPr lang="ko-KR" altLang="en-US" sz="1200" b="0" i="0" kern="1200" dirty="0">
                <a:effectLst/>
              </a:rPr>
              <a:t>인증 방식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요청</a:t>
            </a:r>
            <a:r>
              <a:rPr lang="en-US" altLang="ko-KR" sz="1200" b="0" i="0" kern="1200" dirty="0">
                <a:effectLst/>
              </a:rPr>
              <a:t>/</a:t>
            </a:r>
            <a:r>
              <a:rPr lang="ko-KR" altLang="en-US" sz="1200" b="0" i="0" kern="1200" dirty="0">
                <a:effectLst/>
              </a:rPr>
              <a:t>응답 포맷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모델명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에러 처리 방식이 달라질 수 있습니다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r>
              <a:rPr lang="en-US" sz="1200" b="0" i="0" kern="1200" dirty="0">
                <a:effectLst/>
              </a:rPr>
              <a:t>-&gt;</a:t>
            </a:r>
            <a:r>
              <a:rPr lang="en-US" altLang="ko-KR" sz="1200" b="0" i="0" kern="1200" dirty="0">
                <a:effectLst/>
              </a:rPr>
              <a:t>AI Gateway</a:t>
            </a:r>
            <a:r>
              <a:rPr lang="ko-KR" altLang="en-US" sz="1200" b="0" i="0" kern="1200" dirty="0">
                <a:effectLst/>
              </a:rPr>
              <a:t>를 두면 서비스는 </a:t>
            </a:r>
            <a:r>
              <a:rPr lang="en-US" altLang="ko-KR" sz="1200" b="0" i="0" kern="1200" dirty="0">
                <a:effectLst/>
              </a:rPr>
              <a:t>Gateway</a:t>
            </a:r>
            <a:r>
              <a:rPr lang="ko-KR" altLang="en-US" sz="1200" b="0" i="0" kern="1200" dirty="0">
                <a:effectLst/>
              </a:rPr>
              <a:t>의 고정된 </a:t>
            </a:r>
            <a:r>
              <a:rPr lang="en-US" altLang="ko-KR" sz="1200" b="0" i="0" kern="1200" dirty="0">
                <a:effectLst/>
              </a:rPr>
              <a:t>endpoint</a:t>
            </a:r>
            <a:r>
              <a:rPr lang="ko-KR" altLang="en-US" sz="1200" b="0" i="0" kern="1200" dirty="0">
                <a:effectLst/>
              </a:rPr>
              <a:t>만 호출하고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실제 뒤쪽 </a:t>
            </a:r>
            <a:r>
              <a:rPr lang="en-US" altLang="ko-KR" sz="1200" b="0" i="0" kern="1200" dirty="0">
                <a:effectLst/>
              </a:rPr>
              <a:t>provider </a:t>
            </a:r>
            <a:r>
              <a:rPr lang="ko-KR" altLang="en-US" sz="1200" b="0" i="0" kern="1200" dirty="0">
                <a:effectLst/>
              </a:rPr>
              <a:t>선택은 </a:t>
            </a:r>
            <a:r>
              <a:rPr lang="en-US" altLang="ko-KR" sz="1200" b="0" i="0" kern="1200" dirty="0">
                <a:effectLst/>
              </a:rPr>
              <a:t>Gateway </a:t>
            </a:r>
            <a:r>
              <a:rPr lang="ko-KR" altLang="en-US" sz="1200" b="0" i="0" kern="1200" dirty="0">
                <a:effectLst/>
              </a:rPr>
              <a:t>설정으로 처리할 수 있습니다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r>
              <a:rPr lang="en-US" sz="1200" b="0" i="0" kern="1200" dirty="0">
                <a:effectLst/>
              </a:rPr>
              <a:t>=&gt;</a:t>
            </a:r>
            <a:r>
              <a:rPr lang="ko-KR" altLang="en-US" sz="1200" b="0" i="0" kern="1200" dirty="0">
                <a:effectLst/>
              </a:rPr>
              <a:t>즉</a:t>
            </a:r>
            <a:r>
              <a:rPr lang="en-US" altLang="ko-KR" sz="1200" b="0" i="0" kern="1200" dirty="0">
                <a:effectLst/>
              </a:rPr>
              <a:t>, </a:t>
            </a:r>
            <a:r>
              <a:rPr lang="ko-KR" altLang="en-US" sz="1200" b="1" i="0" kern="1200" dirty="0">
                <a:effectLst/>
              </a:rPr>
              <a:t>서비스 코드 변경 없이 모델 선택권을 운영 계층으로 빼는 것</a:t>
            </a:r>
            <a:r>
              <a:rPr lang="ko-KR" altLang="en-US" sz="1200" b="0" i="0" kern="1200" dirty="0">
                <a:effectLst/>
              </a:rPr>
              <a:t>이 핵심입니다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endParaRPr lang="en-US" sz="1200" b="0" i="0" kern="1200" dirty="0">
              <a:effectLst/>
            </a:endParaRPr>
          </a:p>
          <a:p>
            <a:r>
              <a:rPr lang="en-US" sz="1200" b="0" i="0" kern="1200" dirty="0">
                <a:effectLst/>
              </a:rPr>
              <a:t>3) </a:t>
            </a:r>
            <a:r>
              <a:rPr lang="en-US" altLang="ko-KR" sz="1200" b="0" i="0" kern="1200" dirty="0">
                <a:effectLst/>
              </a:rPr>
              <a:t>LLM</a:t>
            </a:r>
            <a:r>
              <a:rPr lang="ko-KR" altLang="en-US" sz="1200" b="0" i="0" kern="1200" dirty="0">
                <a:effectLst/>
              </a:rPr>
              <a:t>은 일반 </a:t>
            </a:r>
            <a:r>
              <a:rPr lang="en-US" altLang="ko-KR" sz="1200" b="0" i="0" kern="1200" dirty="0">
                <a:effectLst/>
              </a:rPr>
              <a:t>API</a:t>
            </a:r>
            <a:r>
              <a:rPr lang="ko-KR" altLang="en-US" sz="1200" b="0" i="0" kern="1200" dirty="0">
                <a:effectLst/>
              </a:rPr>
              <a:t>보다 비용 통제가 훨씬 중요합니다</a:t>
            </a:r>
            <a:r>
              <a:rPr lang="en-US" altLang="ko-KR" sz="1200" b="0" i="0" kern="1200" dirty="0">
                <a:effectLst/>
              </a:rPr>
              <a:t>. </a:t>
            </a:r>
            <a:r>
              <a:rPr lang="ko-KR" altLang="en-US" sz="1200" b="0" i="0" kern="1200" dirty="0">
                <a:effectLst/>
              </a:rPr>
              <a:t>호출 한 번의 비용이 요청 수뿐 아니라 입력 </a:t>
            </a:r>
            <a:r>
              <a:rPr lang="en-US" altLang="ko-KR" sz="1200" b="0" i="0" kern="1200" dirty="0">
                <a:effectLst/>
              </a:rPr>
              <a:t>token, </a:t>
            </a:r>
            <a:r>
              <a:rPr lang="ko-KR" altLang="en-US" sz="1200" b="0" i="0" kern="1200" dirty="0">
                <a:effectLst/>
              </a:rPr>
              <a:t>출력 </a:t>
            </a:r>
            <a:r>
              <a:rPr lang="en-US" altLang="ko-KR" sz="1200" b="0" i="0" kern="1200" dirty="0">
                <a:effectLst/>
              </a:rPr>
              <a:t>token, </a:t>
            </a:r>
            <a:r>
              <a:rPr lang="ko-KR" altLang="en-US" sz="1200" b="0" i="0" kern="1200" dirty="0">
                <a:effectLst/>
              </a:rPr>
              <a:t>모델 단가</a:t>
            </a:r>
            <a:r>
              <a:rPr lang="en-US" altLang="ko-KR" sz="1200" b="0" i="0" kern="1200" dirty="0">
                <a:effectLst/>
              </a:rPr>
              <a:t>, context </a:t>
            </a:r>
            <a:r>
              <a:rPr lang="ko-KR" altLang="en-US" sz="1200" b="0" i="0" kern="1200" dirty="0">
                <a:effectLst/>
              </a:rPr>
              <a:t>길이</a:t>
            </a:r>
            <a:r>
              <a:rPr lang="en-US" altLang="ko-KR" sz="1200" b="0" i="0" kern="1200" dirty="0">
                <a:effectLst/>
              </a:rPr>
              <a:t>, retry </a:t>
            </a:r>
            <a:r>
              <a:rPr lang="ko-KR" altLang="en-US" sz="1200" b="0" i="0" kern="1200" dirty="0">
                <a:effectLst/>
              </a:rPr>
              <a:t>횟수에 따라 크게 달라집니다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r>
              <a:rPr lang="en-US" sz="1200" b="0" i="0" kern="1200" dirty="0">
                <a:effectLst/>
              </a:rPr>
              <a:t>-&gt; </a:t>
            </a:r>
            <a:r>
              <a:rPr lang="ko-KR" altLang="en-US" sz="1200" b="0" i="0" kern="1200" dirty="0">
                <a:effectLst/>
              </a:rPr>
              <a:t>단순히 “</a:t>
            </a:r>
            <a:r>
              <a:rPr lang="en-US" altLang="ko-KR" sz="1200" b="0" i="0" kern="1200" dirty="0">
                <a:effectLst/>
              </a:rPr>
              <a:t>API </a:t>
            </a:r>
            <a:r>
              <a:rPr lang="ko-KR" altLang="en-US" sz="1200" b="0" i="0" kern="1200" dirty="0">
                <a:effectLst/>
              </a:rPr>
              <a:t>몇 번 </a:t>
            </a:r>
            <a:r>
              <a:rPr lang="ko-KR" altLang="en-US" sz="1200" b="0" i="0" kern="1200" dirty="0" err="1">
                <a:effectLst/>
              </a:rPr>
              <a:t>호출했는지”만</a:t>
            </a:r>
            <a:r>
              <a:rPr lang="ko-KR" altLang="en-US" sz="1200" b="0" i="0" kern="1200" dirty="0">
                <a:effectLst/>
              </a:rPr>
              <a:t> 보면 실제 비용을 예측하기 어렵습니다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r>
              <a:rPr lang="en-US" altLang="ko-KR" dirty="0"/>
              <a:t>=&gt; </a:t>
            </a:r>
            <a:r>
              <a:rPr lang="ko-KR" altLang="en-US" sz="1200" b="0" i="0" kern="1200" dirty="0">
                <a:effectLst/>
              </a:rPr>
              <a:t>서비스별 사용량 </a:t>
            </a:r>
            <a:r>
              <a:rPr lang="en-US" altLang="ko-KR" sz="1200" b="0" i="0" kern="1200" dirty="0">
                <a:effectLst/>
              </a:rPr>
              <a:t>/ </a:t>
            </a:r>
            <a:r>
              <a:rPr lang="ko-KR" altLang="en-US" sz="1200" b="0" i="0" kern="1200" dirty="0">
                <a:effectLst/>
              </a:rPr>
              <a:t>사용자</a:t>
            </a:r>
            <a:r>
              <a:rPr lang="en-US" altLang="ko-KR" sz="1200" b="0" i="0" kern="1200" dirty="0">
                <a:effectLst/>
              </a:rPr>
              <a:t>/</a:t>
            </a:r>
            <a:r>
              <a:rPr lang="ko-KR" altLang="en-US" sz="1200" b="0" i="0" kern="1200" dirty="0">
                <a:effectLst/>
              </a:rPr>
              <a:t>팀별 사용량 </a:t>
            </a:r>
            <a:r>
              <a:rPr lang="en-US" altLang="ko-KR" sz="1200" b="0" i="0" kern="1200" dirty="0">
                <a:effectLst/>
              </a:rPr>
              <a:t>/ API key</a:t>
            </a:r>
            <a:r>
              <a:rPr lang="ko-KR" altLang="en-US" sz="1200" b="0" i="0" kern="1200" dirty="0">
                <a:effectLst/>
              </a:rPr>
              <a:t>별 </a:t>
            </a:r>
            <a:r>
              <a:rPr lang="en-US" altLang="ko-KR" sz="1200" b="0" i="0" kern="1200" dirty="0">
                <a:effectLst/>
              </a:rPr>
              <a:t>quota / </a:t>
            </a:r>
            <a:r>
              <a:rPr lang="ko-KR" altLang="en-US" sz="1200" b="0" i="0" kern="1200" dirty="0">
                <a:effectLst/>
              </a:rPr>
              <a:t>일</a:t>
            </a:r>
            <a:r>
              <a:rPr lang="en-US" altLang="ko-KR" sz="1200" b="0" i="0" kern="1200" dirty="0">
                <a:effectLst/>
              </a:rPr>
              <a:t>/</a:t>
            </a:r>
            <a:r>
              <a:rPr lang="ko-KR" altLang="en-US" sz="1200" b="0" i="0" kern="1200" dirty="0">
                <a:effectLst/>
              </a:rPr>
              <a:t>월 단위 </a:t>
            </a:r>
            <a:r>
              <a:rPr lang="en-US" altLang="ko-KR" sz="1200" b="0" i="0" kern="1200" dirty="0">
                <a:effectLst/>
              </a:rPr>
              <a:t>budget / </a:t>
            </a:r>
            <a:r>
              <a:rPr lang="ko-KR" altLang="en-US" sz="1200" b="0" i="0" kern="1200" dirty="0" err="1">
                <a:effectLst/>
              </a:rPr>
              <a:t>모델별</a:t>
            </a:r>
            <a:r>
              <a:rPr lang="ko-KR" altLang="en-US" sz="1200" b="0" i="0" kern="1200" dirty="0">
                <a:effectLst/>
              </a:rPr>
              <a:t> </a:t>
            </a:r>
            <a:r>
              <a:rPr lang="en-US" altLang="ko-KR" sz="1200" b="0" i="0" kern="1200" dirty="0">
                <a:effectLst/>
              </a:rPr>
              <a:t>token </a:t>
            </a:r>
            <a:r>
              <a:rPr lang="ko-KR" altLang="en-US" sz="1200" b="0" i="0" kern="1200" dirty="0">
                <a:effectLst/>
              </a:rPr>
              <a:t>비용 </a:t>
            </a:r>
            <a:r>
              <a:rPr lang="en-US" altLang="ko-KR" sz="1200" b="0" i="0" kern="1200" dirty="0">
                <a:effectLst/>
              </a:rPr>
              <a:t>/ rate limit / </a:t>
            </a:r>
            <a:r>
              <a:rPr lang="ko-KR" altLang="en-US" sz="1200" b="0" i="0" kern="1200" dirty="0">
                <a:effectLst/>
              </a:rPr>
              <a:t>비싼 모델 호출 제한 </a:t>
            </a:r>
            <a:r>
              <a:rPr lang="en-US" altLang="ko-KR" sz="1200" b="0" i="0" kern="1200" dirty="0">
                <a:effectLst/>
              </a:rPr>
              <a:t>/ fallback/retry</a:t>
            </a:r>
            <a:r>
              <a:rPr lang="ko-KR" altLang="en-US" sz="1200" b="0" i="0" kern="1200" dirty="0">
                <a:effectLst/>
              </a:rPr>
              <a:t>로 인한 추가 비용 추적</a:t>
            </a:r>
          </a:p>
          <a:p>
            <a:br>
              <a:rPr lang="ko-KR" alt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52A03-5A1B-E334-273F-9B2930CF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D717D-85E7-A064-95C7-0A3CBEFEE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8FAC8-035C-01D9-7BB5-B8561003F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effectLst/>
              </a:rPr>
              <a:t>OSS: </a:t>
            </a:r>
            <a:r>
              <a:rPr lang="ko-KR" altLang="en-US" sz="1200" b="0" i="0" kern="1200" dirty="0">
                <a:effectLst/>
              </a:rPr>
              <a:t>오픈소스 소프트웨어</a:t>
            </a:r>
            <a:endParaRPr lang="en-US" altLang="ko-KR" sz="1200" b="0" i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effectLst/>
              </a:rPr>
              <a:t>Self-host OSS: </a:t>
            </a:r>
            <a:r>
              <a:rPr lang="ko-KR" altLang="en-US" sz="1200" b="0" i="0" kern="1200" dirty="0">
                <a:effectLst/>
              </a:rPr>
              <a:t>직접 설치해서 운영하는 오픈소스</a:t>
            </a:r>
            <a:endParaRPr lang="en-US" altLang="ko-KR" sz="1200" b="0" i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effectLst/>
              </a:rPr>
              <a:t>OSS + SaaS: </a:t>
            </a:r>
            <a:r>
              <a:rPr lang="ko-KR" altLang="en-US" sz="1200" b="0" i="0" kern="1200" dirty="0">
                <a:effectLst/>
              </a:rPr>
              <a:t>오픈소스 버전도 있고</a:t>
            </a:r>
            <a:r>
              <a:rPr lang="en-US" altLang="ko-KR" sz="1200" b="0" i="0" kern="1200" dirty="0">
                <a:effectLst/>
              </a:rPr>
              <a:t>, </a:t>
            </a:r>
            <a:r>
              <a:rPr lang="ko-KR" altLang="en-US" sz="1200" b="0" i="0" kern="1200" dirty="0">
                <a:effectLst/>
              </a:rPr>
              <a:t>업체가 운영해주는 </a:t>
            </a:r>
            <a:r>
              <a:rPr lang="en-US" altLang="ko-KR" sz="1200" b="0" i="0" kern="1200" dirty="0">
                <a:effectLst/>
              </a:rPr>
              <a:t>SaaS </a:t>
            </a:r>
            <a:r>
              <a:rPr lang="ko-KR" altLang="en-US" sz="1200" b="0" i="0" kern="1200" dirty="0">
                <a:effectLst/>
              </a:rPr>
              <a:t>버전도 있음</a:t>
            </a:r>
            <a:endParaRPr lang="en-US" altLang="ko-KR" sz="1200" b="0" i="0" kern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effectLst/>
              </a:rPr>
              <a:t>Managed SaaS: </a:t>
            </a:r>
            <a:r>
              <a:rPr lang="ko-KR" altLang="en-US" sz="1200" b="0" i="0" kern="1200" dirty="0">
                <a:effectLst/>
              </a:rPr>
              <a:t>업체가 운영하는 클라우드 서비스 중심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988FC-7937-0AD9-E427-7FA8B4472F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670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5A1B-FA06-79F9-D920-C4669AF8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32DC2-6F3A-B951-7E37-E8101011B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92F76-458B-21FF-4455-821E176CE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effectLst/>
              </a:rPr>
              <a:t>APISIX</a:t>
            </a:r>
            <a:r>
              <a:rPr lang="ko-KR" altLang="en-US" sz="1200" b="0" i="0" kern="1200" dirty="0">
                <a:effectLst/>
              </a:rPr>
              <a:t>는 </a:t>
            </a:r>
            <a:r>
              <a:rPr lang="en-US" altLang="ko-KR" sz="1200" b="1" i="0" kern="1200" dirty="0">
                <a:effectLst/>
              </a:rPr>
              <a:t>AI Gateway </a:t>
            </a:r>
            <a:r>
              <a:rPr lang="ko-KR" altLang="en-US" sz="1200" b="1" i="0" kern="1200" dirty="0" err="1">
                <a:effectLst/>
              </a:rPr>
              <a:t>자체라기보다는</a:t>
            </a:r>
            <a:r>
              <a:rPr lang="en-US" altLang="ko-KR" sz="1200" b="1" i="0" kern="1200" dirty="0">
                <a:effectLst/>
              </a:rPr>
              <a:t>, AI Gateway</a:t>
            </a:r>
            <a:r>
              <a:rPr lang="ko-KR" altLang="en-US" sz="1200" b="1" i="0" kern="1200" dirty="0">
                <a:effectLst/>
              </a:rPr>
              <a:t>를 구성할 수 있는 범용 </a:t>
            </a:r>
            <a:r>
              <a:rPr lang="en-US" altLang="ko-KR" sz="1200" b="1" i="0" kern="1200" dirty="0">
                <a:effectLst/>
              </a:rPr>
              <a:t>API Gateway </a:t>
            </a:r>
            <a:r>
              <a:rPr lang="ko-KR" altLang="en-US" sz="1200" b="1" i="0" kern="1200" dirty="0">
                <a:effectLst/>
              </a:rPr>
              <a:t>기반</a:t>
            </a:r>
            <a:r>
              <a:rPr lang="ko-KR" altLang="en-US" sz="1200" b="0" i="0" kern="1200" dirty="0">
                <a:effectLst/>
              </a:rPr>
              <a:t>에 가깝습니다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200" b="1" i="0" kern="1200" dirty="0">
                <a:effectLst/>
              </a:rPr>
              <a:t> </a:t>
            </a:r>
            <a:r>
              <a:rPr lang="en-US" altLang="ko-KR" sz="1200" b="1" i="0" kern="1200" dirty="0">
                <a:effectLst/>
              </a:rPr>
              <a:t>LLM </a:t>
            </a:r>
            <a:r>
              <a:rPr lang="ko-KR" altLang="en-US" sz="1200" b="1" i="0" kern="1200" dirty="0">
                <a:effectLst/>
              </a:rPr>
              <a:t>특화 기능은 별도 구현 필요</a:t>
            </a:r>
            <a:endParaRPr lang="en-US" altLang="ko-KR" sz="1200" b="1" i="0" kern="1200" dirty="0">
              <a:effectLst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sz="1200" b="1" i="0" kern="1200" dirty="0">
              <a:effectLst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 sz="1200" b="0" i="0" kern="1200" dirty="0">
                <a:effectLst/>
              </a:rPr>
              <a:t>Envoy</a:t>
            </a:r>
            <a:r>
              <a:rPr lang="ko-KR" altLang="en-US" sz="1200" b="0" i="0" kern="1200" dirty="0">
                <a:effectLst/>
              </a:rPr>
              <a:t>는 </a:t>
            </a:r>
            <a:r>
              <a:rPr lang="en-US" altLang="ko-KR" sz="1200" b="1" i="0" kern="1200" dirty="0">
                <a:effectLst/>
              </a:rPr>
              <a:t>AI Gateway </a:t>
            </a:r>
            <a:r>
              <a:rPr lang="ko-KR" altLang="en-US" sz="1200" b="1" i="0" kern="1200" dirty="0" err="1">
                <a:effectLst/>
              </a:rPr>
              <a:t>후보라기보다</a:t>
            </a:r>
            <a:r>
              <a:rPr lang="ko-KR" altLang="en-US" sz="1200" b="1" i="0" kern="1200" dirty="0">
                <a:effectLst/>
              </a:rPr>
              <a:t> </a:t>
            </a:r>
            <a:r>
              <a:rPr lang="en-US" altLang="ko-KR" sz="1200" b="1" i="0" kern="1200" dirty="0">
                <a:effectLst/>
              </a:rPr>
              <a:t>AI Gateway</a:t>
            </a:r>
            <a:r>
              <a:rPr lang="ko-KR" altLang="en-US" sz="1200" b="1" i="0" kern="1200" dirty="0">
                <a:effectLst/>
              </a:rPr>
              <a:t>를 앞뒤에서 구성할 수 있는 인프라 </a:t>
            </a:r>
            <a:r>
              <a:rPr lang="en-US" altLang="ko-KR" sz="1200" b="1" i="0" kern="1200" dirty="0">
                <a:effectLst/>
              </a:rPr>
              <a:t>Proxy(</a:t>
            </a:r>
            <a:r>
              <a:rPr lang="ko-KR" altLang="en-US" b="1" dirty="0"/>
              <a:t>중간 서버를 거쳐서 요청을 보내는 구조</a:t>
            </a:r>
            <a:r>
              <a:rPr lang="en-US" altLang="ko-KR" b="1" dirty="0"/>
              <a:t>)</a:t>
            </a:r>
            <a:r>
              <a:rPr lang="en-US" altLang="ko-KR" sz="1200" b="1" i="0" kern="1200" dirty="0">
                <a:effectLst/>
              </a:rPr>
              <a:t> </a:t>
            </a:r>
            <a:r>
              <a:rPr lang="ko-KR" altLang="en-US" sz="1200" b="1" i="0" kern="1200" dirty="0">
                <a:effectLst/>
              </a:rPr>
              <a:t>기반</a:t>
            </a:r>
            <a:r>
              <a:rPr lang="ko-KR" altLang="en-US" sz="1200" b="0" i="0" kern="1200" dirty="0">
                <a:effectLst/>
              </a:rPr>
              <a:t>입니다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200" b="1" i="0" kern="1200" dirty="0">
                <a:effectLst/>
              </a:rPr>
              <a:t>AI Gateway </a:t>
            </a:r>
            <a:r>
              <a:rPr lang="ko-KR" altLang="en-US" sz="1200" b="1" i="0" kern="1200" dirty="0">
                <a:effectLst/>
              </a:rPr>
              <a:t>전용 제품은 아니고 </a:t>
            </a:r>
            <a:r>
              <a:rPr lang="en-US" altLang="ko-KR" sz="1200" b="1" i="0" kern="1200" dirty="0">
                <a:effectLst/>
              </a:rPr>
              <a:t>AI Gateway</a:t>
            </a:r>
            <a:r>
              <a:rPr lang="ko-KR" altLang="en-US" sz="1200" b="1" i="0" kern="1200" dirty="0">
                <a:effectLst/>
              </a:rPr>
              <a:t>를 구현할 수 있는 네트워크 프록시 기반</a:t>
            </a:r>
            <a:r>
              <a:rPr lang="ko-KR" altLang="en-US" sz="1200" b="0" i="0" kern="1200" dirty="0">
                <a:effectLst/>
              </a:rPr>
              <a:t>입니다</a:t>
            </a:r>
            <a:r>
              <a:rPr lang="en-US" altLang="ko-KR" sz="1200" b="0" i="0" kern="1200" dirty="0">
                <a:effectLst/>
              </a:rPr>
              <a:t>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dirty="0"/>
              <a:t>인프라 프록시 기반 </a:t>
            </a:r>
            <a:r>
              <a:rPr lang="en-US" altLang="ko-KR" dirty="0"/>
              <a:t>LLM </a:t>
            </a:r>
            <a:r>
              <a:rPr lang="ko-KR" altLang="en-US" dirty="0"/>
              <a:t>트래픽 제어 가능성 검증</a:t>
            </a:r>
            <a:endParaRPr lang="en-US" altLang="ko-KR" sz="1200" b="0" i="0" kern="1200" dirty="0">
              <a:effectLst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sz="1200" b="0" i="0" kern="1200" dirty="0">
              <a:effectLst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ko-KR" altLang="en-US" b="1" dirty="0"/>
              <a:t>다만 </a:t>
            </a:r>
            <a:r>
              <a:rPr lang="en-US" altLang="ko-KR" b="1" dirty="0"/>
              <a:t>APISIX</a:t>
            </a:r>
            <a:r>
              <a:rPr lang="ko-KR" altLang="en-US" b="1" dirty="0"/>
              <a:t>와 </a:t>
            </a:r>
            <a:r>
              <a:rPr lang="en-US" altLang="ko-KR" b="1" dirty="0"/>
              <a:t>Envoy</a:t>
            </a:r>
            <a:r>
              <a:rPr lang="ko-KR" altLang="en-US" b="1" dirty="0"/>
              <a:t>도 </a:t>
            </a:r>
            <a:r>
              <a:rPr lang="en-US" altLang="ko-KR" b="1" dirty="0"/>
              <a:t>LLM </a:t>
            </a:r>
            <a:r>
              <a:rPr lang="ko-KR" altLang="en-US" b="1" dirty="0"/>
              <a:t>요청 </a:t>
            </a:r>
            <a:r>
              <a:rPr lang="ko-KR" altLang="en-US" b="1" dirty="0" err="1"/>
              <a:t>앞단에</a:t>
            </a:r>
            <a:r>
              <a:rPr lang="ko-KR" altLang="en-US" b="1" dirty="0"/>
              <a:t> 배치하면 </a:t>
            </a:r>
            <a:r>
              <a:rPr lang="en-US" altLang="ko-KR" b="1" dirty="0"/>
              <a:t>AI Gateway </a:t>
            </a:r>
            <a:r>
              <a:rPr lang="ko-KR" altLang="en-US" b="1" dirty="0"/>
              <a:t>역할의 일부를 구현할 수 있다</a:t>
            </a:r>
            <a:r>
              <a:rPr lang="en-US" altLang="ko-KR" b="1" dirty="0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ko-KR" b="1" dirty="0"/>
              <a:t>APISIX/Envoy</a:t>
            </a:r>
            <a:r>
              <a:rPr lang="ko-KR" altLang="en-US" b="1" dirty="0"/>
              <a:t>는 “</a:t>
            </a:r>
            <a:r>
              <a:rPr lang="en-US" altLang="ko-KR" b="1" dirty="0"/>
              <a:t>HTTP </a:t>
            </a:r>
            <a:r>
              <a:rPr lang="ko-KR" altLang="en-US" b="1" dirty="0" err="1"/>
              <a:t>요청”을</a:t>
            </a:r>
            <a:r>
              <a:rPr lang="ko-KR" altLang="en-US" b="1" dirty="0"/>
              <a:t> 잘 다루고</a:t>
            </a:r>
            <a:r>
              <a:rPr lang="en-US" altLang="ko-KR" b="1" dirty="0"/>
              <a:t>, </a:t>
            </a:r>
            <a:r>
              <a:rPr lang="en-US" altLang="ko-KR" b="1" dirty="0" err="1"/>
              <a:t>LiteLLM</a:t>
            </a:r>
            <a:r>
              <a:rPr lang="ko-KR" altLang="en-US" b="1" dirty="0"/>
              <a:t>은 “</a:t>
            </a:r>
            <a:r>
              <a:rPr lang="en-US" altLang="ko-KR" b="1" dirty="0"/>
              <a:t>LLM </a:t>
            </a:r>
            <a:r>
              <a:rPr lang="ko-KR" altLang="en-US" b="1" dirty="0" err="1"/>
              <a:t>호출”을</a:t>
            </a:r>
            <a:r>
              <a:rPr lang="ko-KR" altLang="en-US" b="1" dirty="0"/>
              <a:t> 이해한다</a:t>
            </a:r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477A9-8F68-2730-14E5-A6BC1748D5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5553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4291-3938-CDB3-3090-C9CA06F9E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3881B-DB11-F3E7-4823-1B0C0DB49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B90E3-C002-19F5-63CE-BDCAA6B52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LiteLLM</a:t>
            </a:r>
            <a:r>
              <a:rPr lang="ko-KR" altLang="en-US" dirty="0"/>
              <a:t>은 여기에 더해서 이런 걸 다뤄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rtl="0"/>
            <a:r>
              <a:rPr lang="ko-KR" altLang="en-US" sz="1200" kern="1200" dirty="0"/>
              <a:t>어떤 </a:t>
            </a:r>
            <a:r>
              <a:rPr lang="en-US" altLang="ko-KR" sz="1200" kern="1200" dirty="0"/>
              <a:t>LLM </a:t>
            </a:r>
            <a:r>
              <a:rPr lang="ko-KR" altLang="en-US" sz="1200" kern="1200" dirty="0"/>
              <a:t>모델을 호출할 것인가</a:t>
            </a:r>
            <a:r>
              <a:rPr lang="en-US" altLang="ko-KR" sz="1200" kern="1200" dirty="0"/>
              <a:t>?</a:t>
            </a:r>
            <a:br>
              <a:rPr lang="en-US" altLang="ko-KR" sz="1200" kern="1200" dirty="0"/>
            </a:br>
            <a:r>
              <a:rPr lang="en-US" altLang="ko-KR" sz="1200" kern="1200" dirty="0"/>
              <a:t>OpenAI, Claude, Gemini</a:t>
            </a:r>
            <a:r>
              <a:rPr lang="ko-KR" altLang="en-US" sz="1200" kern="1200" dirty="0"/>
              <a:t>를 같은 방식으로 호출할 수 있는가</a:t>
            </a:r>
            <a:r>
              <a:rPr lang="en-US" altLang="ko-KR" sz="1200" kern="1200" dirty="0"/>
              <a:t>?</a:t>
            </a:r>
            <a:br>
              <a:rPr lang="en-US" altLang="ko-KR" sz="1200" kern="1200" dirty="0"/>
            </a:br>
            <a:r>
              <a:rPr lang="ko-KR" altLang="en-US" sz="1200" kern="1200" dirty="0"/>
              <a:t>이 사용자가 이번 달에 얼마만큼 썼는가</a:t>
            </a:r>
            <a:r>
              <a:rPr lang="en-US" altLang="ko-KR" sz="1200" kern="1200" dirty="0"/>
              <a:t>?</a:t>
            </a:r>
            <a:br>
              <a:rPr lang="en-US" altLang="ko-KR" sz="1200" kern="1200" dirty="0"/>
            </a:br>
            <a:r>
              <a:rPr lang="ko-KR" altLang="en-US" sz="1200" kern="1200" dirty="0"/>
              <a:t>이 모델이 실패하면 어떤 모델로 대체할 것인가</a:t>
            </a:r>
            <a:r>
              <a:rPr lang="en-US" altLang="ko-KR" sz="1200" kern="1200" dirty="0"/>
              <a:t>?</a:t>
            </a:r>
            <a:br>
              <a:rPr lang="en-US" altLang="ko-KR" sz="1200" kern="1200" dirty="0"/>
            </a:br>
            <a:r>
              <a:rPr lang="ko-KR" altLang="en-US" sz="1200" kern="1200" dirty="0" err="1"/>
              <a:t>모델별</a:t>
            </a:r>
            <a:r>
              <a:rPr lang="ko-KR" altLang="en-US" sz="1200" kern="1200" dirty="0"/>
              <a:t> 비용과 토큰 사용량을 추적할 수 있는가</a:t>
            </a:r>
            <a:r>
              <a:rPr lang="en-US" altLang="ko-KR" sz="1200" kern="1200" dirty="0"/>
              <a:t>?</a:t>
            </a:r>
          </a:p>
          <a:p>
            <a:pPr rtl="0"/>
            <a:endParaRPr lang="en-US" altLang="ko-KR" sz="1200" kern="1200" dirty="0"/>
          </a:p>
          <a:p>
            <a:pPr marL="171450" indent="-171450" rtl="0">
              <a:buFont typeface="Symbol" panose="05050102010706020507" pitchFamily="18" charset="2"/>
              <a:buChar char="Þ"/>
            </a:pPr>
            <a:r>
              <a:rPr lang="ko-KR" altLang="en-US" b="1" dirty="0"/>
              <a:t>모델 단위 라우팅</a:t>
            </a:r>
            <a:r>
              <a:rPr lang="en-US" altLang="ko-KR" b="1" dirty="0"/>
              <a:t>, Provider </a:t>
            </a:r>
            <a:r>
              <a:rPr lang="ko-KR" altLang="en-US" b="1" dirty="0"/>
              <a:t>통합</a:t>
            </a:r>
            <a:r>
              <a:rPr lang="en-US" altLang="ko-KR" b="1" dirty="0"/>
              <a:t>, </a:t>
            </a:r>
            <a:r>
              <a:rPr lang="ko-KR" altLang="en-US" b="1" dirty="0"/>
              <a:t>토큰</a:t>
            </a:r>
            <a:r>
              <a:rPr lang="en-US" altLang="ko-KR" b="1" dirty="0"/>
              <a:t>/</a:t>
            </a:r>
            <a:r>
              <a:rPr lang="ko-KR" altLang="en-US" b="1" dirty="0"/>
              <a:t>비용 추적</a:t>
            </a:r>
            <a:r>
              <a:rPr lang="en-US" altLang="ko-KR" b="1" dirty="0"/>
              <a:t>, LLM fallback</a:t>
            </a:r>
            <a:r>
              <a:rPr lang="ko-KR" altLang="en-US" b="1" dirty="0"/>
              <a:t>과 같은 </a:t>
            </a:r>
            <a:r>
              <a:rPr lang="en-US" altLang="ko-KR" b="1" dirty="0"/>
              <a:t>AI </a:t>
            </a:r>
            <a:r>
              <a:rPr lang="ko-KR" altLang="en-US" b="1" dirty="0"/>
              <a:t>특화 운영 기능은 </a:t>
            </a:r>
            <a:r>
              <a:rPr lang="en-US" altLang="ko-KR" b="1" dirty="0" err="1"/>
              <a:t>LiteLLM</a:t>
            </a:r>
            <a:r>
              <a:rPr lang="en-US" altLang="ko-KR" b="1" dirty="0"/>
              <a:t> </a:t>
            </a:r>
            <a:r>
              <a:rPr lang="ko-KR" altLang="en-US" b="1" dirty="0"/>
              <a:t>대비 직접 구현하거나 별도 연계가 필요</a:t>
            </a:r>
            <a:endParaRPr lang="en-US" altLang="ko-KR" b="1" dirty="0"/>
          </a:p>
          <a:p>
            <a:pPr marL="171450" indent="-171450" rtl="0">
              <a:buFont typeface="Symbol" panose="05050102010706020507" pitchFamily="18" charset="2"/>
              <a:buChar char="Þ"/>
            </a:pPr>
            <a:endParaRPr lang="en-US" altLang="ko-KR" sz="1200" b="1" kern="1200" dirty="0"/>
          </a:p>
          <a:p>
            <a:pPr marL="171450" indent="-171450" rtl="0">
              <a:buFont typeface="Symbol" panose="05050102010706020507" pitchFamily="18" charset="2"/>
              <a:buChar char="Þ"/>
            </a:pPr>
            <a:r>
              <a:rPr lang="en-US" altLang="ko-KR" b="1" dirty="0"/>
              <a:t>APISIX</a:t>
            </a:r>
            <a:r>
              <a:rPr lang="ko-KR" altLang="en-US" b="1" dirty="0"/>
              <a:t>와 </a:t>
            </a:r>
            <a:r>
              <a:rPr lang="en-US" altLang="ko-KR" b="1" dirty="0"/>
              <a:t>Envoy</a:t>
            </a:r>
            <a:r>
              <a:rPr lang="ko-KR" altLang="en-US" b="1" dirty="0"/>
              <a:t>는 </a:t>
            </a:r>
            <a:r>
              <a:rPr lang="en-US" altLang="ko-KR" b="1" dirty="0"/>
              <a:t>LLM </a:t>
            </a:r>
            <a:r>
              <a:rPr lang="ko-KR" altLang="en-US" b="1" dirty="0"/>
              <a:t>요청 앞단에서 라우팅</a:t>
            </a:r>
            <a:r>
              <a:rPr lang="en-US" altLang="ko-KR" b="1" dirty="0"/>
              <a:t>, </a:t>
            </a:r>
            <a:r>
              <a:rPr lang="ko-KR" altLang="en-US" b="1" dirty="0"/>
              <a:t>인증</a:t>
            </a:r>
            <a:r>
              <a:rPr lang="en-US" altLang="ko-KR" b="1" dirty="0"/>
              <a:t>, </a:t>
            </a:r>
            <a:r>
              <a:rPr lang="ko-KR" altLang="en-US" b="1" dirty="0"/>
              <a:t>호출 제한</a:t>
            </a:r>
            <a:r>
              <a:rPr lang="en-US" altLang="ko-KR" b="1" dirty="0"/>
              <a:t>, </a:t>
            </a:r>
            <a:r>
              <a:rPr lang="ko-KR" altLang="en-US" b="1" dirty="0"/>
              <a:t>로그 수집 등 </a:t>
            </a:r>
            <a:r>
              <a:rPr lang="en-US" altLang="ko-KR" b="1" dirty="0"/>
              <a:t>Gateway</a:t>
            </a:r>
            <a:r>
              <a:rPr lang="ko-KR" altLang="en-US" b="1" dirty="0"/>
              <a:t>의 기본 역할을 수행할 수 있다</a:t>
            </a:r>
            <a:r>
              <a:rPr lang="en-US" altLang="ko-KR" b="1" dirty="0"/>
              <a:t>. </a:t>
            </a:r>
            <a:r>
              <a:rPr lang="ko-KR" altLang="en-US" b="1" dirty="0"/>
              <a:t>다만 </a:t>
            </a:r>
            <a:r>
              <a:rPr lang="en-US" altLang="ko-KR" b="1" dirty="0"/>
              <a:t>AI </a:t>
            </a:r>
            <a:r>
              <a:rPr lang="ko-KR" altLang="en-US" b="1" dirty="0"/>
              <a:t>운영 관점에서 필요한 </a:t>
            </a:r>
            <a:r>
              <a:rPr lang="ko-KR" altLang="en-US" b="1" dirty="0" err="1"/>
              <a:t>모델별</a:t>
            </a:r>
            <a:r>
              <a:rPr lang="ko-KR" altLang="en-US" b="1" dirty="0"/>
              <a:t> 라우팅</a:t>
            </a:r>
            <a:r>
              <a:rPr lang="en-US" altLang="ko-KR" b="1" dirty="0"/>
              <a:t>, </a:t>
            </a:r>
            <a:r>
              <a:rPr lang="ko-KR" altLang="en-US" b="1" dirty="0"/>
              <a:t>토큰</a:t>
            </a:r>
            <a:r>
              <a:rPr lang="en-US" altLang="ko-KR" b="1" dirty="0"/>
              <a:t>/</a:t>
            </a:r>
            <a:r>
              <a:rPr lang="ko-KR" altLang="en-US" b="1" dirty="0"/>
              <a:t>비용 관리</a:t>
            </a:r>
            <a:r>
              <a:rPr lang="en-US" altLang="ko-KR" b="1" dirty="0"/>
              <a:t>, Provider</a:t>
            </a:r>
            <a:r>
              <a:rPr lang="ko-KR" altLang="en-US" b="1" dirty="0"/>
              <a:t>별 응답 표준화</a:t>
            </a:r>
            <a:r>
              <a:rPr lang="en-US" altLang="ko-KR" b="1" dirty="0"/>
              <a:t>, </a:t>
            </a:r>
            <a:r>
              <a:rPr lang="ko-KR" altLang="en-US" b="1" dirty="0"/>
              <a:t>모델 장애 시 </a:t>
            </a:r>
            <a:r>
              <a:rPr lang="en-US" altLang="ko-KR" b="1" dirty="0"/>
              <a:t>Fallback, </a:t>
            </a:r>
            <a:r>
              <a:rPr lang="ko-KR" altLang="en-US" b="1" dirty="0"/>
              <a:t>사용량 기반 모니터링 기능은 기본 제공 범위가 제한적이므로 별도 개발 또는 외부 시스템 연계 공수가 필요하다</a:t>
            </a:r>
            <a:r>
              <a:rPr lang="en-US" altLang="ko-KR" b="1" dirty="0"/>
              <a:t>.</a:t>
            </a:r>
            <a:endParaRPr lang="en-US" altLang="ko-KR" sz="1200" b="1" kern="1200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01A6E-2638-5AAD-0AF4-B919BCB002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1387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0068-592E-1C48-E9E0-1AF1FA89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DB2F7-3501-317E-6782-5CBE14976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71A35-B4B9-A171-5390-848D460D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0492E-6AC8-670F-70CB-EAE6130160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9519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B2F0-AC4F-012C-D09C-B7466142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2D79A-1797-3FDC-C706-77DFE97C2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69554-E5DF-B54F-7B06-93B900F3F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C3212-8B76-D5B1-DBB6-ADD607FE15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8064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7D23-520B-B1B1-66A0-06C01EF4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618C1-0082-DDBE-8DB1-E46AD9BC8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62E1D-1A77-0597-1D00-4312345F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F388-4B5F-0E0D-8CE6-755E497C9B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7102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9213-EA93-75D8-4625-E99A517A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4727D-330A-6D22-8EC1-0F31521B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4DEFE-CC84-1ABF-30CB-BB6877173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429 </a:t>
            </a:r>
            <a:r>
              <a:rPr lang="ko-KR" altLang="en-US" sz="12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또는 </a:t>
            </a:r>
            <a:r>
              <a:rPr lang="en-US" altLang="ko-KR" sz="12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quota metadata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78449-7902-D571-04FE-FD32615C65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6799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F36D-AFA4-8FE6-8947-65A6244A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D0B50-9E0E-EBBE-D1CD-910F58980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09AB1-3CFF-D9DD-6153-88D1B65F8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마스킹</a:t>
            </a:r>
            <a:r>
              <a:rPr lang="ko-KR" altLang="en-US" dirty="0"/>
              <a:t> 또는 </a:t>
            </a:r>
            <a:r>
              <a:rPr lang="en-US" altLang="ko-KR" dirty="0"/>
              <a:t>BLOCK</a:t>
            </a:r>
            <a:r>
              <a:rPr lang="ko-KR" altLang="en-US" dirty="0"/>
              <a:t>과 같은 결과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E1FA2-5A5A-65E2-FAF6-356B76B97C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292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BEE3E-948A-50D3-7446-983D6211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4E0C1-D1B7-248D-953D-9E8E58C7C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FC0E3-BBE4-CA0F-9120-58C40693A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model/provider/error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DD9F9-1E90-D070-1ECB-727BB4BD47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5664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8B4A-4952-82A5-8562-5B208AA4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4D349-4E18-7372-37BF-A3581A07C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22748-5EF0-273B-7B1B-A24630B17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22C9A-F409-45AB-3FE7-628ACB8235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957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3D7D-5864-FF7F-D894-5F534776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CE1C5-4B70-F659-7AE8-4460B288A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1DECA-48BA-F0FE-EDA5-C07990B68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20554-76B2-A7E3-2600-851C3BB03B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7462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B66F-72FF-E847-A5FE-BC0860FA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9D53A-F781-3735-F5E5-41442BF06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10A9C-1DAB-0E68-9784-F815C3188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F6C40-7A6B-275F-836D-2754278EC3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6395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8D7B-E5C8-E6BD-459E-092ACD1B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8C5E-D09F-66FC-E6EF-6B13320B3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A2CC6-0F8D-5C16-34DC-295B1CBC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F5519-CF9B-905A-4079-016C2CBBA0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3307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FD66-23AF-E905-A9DB-B4964268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70376-92E8-2A5C-C9BC-D9674BE5A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B2C3A-EBB6-3607-A7FD-B4AB73690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87F8-E448-AC20-77E2-2E09F5CA612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314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EEA7-0321-E7C1-C71E-22E7DF7F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E26EF-12A2-D830-037E-8864BF95A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8F5D9-1621-9686-4EE8-C38BAC7AF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BCFF5-265C-5B25-C7AE-091E686D78F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3099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76B3-5EFC-B567-9794-B5CED340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976A4-BDE8-BF9F-FDEE-586E67AA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6B7AF-684F-5E9E-B96E-C0B5B767C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F5D25-F904-22FB-1503-AF413FCAFC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4521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6803-7DD3-A07C-B5A4-6716CB27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4B03E-E655-509F-6D12-3A967D0DC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48265-29C0-AF93-DF6F-3E1410EAE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9A07-9F06-A4A8-1AAC-245F60B7F4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1113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E1AF-F941-471D-E00F-B43140EB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2627D-FB08-3A81-E11B-946DE4A6B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C2690-8C8C-C92C-9DB1-835493207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71182-33C6-A57B-4CFC-9CE1082014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58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836C-0731-7C1C-BC5C-71477459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C01F22-13F0-B646-34F1-5228266D4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967D01-EF8D-16D2-AFD6-077571331F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6D73ED-DDD5-DDE0-E514-22012E7C12A5}"/>
              </a:ext>
            </a:extLst>
          </p:cNvPr>
          <p:cNvSpPr>
            <a:spLocks noGrp="1"/>
          </p:cNvSpPr>
          <p:nvPr/>
        </p:nvSpPr>
        <p:spPr>
          <a:xfrm>
            <a:off x="609599" y="2028825"/>
            <a:ext cx="8982075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30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</a:t>
            </a:r>
            <a:r>
              <a:rPr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Gateway </a:t>
            </a:r>
            <a:r>
              <a:rPr lang="ko-KR" altLang="en-US"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비교</a:t>
            </a:r>
            <a:r>
              <a:rPr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 PoC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B2FAB4-6EF4-DD92-D023-5C2C04653340}"/>
              </a:ext>
            </a:extLst>
          </p:cNvPr>
          <p:cNvSpPr>
            <a:spLocks noGrp="1"/>
          </p:cNvSpPr>
          <p:nvPr/>
        </p:nvSpPr>
        <p:spPr>
          <a:xfrm>
            <a:off x="5848350" y="4795837"/>
            <a:ext cx="5248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000" b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커머스웨어</a:t>
            </a:r>
            <a:r>
              <a:rPr lang="ko-KR" altLang="en-US" sz="2000" b="1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정영희</a:t>
            </a:r>
            <a:endParaRPr sz="2000" b="1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D9829E-276C-F061-0927-B3ECF16126FB}"/>
              </a:ext>
            </a:extLst>
          </p:cNvPr>
          <p:cNvSpPr>
            <a:spLocks noGrp="1"/>
          </p:cNvSpPr>
          <p:nvPr/>
        </p:nvSpPr>
        <p:spPr>
          <a:xfrm>
            <a:off x="5857875" y="4357687"/>
            <a:ext cx="5248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000" b="1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2026.06.09</a:t>
            </a:r>
            <a:endParaRPr sz="2000" b="1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4067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414D80-5D92-4321-B2C1-C96048239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437073-7CD7-47BF-B9F7-3AA9D732FD54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247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800" b="1" dirty="0" err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목차</a:t>
            </a:r>
            <a:endParaRPr sz="28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83AE09-E6C2-4735-A7A4-9D6FD7CFE2DF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1D2F3F-2CCD-4892-B994-658DB951E88C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76200" cy="914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D77763-9BFE-4945-B357-F50EB67975DC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67DE6C-8E8F-4931-9478-7C597900D41B}"/>
              </a:ext>
            </a:extLst>
          </p:cNvPr>
          <p:cNvSpPr>
            <a:spLocks noGrp="1"/>
          </p:cNvSpPr>
          <p:nvPr/>
        </p:nvSpPr>
        <p:spPr>
          <a:xfrm>
            <a:off x="1847850" y="1943100"/>
            <a:ext cx="4848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도입 배경 및 후보</a:t>
            </a:r>
            <a:endParaRPr sz="24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A40CDE-3BCE-4369-8BA1-7479ADAAAB82}"/>
              </a:ext>
            </a:extLst>
          </p:cNvPr>
          <p:cNvSpPr>
            <a:spLocks noGrp="1"/>
          </p:cNvSpPr>
          <p:nvPr/>
        </p:nvSpPr>
        <p:spPr>
          <a:xfrm>
            <a:off x="800100" y="3152775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8A301A-519F-4546-992F-D1829F35F740}"/>
              </a:ext>
            </a:extLst>
          </p:cNvPr>
          <p:cNvSpPr>
            <a:spLocks noGrp="1"/>
          </p:cNvSpPr>
          <p:nvPr/>
        </p:nvSpPr>
        <p:spPr>
          <a:xfrm>
            <a:off x="800100" y="3152775"/>
            <a:ext cx="76200" cy="9144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D94FD9-0DA2-4AB1-8778-A1D8D9640443}"/>
              </a:ext>
            </a:extLst>
          </p:cNvPr>
          <p:cNvSpPr>
            <a:spLocks noGrp="1"/>
          </p:cNvSpPr>
          <p:nvPr/>
        </p:nvSpPr>
        <p:spPr>
          <a:xfrm>
            <a:off x="1123950" y="3419475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8D4C2-07DF-4BD9-A85D-FED315D8F44C}"/>
              </a:ext>
            </a:extLst>
          </p:cNvPr>
          <p:cNvSpPr>
            <a:spLocks noGrp="1"/>
          </p:cNvSpPr>
          <p:nvPr/>
        </p:nvSpPr>
        <p:spPr>
          <a:xfrm>
            <a:off x="800100" y="4638675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3D06C1-43DC-438E-A96A-0C72771461EA}"/>
              </a:ext>
            </a:extLst>
          </p:cNvPr>
          <p:cNvSpPr>
            <a:spLocks noGrp="1"/>
          </p:cNvSpPr>
          <p:nvPr/>
        </p:nvSpPr>
        <p:spPr>
          <a:xfrm>
            <a:off x="800100" y="4638675"/>
            <a:ext cx="76200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BEEC3-A338-4639-8C07-43B330285CFE}"/>
              </a:ext>
            </a:extLst>
          </p:cNvPr>
          <p:cNvSpPr>
            <a:spLocks noGrp="1"/>
          </p:cNvSpPr>
          <p:nvPr/>
        </p:nvSpPr>
        <p:spPr>
          <a:xfrm>
            <a:off x="1123950" y="4905375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BF7169-4E34-4422-B459-590C09FC0630}"/>
              </a:ext>
            </a:extLst>
          </p:cNvPr>
          <p:cNvSpPr>
            <a:spLocks noGrp="1"/>
          </p:cNvSpPr>
          <p:nvPr/>
        </p:nvSpPr>
        <p:spPr>
          <a:xfrm>
            <a:off x="10382250" y="6305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0B9D40-DB06-5138-C9BE-227353C5BEF3}"/>
              </a:ext>
            </a:extLst>
          </p:cNvPr>
          <p:cNvSpPr>
            <a:spLocks noGrp="1"/>
          </p:cNvSpPr>
          <p:nvPr/>
        </p:nvSpPr>
        <p:spPr>
          <a:xfrm>
            <a:off x="1809750" y="3409950"/>
            <a:ext cx="4848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  <a:endParaRPr sz="24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EDAFEF-7483-1889-00BA-2539E801C391}"/>
              </a:ext>
            </a:extLst>
          </p:cNvPr>
          <p:cNvSpPr>
            <a:spLocks noGrp="1"/>
          </p:cNvSpPr>
          <p:nvPr/>
        </p:nvSpPr>
        <p:spPr>
          <a:xfrm>
            <a:off x="1847849" y="4895850"/>
            <a:ext cx="48482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  <a:endParaRPr sz="24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900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E870DB-7D77-4877-A908-F5A4F03728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559D7E-9869-4CE4-BE37-A35C9A0C12C6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도입 배경 </a:t>
            </a:r>
            <a:endParaRPr sz="28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 Display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92ACD6-2D87-4B07-9F49-F150058936C0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9C53356-997F-BD9B-BCB6-4D8EDFBBD9C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3B7440-7B52-2A1C-EEAB-A6139D9E1BEA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904494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3C69344-8492-B7E7-DB48-BB8BF307A2BD}"/>
              </a:ext>
            </a:extLst>
          </p:cNvPr>
          <p:cNvSpPr>
            <a:spLocks noGrp="1"/>
          </p:cNvSpPr>
          <p:nvPr/>
        </p:nvSpPr>
        <p:spPr>
          <a:xfrm>
            <a:off x="857250" y="174117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90D882C-21F1-678F-6DAE-984E12596E7F}"/>
              </a:ext>
            </a:extLst>
          </p:cNvPr>
          <p:cNvSpPr>
            <a:spLocks noGrp="1"/>
          </p:cNvSpPr>
          <p:nvPr/>
        </p:nvSpPr>
        <p:spPr>
          <a:xfrm>
            <a:off x="1390650" y="1767840"/>
            <a:ext cx="794639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LLM </a:t>
            </a: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호출에 따른 운영 통제 필요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BA612E8-4840-E2D6-B622-FFD46AE14332}"/>
              </a:ext>
            </a:extLst>
          </p:cNvPr>
          <p:cNvSpPr>
            <a:spLocks noGrp="1"/>
          </p:cNvSpPr>
          <p:nvPr/>
        </p:nvSpPr>
        <p:spPr>
          <a:xfrm>
            <a:off x="637540" y="2435860"/>
            <a:ext cx="904494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2FC5886-02E3-9310-3671-F2250D2EE614}"/>
              </a:ext>
            </a:extLst>
          </p:cNvPr>
          <p:cNvSpPr>
            <a:spLocks noGrp="1"/>
          </p:cNvSpPr>
          <p:nvPr/>
        </p:nvSpPr>
        <p:spPr>
          <a:xfrm>
            <a:off x="847090" y="261493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1D8172-DAC8-9AB0-68A5-D5B0BECC9584}"/>
              </a:ext>
            </a:extLst>
          </p:cNvPr>
          <p:cNvSpPr>
            <a:spLocks noGrp="1"/>
          </p:cNvSpPr>
          <p:nvPr/>
        </p:nvSpPr>
        <p:spPr>
          <a:xfrm>
            <a:off x="1380490" y="2641600"/>
            <a:ext cx="794639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모델</a:t>
            </a:r>
            <a:r>
              <a:rPr lang="en-US" altLang="ko-KR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/provider </a:t>
            </a: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변경 대응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546A2A-4CD6-FEDE-3A1A-F96E3698F1BD}"/>
              </a:ext>
            </a:extLst>
          </p:cNvPr>
          <p:cNvSpPr>
            <a:spLocks noGrp="1"/>
          </p:cNvSpPr>
          <p:nvPr/>
        </p:nvSpPr>
        <p:spPr>
          <a:xfrm>
            <a:off x="637540" y="3319780"/>
            <a:ext cx="904494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767ECD1-DAE6-7B8F-A625-314D7D112A52}"/>
              </a:ext>
            </a:extLst>
          </p:cNvPr>
          <p:cNvSpPr>
            <a:spLocks noGrp="1"/>
          </p:cNvSpPr>
          <p:nvPr/>
        </p:nvSpPr>
        <p:spPr>
          <a:xfrm>
            <a:off x="847090" y="34988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A490230-9CC4-48D5-F609-D4AD0143227D}"/>
              </a:ext>
            </a:extLst>
          </p:cNvPr>
          <p:cNvSpPr>
            <a:spLocks noGrp="1"/>
          </p:cNvSpPr>
          <p:nvPr/>
        </p:nvSpPr>
        <p:spPr>
          <a:xfrm>
            <a:off x="1380490" y="3525520"/>
            <a:ext cx="794639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비용</a:t>
            </a:r>
            <a:r>
              <a:rPr lang="en-US" altLang="ko-KR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쿼터 통제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9EBF2DF-7586-4217-697B-87C830E64828}"/>
              </a:ext>
            </a:extLst>
          </p:cNvPr>
          <p:cNvSpPr>
            <a:spLocks noGrp="1"/>
          </p:cNvSpPr>
          <p:nvPr/>
        </p:nvSpPr>
        <p:spPr>
          <a:xfrm>
            <a:off x="637540" y="4203700"/>
            <a:ext cx="904494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3EFBC4-F6B6-B889-C1BC-29D42DA63BE1}"/>
              </a:ext>
            </a:extLst>
          </p:cNvPr>
          <p:cNvSpPr>
            <a:spLocks noGrp="1"/>
          </p:cNvSpPr>
          <p:nvPr/>
        </p:nvSpPr>
        <p:spPr>
          <a:xfrm>
            <a:off x="847090" y="438277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4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C67A4E5-38D1-49C6-FB85-511305044FF3}"/>
              </a:ext>
            </a:extLst>
          </p:cNvPr>
          <p:cNvSpPr>
            <a:spLocks noGrp="1"/>
          </p:cNvSpPr>
          <p:nvPr/>
        </p:nvSpPr>
        <p:spPr>
          <a:xfrm>
            <a:off x="1380490" y="4409440"/>
            <a:ext cx="794639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dirty="0"/>
              <a:t>개인정보</a:t>
            </a:r>
            <a:r>
              <a:rPr lang="en-US" altLang="ko-KR" sz="1500" dirty="0"/>
              <a:t>/</a:t>
            </a:r>
            <a:r>
              <a:rPr lang="ko-KR" altLang="en-US" sz="1500" dirty="0"/>
              <a:t>보안 정책 적용</a:t>
            </a:r>
          </a:p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0E2A3F-6D11-9685-F721-88EB865042CC}"/>
              </a:ext>
            </a:extLst>
          </p:cNvPr>
          <p:cNvSpPr>
            <a:spLocks noGrp="1"/>
          </p:cNvSpPr>
          <p:nvPr/>
        </p:nvSpPr>
        <p:spPr>
          <a:xfrm>
            <a:off x="637540" y="5087620"/>
            <a:ext cx="904494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97EEDC5-05E3-B104-672D-B1374AF6B155}"/>
              </a:ext>
            </a:extLst>
          </p:cNvPr>
          <p:cNvSpPr>
            <a:spLocks noGrp="1"/>
          </p:cNvSpPr>
          <p:nvPr/>
        </p:nvSpPr>
        <p:spPr>
          <a:xfrm>
            <a:off x="847090" y="526669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5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43D75E8-EB2C-FC4A-5F4B-78C9F927BE60}"/>
              </a:ext>
            </a:extLst>
          </p:cNvPr>
          <p:cNvSpPr>
            <a:spLocks noGrp="1"/>
          </p:cNvSpPr>
          <p:nvPr/>
        </p:nvSpPr>
        <p:spPr>
          <a:xfrm>
            <a:off x="1380490" y="5293360"/>
            <a:ext cx="794639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dirty="0"/>
              <a:t>호출 로그</a:t>
            </a:r>
            <a:r>
              <a:rPr lang="en-US" altLang="ko-KR" sz="1500" dirty="0"/>
              <a:t>/</a:t>
            </a:r>
            <a:r>
              <a:rPr lang="ko-KR" altLang="en-US" sz="1500" dirty="0"/>
              <a:t>모니터링</a:t>
            </a:r>
            <a:r>
              <a:rPr lang="en-US" altLang="ko-KR" sz="1500" dirty="0"/>
              <a:t>/</a:t>
            </a:r>
            <a:r>
              <a:rPr lang="ko-KR" altLang="en-US" sz="1500" dirty="0"/>
              <a:t>장애 추적 필요성</a:t>
            </a:r>
          </a:p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0422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748C-43B0-3442-7E34-26F27423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945CF9-8B4F-4368-DD46-9D898AB1BB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9AF73F-DAA2-5B72-1C55-0768B8A8A377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비교</a:t>
            </a:r>
            <a:endParaRPr sz="28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 Display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269D6F-724D-4C9A-F4B1-2FD0B45A606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915BB9-1C34-0552-E431-46DCFA68A008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4E02278-BE9A-6A78-103B-3286E632A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222061"/>
              </p:ext>
            </p:extLst>
          </p:nvPr>
        </p:nvGraphicFramePr>
        <p:xfrm>
          <a:off x="752474" y="1379422"/>
          <a:ext cx="10768965" cy="4521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086">
                  <a:extLst>
                    <a:ext uri="{9D8B030D-6E8A-4147-A177-3AD203B41FA5}">
                      <a16:colId xmlns:a16="http://schemas.microsoft.com/office/drawing/2014/main" val="272656275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456667958"/>
                    </a:ext>
                  </a:extLst>
                </a:gridCol>
                <a:gridCol w="3175253">
                  <a:extLst>
                    <a:ext uri="{9D8B030D-6E8A-4147-A177-3AD203B41FA5}">
                      <a16:colId xmlns:a16="http://schemas.microsoft.com/office/drawing/2014/main" val="3820826106"/>
                    </a:ext>
                  </a:extLst>
                </a:gridCol>
                <a:gridCol w="2600707">
                  <a:extLst>
                    <a:ext uri="{9D8B030D-6E8A-4147-A177-3AD203B41FA5}">
                      <a16:colId xmlns:a16="http://schemas.microsoft.com/office/drawing/2014/main" val="51824195"/>
                    </a:ext>
                  </a:extLst>
                </a:gridCol>
                <a:gridCol w="1706879">
                  <a:extLst>
                    <a:ext uri="{9D8B030D-6E8A-4147-A177-3AD203B41FA5}">
                      <a16:colId xmlns:a16="http://schemas.microsoft.com/office/drawing/2014/main" val="1424639554"/>
                    </a:ext>
                  </a:extLst>
                </a:gridCol>
              </a:tblGrid>
              <a:tr h="6461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821316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LiteLLM</a:t>
                      </a:r>
                      <a:endParaRPr lang="en-US" altLang="ko-KR" sz="1400" b="0" dirty="0">
                        <a:solidFill>
                          <a:srgbClr val="33415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Self-host 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OpenAI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호환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, provider routing, budget/rate limit, observability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운영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DB/key/provider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비용 정책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OSS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무료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+ provider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98207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Portkey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OSS + SaaS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250+ LLM unified endpoint, fallback/load balancing/retry,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모델 가격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SaaS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기능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운영 요금 확인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OSS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가능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, </a:t>
                      </a:r>
                    </a:p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관리형은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024333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Cloudflare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Managed SaaS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analytics, caching, rate limiting, DLP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일부 무료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, Cloudflare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생태계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계정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 err="1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외부망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로그 저장 한도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유료 기능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핵심 기능 무료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,</a:t>
                      </a:r>
                    </a:p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일부 유료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892547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OpenRouter</a:t>
                      </a:r>
                      <a:endParaRPr lang="en-US" altLang="ko-KR" sz="1400" b="0" dirty="0">
                        <a:solidFill>
                          <a:srgbClr val="33415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Model marketplace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400+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모델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다수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provider, auto routing, budget/spend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무료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plan rate limit,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운영 과금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데이터 정책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무료 모델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+ PAYG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368115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Kong AI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API Gateway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Kong plugin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생태계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, AI Proxy,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보안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관측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거버넌스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Enterprise/Plugin 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범위와 라이선스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OSS/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유료 혼재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04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61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91E0-56FA-1A86-4548-BC5534B8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D0C32E-BC26-7E08-0F66-28509D483D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D64302-44EB-B1A0-FC10-B24BBF39F7D3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Gateway PoC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후보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D04687-3465-81BF-1A33-C7E00F37900F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039126-0744-3AA1-888E-B7A09DA3DA0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A534214-2F86-01F2-E0AF-AD0D2338E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056546"/>
              </p:ext>
            </p:extLst>
          </p:nvPr>
        </p:nvGraphicFramePr>
        <p:xfrm>
          <a:off x="752475" y="1323974"/>
          <a:ext cx="10515600" cy="4363188"/>
        </p:xfrm>
        <a:graphic>
          <a:graphicData uri="http://schemas.openxmlformats.org/drawingml/2006/table">
            <a:tbl>
              <a:tblPr/>
              <a:tblGrid>
                <a:gridCol w="1503045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3084195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범용 </a:t>
                      </a: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Infra / Network Proxy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/ LLM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트래픽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간 트래픽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비교적 맞음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  <a:tr h="73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라우팅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고성능 프록시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라우팅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Provider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80189"/>
                  </a:ext>
                </a:extLst>
              </a:tr>
              <a:tr h="1102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PoC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프록시로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트래픽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Gateway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 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6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F5F1-DB98-AFD0-1F8C-C236CFF7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770AE4-EA90-FFE9-9DC2-B5D521265B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BB83BD-C265-88CB-EC10-E5A01E512D17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Gateway PoC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후보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E616BC-BE7C-AD48-A9A9-1835E46619B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09B9AF-B5DB-1534-AE2D-BDC8A9D4F0B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C818309-2151-7429-2073-1702AC181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603005"/>
              </p:ext>
            </p:extLst>
          </p:nvPr>
        </p:nvGraphicFramePr>
        <p:xfrm>
          <a:off x="752474" y="1323974"/>
          <a:ext cx="10729611" cy="4884171"/>
        </p:xfrm>
        <a:graphic>
          <a:graphicData uri="http://schemas.openxmlformats.org/drawingml/2006/table">
            <a:tbl>
              <a:tblPr/>
              <a:tblGrid>
                <a:gridCol w="2094898">
                  <a:extLst>
                    <a:ext uri="{9D8B030D-6E8A-4147-A177-3AD203B41FA5}">
                      <a16:colId xmlns:a16="http://schemas.microsoft.com/office/drawing/2014/main" val="419276930"/>
                    </a:ext>
                  </a:extLst>
                </a:gridCol>
                <a:gridCol w="4502552">
                  <a:extLst>
                    <a:ext uri="{9D8B030D-6E8A-4147-A177-3AD203B41FA5}">
                      <a16:colId xmlns:a16="http://schemas.microsoft.com/office/drawing/2014/main" val="3812764385"/>
                    </a:ext>
                  </a:extLst>
                </a:gridCol>
                <a:gridCol w="4132161">
                  <a:extLst>
                    <a:ext uri="{9D8B030D-6E8A-4147-A177-3AD203B41FA5}">
                      <a16:colId xmlns:a16="http://schemas.microsoft.com/office/drawing/2014/main" val="3634034196"/>
                    </a:ext>
                  </a:extLst>
                </a:gridCol>
              </a:tblGrid>
              <a:tr h="493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기능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 / Envoy</a:t>
                      </a: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할 때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할 때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257585"/>
                  </a:ext>
                </a:extLst>
              </a:tr>
              <a:tr h="669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모델별</a:t>
                      </a: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라우팅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URL/Header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라우팅은 가능하나 모델 정책은 직접 설계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모델명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/Provider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라우팅 가능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69026"/>
                  </a:ext>
                </a:extLst>
              </a:tr>
              <a:tr h="468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Provider </a:t>
                      </a:r>
                      <a:r>
                        <a:rPr lang="ko-KR" altLang="en-US" sz="1600" b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OpenAI, Claude, Gemini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차이를 직접 맞춰야 함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OpenAI-compatible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방식으로 통합 가능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429058"/>
                  </a:ext>
                </a:extLst>
              </a:tr>
              <a:tr h="468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사용량 집계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본문 파싱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DB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집계 로직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spend/budget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추적 기능 제공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862184"/>
                  </a:ext>
                </a:extLst>
              </a:tr>
              <a:tr h="468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관리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모델별 단가 테이블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사용량 계산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월별 한도 직접 구현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 단위 예산 관리 가능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09726"/>
                  </a:ext>
                </a:extLst>
              </a:tr>
              <a:tr h="669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Fallback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장애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fallback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가능하나 “모델 실패 시 대체 모델” 정책은 직접 구성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그룹 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fallback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42015"/>
                  </a:ext>
                </a:extLst>
              </a:tr>
              <a:tr h="669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Prompt/Response </a:t>
                      </a: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로그는 가능하나 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분석용 로그 구조는 별도 설계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 중심 관리에 유리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68668"/>
                  </a:ext>
                </a:extLst>
              </a:tr>
              <a:tr h="267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화면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</a:t>
                      </a: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Admin/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 UI/</a:t>
                      </a:r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기능 활용 가능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55962"/>
                  </a:ext>
                </a:extLst>
              </a:tr>
              <a:tr h="669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 정책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Key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인증은 가능하나 사용자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모델별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정책은 별도 구현 필요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단위 정책 관리에 유리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3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44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3101-BBB2-F814-95A4-347B28F1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D021933-9A02-C831-C292-8EBE817339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0721CA-F79C-43A2-D7F0-9FD2CC6818D3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256BC1-DEE8-8911-A78D-0FAC4C3CFDBD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D4A2FE-F490-1691-2943-C3E2E0B05B1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BB012E2-7AF7-A15D-A72B-E3DF7EB06951}"/>
              </a:ext>
            </a:extLst>
          </p:cNvPr>
          <p:cNvGrpSpPr/>
          <p:nvPr/>
        </p:nvGrpSpPr>
        <p:grpSpPr>
          <a:xfrm>
            <a:off x="1021715" y="1684329"/>
            <a:ext cx="2206625" cy="923330"/>
            <a:chOff x="1095375" y="1666240"/>
            <a:chExt cx="2206625" cy="11176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386CC1A-9A64-8152-A08E-09AE67DD3D20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57324B4-4659-EB36-50B0-A46229A98F01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97669C-276A-BB39-82D8-471E783D135F}"/>
                </a:ext>
              </a:extLst>
            </p:cNvPr>
            <p:cNvSpPr txBox="1"/>
            <p:nvPr/>
          </p:nvSpPr>
          <p:spPr>
            <a:xfrm>
              <a:off x="1153160" y="1839602"/>
              <a:ext cx="2087880" cy="4842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service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99FA207-16AE-41AD-CEBF-7D85F08D0F8C}"/>
              </a:ext>
            </a:extLst>
          </p:cNvPr>
          <p:cNvGrpSpPr/>
          <p:nvPr/>
        </p:nvGrpSpPr>
        <p:grpSpPr>
          <a:xfrm>
            <a:off x="4649129" y="1684329"/>
            <a:ext cx="2206625" cy="923330"/>
            <a:chOff x="1095375" y="1666240"/>
            <a:chExt cx="2206625" cy="11176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8CC0B4-3F19-6D85-7B94-083BF7BAD799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0F00C7-5D81-CD5B-B8DE-4C2CFCE61C71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0964D9-5FFD-F435-08EE-04AFFAC0C4B6}"/>
                </a:ext>
              </a:extLst>
            </p:cNvPr>
            <p:cNvSpPr txBox="1"/>
            <p:nvPr/>
          </p:nvSpPr>
          <p:spPr>
            <a:xfrm>
              <a:off x="1153160" y="1839602"/>
              <a:ext cx="2087880" cy="4842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gateway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F63549A-9259-922E-A2A4-D4306FA4796A}"/>
              </a:ext>
            </a:extLst>
          </p:cNvPr>
          <p:cNvGrpSpPr/>
          <p:nvPr/>
        </p:nvGrpSpPr>
        <p:grpSpPr>
          <a:xfrm>
            <a:off x="8276543" y="1684329"/>
            <a:ext cx="2206625" cy="923330"/>
            <a:chOff x="1095375" y="1666240"/>
            <a:chExt cx="2206625" cy="11176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25A35E-C0EE-52DD-A086-82ACE2641460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B97B7F6-EEB0-E650-064F-1083D7F16BF9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51C4B0-488D-DAA0-65FB-693E124BB6FD}"/>
                </a:ext>
              </a:extLst>
            </p:cNvPr>
            <p:cNvSpPr txBox="1"/>
            <p:nvPr/>
          </p:nvSpPr>
          <p:spPr>
            <a:xfrm>
              <a:off x="1153160" y="1839602"/>
              <a:ext cx="2087880" cy="4842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mock </a:t>
              </a:r>
              <a:r>
                <a:rPr lang="en-US" altLang="ko-KR" sz="2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llm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7E6A11-8567-9B7E-0785-4A3110254387}"/>
              </a:ext>
            </a:extLst>
          </p:cNvPr>
          <p:cNvSpPr>
            <a:spLocks noGrp="1"/>
          </p:cNvSpPr>
          <p:nvPr/>
        </p:nvSpPr>
        <p:spPr>
          <a:xfrm>
            <a:off x="4349543" y="2867450"/>
            <a:ext cx="2902770" cy="168442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362352-9676-E165-B967-74D871E8A169}"/>
              </a:ext>
            </a:extLst>
          </p:cNvPr>
          <p:cNvSpPr>
            <a:spLocks noGrp="1"/>
          </p:cNvSpPr>
          <p:nvPr/>
        </p:nvSpPr>
        <p:spPr>
          <a:xfrm>
            <a:off x="4500631" y="3057951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C4248C-41E5-80A3-FE77-20A3B5F492B0}"/>
              </a:ext>
            </a:extLst>
          </p:cNvPr>
          <p:cNvSpPr>
            <a:spLocks noGrp="1"/>
          </p:cNvSpPr>
          <p:nvPr/>
        </p:nvSpPr>
        <p:spPr>
          <a:xfrm>
            <a:off x="4595881" y="3115101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B27F06-69EC-198F-7250-C0E0F740CFBB}"/>
              </a:ext>
            </a:extLst>
          </p:cNvPr>
          <p:cNvSpPr>
            <a:spLocks noGrp="1"/>
          </p:cNvSpPr>
          <p:nvPr/>
        </p:nvSpPr>
        <p:spPr>
          <a:xfrm>
            <a:off x="5757931" y="3088669"/>
            <a:ext cx="117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route + plugins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5C5589C-315A-6F3C-F678-73F23A4B2673}"/>
              </a:ext>
            </a:extLst>
          </p:cNvPr>
          <p:cNvSpPr>
            <a:spLocks noGrp="1"/>
          </p:cNvSpPr>
          <p:nvPr/>
        </p:nvSpPr>
        <p:spPr>
          <a:xfrm>
            <a:off x="4500631" y="3507932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2DBD86-712E-1A41-8CB2-5DD1E5BB00EE}"/>
              </a:ext>
            </a:extLst>
          </p:cNvPr>
          <p:cNvSpPr>
            <a:spLocks noGrp="1"/>
          </p:cNvSpPr>
          <p:nvPr/>
        </p:nvSpPr>
        <p:spPr>
          <a:xfrm>
            <a:off x="4595881" y="3565082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2725F4-1293-C6B4-BB04-C33D54A86E14}"/>
              </a:ext>
            </a:extLst>
          </p:cNvPr>
          <p:cNvSpPr>
            <a:spLocks noGrp="1"/>
          </p:cNvSpPr>
          <p:nvPr/>
        </p:nvSpPr>
        <p:spPr>
          <a:xfrm>
            <a:off x="5757931" y="3496437"/>
            <a:ext cx="12301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route + Lua filter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71C0C4-786D-AC85-7E30-0CF445479BBF}"/>
              </a:ext>
            </a:extLst>
          </p:cNvPr>
          <p:cNvSpPr>
            <a:spLocks noGrp="1"/>
          </p:cNvSpPr>
          <p:nvPr/>
        </p:nvSpPr>
        <p:spPr>
          <a:xfrm>
            <a:off x="4500631" y="3951870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AAA41C-A970-E68F-CB62-F61245F0B0EA}"/>
              </a:ext>
            </a:extLst>
          </p:cNvPr>
          <p:cNvSpPr>
            <a:spLocks noGrp="1"/>
          </p:cNvSpPr>
          <p:nvPr/>
        </p:nvSpPr>
        <p:spPr>
          <a:xfrm>
            <a:off x="4595881" y="400902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LiteLLM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1C45D63-BA0F-A664-874D-E9DAF881702C}"/>
              </a:ext>
            </a:extLst>
          </p:cNvPr>
          <p:cNvSpPr>
            <a:spLocks noGrp="1"/>
          </p:cNvSpPr>
          <p:nvPr/>
        </p:nvSpPr>
        <p:spPr>
          <a:xfrm>
            <a:off x="5719831" y="3998150"/>
            <a:ext cx="1532481" cy="3860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OpenAI-compatible</a:t>
            </a:r>
            <a:endParaRPr lang="en-US" sz="1200" b="1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LLM proxy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C876E8-3961-26CA-B5CA-AA0F5D24BD1E}"/>
              </a:ext>
            </a:extLst>
          </p:cNvPr>
          <p:cNvSpPr>
            <a:spLocks noGrp="1"/>
          </p:cNvSpPr>
          <p:nvPr/>
        </p:nvSpPr>
        <p:spPr>
          <a:xfrm>
            <a:off x="8023982" y="2873234"/>
            <a:ext cx="2902770" cy="9233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1B93F3-1200-3DB2-870D-6EF34E943437}"/>
              </a:ext>
            </a:extLst>
          </p:cNvPr>
          <p:cNvSpPr>
            <a:spLocks noGrp="1"/>
          </p:cNvSpPr>
          <p:nvPr/>
        </p:nvSpPr>
        <p:spPr>
          <a:xfrm>
            <a:off x="675104" y="2867450"/>
            <a:ext cx="2902770" cy="1898253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88730E1-F156-0B5D-8896-054AF793BEDD}"/>
              </a:ext>
            </a:extLst>
          </p:cNvPr>
          <p:cNvCxnSpPr>
            <a:cxnSpLocks/>
          </p:cNvCxnSpPr>
          <p:nvPr/>
        </p:nvCxnSpPr>
        <p:spPr>
          <a:xfrm>
            <a:off x="6837974" y="2145994"/>
            <a:ext cx="142078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DC81D8F-0E9A-C8F7-1305-2AF54E6C5E5F}"/>
              </a:ext>
            </a:extLst>
          </p:cNvPr>
          <p:cNvCxnSpPr>
            <a:cxnSpLocks/>
          </p:cNvCxnSpPr>
          <p:nvPr/>
        </p:nvCxnSpPr>
        <p:spPr>
          <a:xfrm>
            <a:off x="3210560" y="2188868"/>
            <a:ext cx="14385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924F58-B26A-BECC-652B-08EB1A534AB6}"/>
              </a:ext>
            </a:extLst>
          </p:cNvPr>
          <p:cNvSpPr txBox="1"/>
          <p:nvPr/>
        </p:nvSpPr>
        <p:spPr>
          <a:xfrm>
            <a:off x="675104" y="3034894"/>
            <a:ext cx="2902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전송할 데이터 기입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ctr">
              <a:buAutoNum type="arabicPeriod"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개인정보처리와 같은 정책 반영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ctr">
              <a:buAutoNum type="arabicPeriod"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Gateway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ctr">
              <a:buAutoNum type="arabicPeriod"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전송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90A79E-4DEF-44AB-90E6-A6715E1C8BAF}"/>
              </a:ext>
            </a:extLst>
          </p:cNvPr>
          <p:cNvSpPr txBox="1"/>
          <p:nvPr/>
        </p:nvSpPr>
        <p:spPr>
          <a:xfrm>
            <a:off x="8023982" y="3042509"/>
            <a:ext cx="290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전달받은 데이터를 가공한 후 재 전송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094BB01-1387-CD70-B44B-821D9C1E109B}"/>
              </a:ext>
            </a:extLst>
          </p:cNvPr>
          <p:cNvSpPr>
            <a:spLocks noGrp="1"/>
          </p:cNvSpPr>
          <p:nvPr/>
        </p:nvSpPr>
        <p:spPr>
          <a:xfrm>
            <a:off x="675103" y="4962590"/>
            <a:ext cx="2902770" cy="94910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E6D0EC-A101-97CA-300F-DE21AE15E1C4}"/>
              </a:ext>
            </a:extLst>
          </p:cNvPr>
          <p:cNvSpPr txBox="1"/>
          <p:nvPr/>
        </p:nvSpPr>
        <p:spPr>
          <a:xfrm>
            <a:off x="675103" y="5130033"/>
            <a:ext cx="2902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반환된 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전달 받음</a:t>
            </a:r>
          </a:p>
        </p:txBody>
      </p:sp>
    </p:spTree>
    <p:extLst>
      <p:ext uri="{BB962C8B-B14F-4D97-AF65-F5344CB8AC3E}">
        <p14:creationId xmlns:p14="http://schemas.microsoft.com/office/powerpoint/2010/main" val="82873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4152-6BCF-DA19-0BA5-C65AB307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CDD5C8-D8B8-02BE-A055-5F5E01D41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2A26A7-8C10-2CE9-D4DF-166321D0A63B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9210F4-F600-2473-2590-8AB52B2DBE7F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FC714D8-471C-BB42-9234-E2BF894CF2F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3BF8F9-F58D-FDF0-B3FB-A21F615FC5A6}"/>
              </a:ext>
            </a:extLst>
          </p:cNvPr>
          <p:cNvSpPr>
            <a:spLocks noGrp="1"/>
          </p:cNvSpPr>
          <p:nvPr/>
        </p:nvSpPr>
        <p:spPr>
          <a:xfrm>
            <a:off x="1029970" y="108077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검증 케이스 </a:t>
            </a:r>
            <a:r>
              <a:rPr lang="en-US" altLang="ko-KR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라우팅 성공 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(</a:t>
            </a:r>
            <a:r>
              <a:rPr lang="en-US" altLang="ko-KR" sz="1350" dirty="0"/>
              <a:t>Gateway</a:t>
            </a:r>
            <a:r>
              <a:rPr lang="ko-KR" altLang="en-US" sz="1350" dirty="0"/>
              <a:t>가 정상 경로를 받아 </a:t>
            </a:r>
            <a:r>
              <a:rPr lang="en-US" altLang="ko-KR" sz="1350" dirty="0"/>
              <a:t>Mock LLM</a:t>
            </a:r>
            <a:r>
              <a:rPr lang="ko-KR" altLang="en-US" sz="1350" dirty="0"/>
              <a:t>까지 전달할 수 있는지 확인</a:t>
            </a:r>
            <a:r>
              <a:rPr lang="en-US" altLang="ko-KR" sz="1350" dirty="0"/>
              <a:t>)</a:t>
            </a:r>
            <a:endParaRPr sz="1350" b="1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7A8A97-7448-AFE7-D126-AC6211DEF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47101"/>
              </p:ext>
            </p:extLst>
          </p:nvPr>
        </p:nvGraphicFramePr>
        <p:xfrm>
          <a:off x="985519" y="3086608"/>
          <a:ext cx="10282556" cy="2520696"/>
        </p:xfrm>
        <a:graphic>
          <a:graphicData uri="http://schemas.openxmlformats.org/drawingml/2006/table">
            <a:tbl>
              <a:tblPr/>
              <a:tblGrid>
                <a:gridCol w="1485227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4621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11867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2939248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BEFFB6-8B65-597D-D3EA-DEC80F164885}"/>
              </a:ext>
            </a:extLst>
          </p:cNvPr>
          <p:cNvSpPr>
            <a:spLocks noGrp="1"/>
          </p:cNvSpPr>
          <p:nvPr/>
        </p:nvSpPr>
        <p:spPr>
          <a:xfrm>
            <a:off x="985519" y="6127877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주의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: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지연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시간은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로컬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단일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실행값이며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벤치마크가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검증용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신호입니다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4073FC4-F744-68A7-344A-7BB413ADC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1783"/>
              </p:ext>
            </p:extLst>
          </p:nvPr>
        </p:nvGraphicFramePr>
        <p:xfrm>
          <a:off x="985519" y="1536446"/>
          <a:ext cx="10282555" cy="1260348"/>
        </p:xfrm>
        <a:graphic>
          <a:graphicData uri="http://schemas.openxmlformats.org/drawingml/2006/table">
            <a:tbl>
              <a:tblPr/>
              <a:tblGrid>
                <a:gridCol w="499589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5286661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운영에서의 의미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경로 구성 방식 차이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배포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롤백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경로 충돌 리스크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96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22DC-4768-0D25-5E7D-F7AA78FA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7FE265-A941-2C97-D079-BC55A3492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7CF254-4743-3A88-8CEE-64473EDAA93D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F5FA98-5F60-E26F-7699-6D19C9DD767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DFF270-14F3-171F-0713-8847386AE8A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DD53CA-C633-ECA8-3BC8-659DF94093C8}"/>
              </a:ext>
            </a:extLst>
          </p:cNvPr>
          <p:cNvSpPr>
            <a:spLocks noGrp="1"/>
          </p:cNvSpPr>
          <p:nvPr/>
        </p:nvSpPr>
        <p:spPr>
          <a:xfrm>
            <a:off x="1029970" y="108077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검증 케이스 </a:t>
            </a:r>
            <a:r>
              <a:rPr lang="en-US" altLang="ko-KR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접근 통제 실패 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(</a:t>
            </a:r>
            <a:r>
              <a:rPr lang="en-US" altLang="ko-KR" sz="1350" dirty="0"/>
              <a:t>API key </a:t>
            </a:r>
            <a:r>
              <a:rPr lang="ko-KR" altLang="en-US" sz="1350" dirty="0"/>
              <a:t>누락</a:t>
            </a:r>
            <a:r>
              <a:rPr lang="en-US" altLang="ko-KR" sz="1350" dirty="0"/>
              <a:t>/</a:t>
            </a:r>
            <a:r>
              <a:rPr lang="ko-KR" altLang="en-US" sz="1350" dirty="0"/>
              <a:t>오류를 </a:t>
            </a:r>
            <a:r>
              <a:rPr lang="en-US" altLang="ko-KR" sz="1350" dirty="0"/>
              <a:t>Gateway </a:t>
            </a:r>
            <a:r>
              <a:rPr lang="ko-KR" altLang="en-US" sz="1350" dirty="0"/>
              <a:t>단계에서 차단할 수 있는지 확인</a:t>
            </a:r>
            <a:r>
              <a:rPr lang="en-US" altLang="ko-KR" sz="1350" dirty="0"/>
              <a:t>)</a:t>
            </a:r>
            <a:endParaRPr sz="1350" b="1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49BD283-4888-9955-C932-E93A63505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58047"/>
              </p:ext>
            </p:extLst>
          </p:nvPr>
        </p:nvGraphicFramePr>
        <p:xfrm>
          <a:off x="985519" y="3086608"/>
          <a:ext cx="10282556" cy="2520696"/>
        </p:xfrm>
        <a:graphic>
          <a:graphicData uri="http://schemas.openxmlformats.org/drawingml/2006/table">
            <a:tbl>
              <a:tblPr/>
              <a:tblGrid>
                <a:gridCol w="1485227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4621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11867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2939248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401 / BLOCKED_BY_KEY_AUTH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401 / BLOCKED_BY_KEY_AUTH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401 / BLOCKED_BY_KEY_AUTH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미도달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미도달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미도달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6DCBD7E4-76F6-AF7E-A8EC-2092D15BA641}"/>
              </a:ext>
            </a:extLst>
          </p:cNvPr>
          <p:cNvSpPr>
            <a:spLocks noGrp="1"/>
          </p:cNvSpPr>
          <p:nvPr/>
        </p:nvSpPr>
        <p:spPr>
          <a:xfrm>
            <a:off x="985519" y="6127877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주의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: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지연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시간은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로컬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단일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실행값이며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벤치마크가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검증용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신호입니다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0B398D8-D930-7477-7E72-64781AF1F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056506"/>
              </p:ext>
            </p:extLst>
          </p:nvPr>
        </p:nvGraphicFramePr>
        <p:xfrm>
          <a:off x="985519" y="1536446"/>
          <a:ext cx="10282555" cy="1260348"/>
        </p:xfrm>
        <a:graphic>
          <a:graphicData uri="http://schemas.openxmlformats.org/drawingml/2006/table">
            <a:tbl>
              <a:tblPr/>
              <a:tblGrid>
                <a:gridCol w="499589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5286661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운영에서의 의미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plugin/filter/provider 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보안 정책을 어디서 관리할지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7606E571-8E54-CBA7-982C-928F92512550}"/>
              </a:ext>
            </a:extLst>
          </p:cNvPr>
          <p:cNvSpPr>
            <a:spLocks noGrp="1"/>
          </p:cNvSpPr>
          <p:nvPr/>
        </p:nvSpPr>
        <p:spPr>
          <a:xfrm>
            <a:off x="971550" y="5883402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05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BLOCKED_BY_KEY_AUTH : key </a:t>
            </a:r>
            <a:r>
              <a:rPr lang="ko-KR" altLang="en-US" sz="105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누락</a:t>
            </a:r>
            <a:r>
              <a:rPr lang="en-US" altLang="ko-KR" sz="105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</a:t>
            </a:r>
            <a:r>
              <a:rPr lang="ko-KR" altLang="en-US" sz="105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오류 응답</a:t>
            </a:r>
          </a:p>
        </p:txBody>
      </p:sp>
    </p:spTree>
    <p:extLst>
      <p:ext uri="{BB962C8B-B14F-4D97-AF65-F5344CB8AC3E}">
        <p14:creationId xmlns:p14="http://schemas.microsoft.com/office/powerpoint/2010/main" val="187492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ABE77-2675-8C9E-73AE-A453E6A2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4A972A-E037-31ED-5BF9-49A7908C4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705233-B031-8E49-07E2-9A5EAF70FA83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81E72E-B2D4-4CF7-36A8-50577E611CC5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853B36-E10E-74C1-ED7F-3B138FDFD4D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D2FE3F-3FF9-DC35-5D83-424579740C72}"/>
              </a:ext>
            </a:extLst>
          </p:cNvPr>
          <p:cNvSpPr>
            <a:spLocks noGrp="1"/>
          </p:cNvSpPr>
          <p:nvPr/>
        </p:nvSpPr>
        <p:spPr>
          <a:xfrm>
            <a:off x="1029970" y="108077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검증 케이스 </a:t>
            </a:r>
            <a:r>
              <a:rPr lang="en-US" altLang="ko-KR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호출 제한 실패 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(</a:t>
            </a:r>
            <a:r>
              <a:rPr lang="ko-KR" altLang="en-US" sz="1350" dirty="0"/>
              <a:t>사용량 초과 요청을 </a:t>
            </a:r>
            <a:r>
              <a:rPr lang="en-US" altLang="ko-KR" sz="1350" dirty="0"/>
              <a:t>Gateway</a:t>
            </a:r>
            <a:r>
              <a:rPr lang="ko-KR" altLang="en-US" sz="1350" dirty="0"/>
              <a:t>에서 막을 수 있는지 확인</a:t>
            </a:r>
            <a:r>
              <a:rPr lang="en-US" altLang="ko-KR" sz="1350" dirty="0"/>
              <a:t>)</a:t>
            </a:r>
            <a:endParaRPr sz="1350" b="1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41CC65-C63D-E25F-6FAE-0C5CE41D1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413850"/>
              </p:ext>
            </p:extLst>
          </p:nvPr>
        </p:nvGraphicFramePr>
        <p:xfrm>
          <a:off x="985519" y="3086608"/>
          <a:ext cx="10282556" cy="2520696"/>
        </p:xfrm>
        <a:graphic>
          <a:graphicData uri="http://schemas.openxmlformats.org/drawingml/2006/table">
            <a:tbl>
              <a:tblPr/>
              <a:tblGrid>
                <a:gridCol w="1485227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4621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11867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2939248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429 / RATE_LIMITED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미도달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38DB2BDA-76A4-09FB-4696-F3DA0198ECF6}"/>
              </a:ext>
            </a:extLst>
          </p:cNvPr>
          <p:cNvSpPr>
            <a:spLocks noGrp="1"/>
          </p:cNvSpPr>
          <p:nvPr/>
        </p:nvSpPr>
        <p:spPr>
          <a:xfrm>
            <a:off x="985519" y="6127877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주의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: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지연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시간은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로컬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단일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실행값이며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벤치마크가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검증용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신호입니다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2F8690-B785-026C-EFE8-6F9A471CB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958"/>
              </p:ext>
            </p:extLst>
          </p:nvPr>
        </p:nvGraphicFramePr>
        <p:xfrm>
          <a:off x="985519" y="1536446"/>
          <a:ext cx="10282555" cy="1260348"/>
        </p:xfrm>
        <a:graphic>
          <a:graphicData uri="http://schemas.openxmlformats.org/drawingml/2006/table">
            <a:tbl>
              <a:tblPr/>
              <a:tblGrid>
                <a:gridCol w="499589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5286661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운영에서의 의미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APISIX plugin vs Envoy/LiteLLM </a:t>
                      </a:r>
                      <a:r>
                        <a:rPr lang="ko-KR" altLang="en-US" sz="1400" b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정책</a:t>
                      </a:r>
                      <a:endParaRPr 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사용량 통제와 장애 격리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44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BE17-892F-2F84-498C-ED46F2A9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A6944F-3FE3-8F2E-0D8E-2527E06E7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F7AF40-C60F-A7BF-6C86-2245EFB43B6D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9676B-E01D-317A-39AE-EEEA93016972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C79068-91BC-0EF2-D36A-197E53B3892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B61076-E734-FE63-3E6A-1175744CEDA1}"/>
              </a:ext>
            </a:extLst>
          </p:cNvPr>
          <p:cNvSpPr>
            <a:spLocks noGrp="1"/>
          </p:cNvSpPr>
          <p:nvPr/>
        </p:nvSpPr>
        <p:spPr>
          <a:xfrm>
            <a:off x="1029970" y="108077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검증 케이스 </a:t>
            </a:r>
            <a:r>
              <a:rPr lang="en-US" altLang="ko-KR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서버 은닉 성공 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(</a:t>
            </a:r>
            <a:r>
              <a:rPr lang="ko-KR" altLang="en-US" dirty="0"/>
              <a:t>서비스가 </a:t>
            </a:r>
            <a:r>
              <a:rPr lang="en-US" altLang="ko-KR" dirty="0"/>
              <a:t>LLM </a:t>
            </a:r>
            <a:r>
              <a:rPr lang="ko-KR" altLang="en-US" dirty="0"/>
              <a:t>서버를 직접 호출하지 않고 </a:t>
            </a:r>
            <a:r>
              <a:rPr lang="en-US" altLang="ko-KR" dirty="0"/>
              <a:t>Gateway</a:t>
            </a:r>
            <a:r>
              <a:rPr lang="ko-KR" altLang="en-US" dirty="0"/>
              <a:t>만 바라보는지 확인</a:t>
            </a:r>
            <a:r>
              <a:rPr lang="en-US" altLang="ko-KR" dirty="0"/>
              <a:t>)</a:t>
            </a:r>
            <a:endParaRPr lang="ko-KR" altLang="en-US" sz="1350" b="1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177434-5F5E-F963-E098-65AE34555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082639"/>
              </p:ext>
            </p:extLst>
          </p:nvPr>
        </p:nvGraphicFramePr>
        <p:xfrm>
          <a:off x="985519" y="3086608"/>
          <a:ext cx="10282556" cy="2520696"/>
        </p:xfrm>
        <a:graphic>
          <a:graphicData uri="http://schemas.openxmlformats.org/drawingml/2006/table">
            <a:tbl>
              <a:tblPr/>
              <a:tblGrid>
                <a:gridCol w="1485227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4621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11867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2939248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45412F6-23FA-95DD-EB0E-4B7B0EC8318A}"/>
              </a:ext>
            </a:extLst>
          </p:cNvPr>
          <p:cNvSpPr>
            <a:spLocks noGrp="1"/>
          </p:cNvSpPr>
          <p:nvPr/>
        </p:nvSpPr>
        <p:spPr>
          <a:xfrm>
            <a:off x="985519" y="6127877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주의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: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지연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시간은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로컬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단일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실행값이며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벤치마크가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검증용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신호입니다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2346E8-8B55-ED6A-0C85-84299BCD2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10475"/>
              </p:ext>
            </p:extLst>
          </p:nvPr>
        </p:nvGraphicFramePr>
        <p:xfrm>
          <a:off x="985519" y="1536446"/>
          <a:ext cx="10282555" cy="1260348"/>
        </p:xfrm>
        <a:graphic>
          <a:graphicData uri="http://schemas.openxmlformats.org/drawingml/2006/table">
            <a:tbl>
              <a:tblPr/>
              <a:tblGrid>
                <a:gridCol w="499589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5286661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운영에서의 의미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Gateway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와 무관하게 동일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개인정보 유출 전단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3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9C8E-2F32-9FB7-A6F4-5487EF7FA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183DDB-CC6A-1FA5-3C5E-44853881E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BA6E8C-7A64-26A3-CC8F-D3C211CB48A7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FAAF74-59DE-5B1D-0382-08A35AAE942B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586B66-63BA-B4DD-FB4F-3E16D23A8A2A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8A625-6BB4-CCD1-8676-B1BA89191CA7}"/>
              </a:ext>
            </a:extLst>
          </p:cNvPr>
          <p:cNvSpPr>
            <a:spLocks noGrp="1"/>
          </p:cNvSpPr>
          <p:nvPr/>
        </p:nvSpPr>
        <p:spPr>
          <a:xfrm>
            <a:off x="1029970" y="108077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검증 케이스 </a:t>
            </a:r>
            <a:r>
              <a:rPr lang="en-US" altLang="ko-KR" sz="135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로그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/</a:t>
            </a:r>
            <a:r>
              <a:rPr lang="ko-KR" altLang="en-US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관측 성공 </a:t>
            </a:r>
            <a:r>
              <a:rPr lang="en-US" altLang="ko-KR" sz="1350" b="1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(</a:t>
            </a:r>
            <a:r>
              <a:rPr lang="en-US" altLang="ko-KR" dirty="0">
                <a:solidFill>
                  <a:srgbClr val="1A1C1F"/>
                </a:solidFill>
                <a:latin typeface="-apple-system"/>
              </a:rPr>
              <a:t>Gateway </a:t>
            </a:r>
            <a:r>
              <a:rPr lang="ko-KR" altLang="en-US" dirty="0">
                <a:solidFill>
                  <a:srgbClr val="1A1C1F"/>
                </a:solidFill>
                <a:latin typeface="-apple-system"/>
              </a:rPr>
              <a:t>로그</a:t>
            </a:r>
            <a:r>
              <a:rPr lang="en-US" altLang="ko-KR" dirty="0">
                <a:solidFill>
                  <a:srgbClr val="1A1C1F"/>
                </a:solidFill>
                <a:latin typeface="-apple-system"/>
              </a:rPr>
              <a:t>/</a:t>
            </a:r>
            <a:r>
              <a:rPr lang="ko-KR" altLang="en-US" dirty="0">
                <a:solidFill>
                  <a:srgbClr val="1A1C1F"/>
                </a:solidFill>
                <a:latin typeface="-apple-system"/>
              </a:rPr>
              <a:t>응답으로 호출 상태</a:t>
            </a:r>
            <a:r>
              <a:rPr lang="en-US" altLang="ko-KR" dirty="0">
                <a:solidFill>
                  <a:srgbClr val="1A1C1F"/>
                </a:solidFill>
                <a:latin typeface="-apple-system"/>
              </a:rPr>
              <a:t>, </a:t>
            </a:r>
            <a:r>
              <a:rPr lang="ko-KR" altLang="en-US" dirty="0">
                <a:solidFill>
                  <a:srgbClr val="1A1C1F"/>
                </a:solidFill>
                <a:latin typeface="-apple-system"/>
              </a:rPr>
              <a:t>경로</a:t>
            </a:r>
            <a:r>
              <a:rPr lang="en-US" altLang="ko-KR" dirty="0">
                <a:solidFill>
                  <a:srgbClr val="1A1C1F"/>
                </a:solidFill>
                <a:latin typeface="-apple-system"/>
              </a:rPr>
              <a:t>, upstream, </a:t>
            </a:r>
            <a:r>
              <a:rPr lang="ko-KR" altLang="en-US" dirty="0">
                <a:solidFill>
                  <a:srgbClr val="1A1C1F"/>
                </a:solidFill>
                <a:latin typeface="-apple-system"/>
              </a:rPr>
              <a:t>지연시간을 추적할 수 있는지 확인</a:t>
            </a:r>
            <a:r>
              <a:rPr lang="en-US" altLang="ko-KR" dirty="0">
                <a:solidFill>
                  <a:srgbClr val="1A1C1F"/>
                </a:solidFill>
                <a:latin typeface="-apple-system"/>
              </a:rPr>
              <a:t>)</a:t>
            </a:r>
            <a:endParaRPr sz="1350" b="1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9E0C880-DA9D-2107-99E4-82F7F03EC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85472"/>
              </p:ext>
            </p:extLst>
          </p:nvPr>
        </p:nvGraphicFramePr>
        <p:xfrm>
          <a:off x="985519" y="3086608"/>
          <a:ext cx="10282556" cy="2520696"/>
        </p:xfrm>
        <a:graphic>
          <a:graphicData uri="http://schemas.openxmlformats.org/drawingml/2006/table">
            <a:tbl>
              <a:tblPr/>
              <a:tblGrid>
                <a:gridCol w="1485227">
                  <a:extLst>
                    <a:ext uri="{9D8B030D-6E8A-4147-A177-3AD203B41FA5}">
                      <a16:colId xmlns:a16="http://schemas.microsoft.com/office/drawing/2014/main" val="3652519379"/>
                    </a:ext>
                  </a:extLst>
                </a:gridCol>
                <a:gridCol w="284621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3011867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  <a:gridCol w="2939248">
                  <a:extLst>
                    <a:ext uri="{9D8B030D-6E8A-4147-A177-3AD203B41FA5}">
                      <a16:colId xmlns:a16="http://schemas.microsoft.com/office/drawing/2014/main" val="592809297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/ 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1053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11ms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581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EFB200E3-52DF-9A52-5ECA-4868E586274B}"/>
              </a:ext>
            </a:extLst>
          </p:cNvPr>
          <p:cNvSpPr>
            <a:spLocks noGrp="1"/>
          </p:cNvSpPr>
          <p:nvPr/>
        </p:nvSpPr>
        <p:spPr>
          <a:xfrm>
            <a:off x="985519" y="6127877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주의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: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지연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시간은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로컬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단일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실행값이며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벤치마크가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연결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검증용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050" b="0" dirty="0" err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신호입니다</a:t>
            </a:r>
            <a:r>
              <a:rPr sz="105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6431655-13E5-E433-1AA2-DFFC0FE5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54331"/>
              </p:ext>
            </p:extLst>
          </p:nvPr>
        </p:nvGraphicFramePr>
        <p:xfrm>
          <a:off x="985519" y="1536446"/>
          <a:ext cx="10282555" cy="1260348"/>
        </p:xfrm>
        <a:graphic>
          <a:graphicData uri="http://schemas.openxmlformats.org/drawingml/2006/table">
            <a:tbl>
              <a:tblPr/>
              <a:tblGrid>
                <a:gridCol w="4995894">
                  <a:extLst>
                    <a:ext uri="{9D8B030D-6E8A-4147-A177-3AD203B41FA5}">
                      <a16:colId xmlns:a16="http://schemas.microsoft.com/office/drawing/2014/main" val="2795055435"/>
                    </a:ext>
                  </a:extLst>
                </a:gridCol>
                <a:gridCol w="5286661">
                  <a:extLst>
                    <a:ext uri="{9D8B030D-6E8A-4147-A177-3AD203B41FA5}">
                      <a16:colId xmlns:a16="http://schemas.microsoft.com/office/drawing/2014/main" val="3311975718"/>
                    </a:ext>
                  </a:extLst>
                </a:gridCol>
              </a:tblGrid>
              <a:tr h="630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운영에서의 의미</a:t>
                      </a:r>
                      <a:endParaRPr lang="en-US" sz="16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1230"/>
                  </a:ext>
                </a:extLst>
              </a:tr>
              <a:tr h="6301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LiteLLM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은 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LLM metadata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가 풍부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모니터링</a:t>
                      </a:r>
                      <a:r>
                        <a:rPr lang="en-US" altLang="ko-KR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334155"/>
                          </a:solidFill>
                          <a:latin typeface="Aptos"/>
                          <a:ea typeface="Aptos"/>
                          <a:cs typeface="Aptos"/>
                        </a:rPr>
                        <a:t>비용 정산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4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059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30B7-65AB-3CC7-3F1F-2C6BEB2D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0E932619-1D07-CE59-7CD8-E79D18D13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6F70B8-8EBA-A2F6-73AC-38CEAE2286F5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연동 </a:t>
            </a:r>
            <a:r>
              <a:rPr lang="en-US" altLang="ko-KR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612142-D426-1A47-E41C-E9232C4939C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1F61622-1937-E376-B462-AE8D83DF6FD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16A34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02</a:t>
            </a:r>
            <a:endParaRPr sz="2100" b="1" dirty="0">
              <a:solidFill>
                <a:srgbClr val="16A34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2D7890-55EE-BF2D-88D3-0017F38A7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11382"/>
              </p:ext>
            </p:extLst>
          </p:nvPr>
        </p:nvGraphicFramePr>
        <p:xfrm>
          <a:off x="752473" y="2982437"/>
          <a:ext cx="10582276" cy="2971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253">
                  <a:extLst>
                    <a:ext uri="{9D8B030D-6E8A-4147-A177-3AD203B41FA5}">
                      <a16:colId xmlns:a16="http://schemas.microsoft.com/office/drawing/2014/main" val="2726562751"/>
                    </a:ext>
                  </a:extLst>
                </a:gridCol>
                <a:gridCol w="2013995">
                  <a:extLst>
                    <a:ext uri="{9D8B030D-6E8A-4147-A177-3AD203B41FA5}">
                      <a16:colId xmlns:a16="http://schemas.microsoft.com/office/drawing/2014/main" val="2456667958"/>
                    </a:ext>
                  </a:extLst>
                </a:gridCol>
                <a:gridCol w="2060293">
                  <a:extLst>
                    <a:ext uri="{9D8B030D-6E8A-4147-A177-3AD203B41FA5}">
                      <a16:colId xmlns:a16="http://schemas.microsoft.com/office/drawing/2014/main" val="3820826106"/>
                    </a:ext>
                  </a:extLst>
                </a:gridCol>
                <a:gridCol w="3660735">
                  <a:extLst>
                    <a:ext uri="{9D8B030D-6E8A-4147-A177-3AD203B41FA5}">
                      <a16:colId xmlns:a16="http://schemas.microsoft.com/office/drawing/2014/main" val="1424639554"/>
                    </a:ext>
                  </a:extLst>
                </a:gridCol>
              </a:tblGrid>
              <a:tr h="646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전달내용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821316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전화번호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마스킹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고객 전화번호는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010****5678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이고 배송 지연 문의입니다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98207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전화번호 포함 시 호출 불가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Gateway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호출 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024333"/>
                  </a:ext>
                </a:extLst>
              </a:tr>
              <a:tr h="77516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검사 끄기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ptos"/>
                        </a:rPr>
                        <a:t>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ptos"/>
                          <a:ea typeface="Aptos"/>
                          <a:cs typeface="Aptos"/>
                        </a:rPr>
                        <a:t>고객 전화번호는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ptos"/>
                          <a:ea typeface="Aptos"/>
                          <a:cs typeface="Aptos"/>
                        </a:rPr>
                        <a:t>01012345678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ptos"/>
                          <a:ea typeface="Aptos"/>
                          <a:cs typeface="Aptos"/>
                        </a:rPr>
                        <a:t>이고 배송 지연 문의입니다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89254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6D9397B-2522-8725-0A4A-4E6B887D562B}"/>
              </a:ext>
            </a:extLst>
          </p:cNvPr>
          <p:cNvSpPr>
            <a:spLocks noGrp="1"/>
          </p:cNvSpPr>
          <p:nvPr/>
        </p:nvSpPr>
        <p:spPr>
          <a:xfrm>
            <a:off x="752474" y="1379422"/>
            <a:ext cx="10582275" cy="133416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B71BCC-78D7-A7A0-7D55-8B95F731ABF2}"/>
              </a:ext>
            </a:extLst>
          </p:cNvPr>
          <p:cNvSpPr>
            <a:spLocks noGrp="1"/>
          </p:cNvSpPr>
          <p:nvPr/>
        </p:nvSpPr>
        <p:spPr>
          <a:xfrm>
            <a:off x="1095375" y="1605128"/>
            <a:ext cx="9645931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개인정보 처리 정책 별 테스트 결과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예시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)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고객 전화번호는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01012345678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이고 배송 지연 문의입니다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  <a:endParaRPr sz="2000" b="0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9694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3573-7623-755C-11D3-1A05110B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3BA444-4380-B256-19A0-88FD082FC6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A59EE1-17A6-2645-C397-8B87D4C06888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50615A-BB1D-D000-5E68-ECFFD4486CC8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06AC13-A056-6001-1E79-2D92C4A8CE45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7DA3F3-6909-9C56-4F9D-6B60E54EE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47830"/>
              </p:ext>
            </p:extLst>
          </p:nvPr>
        </p:nvGraphicFramePr>
        <p:xfrm>
          <a:off x="760095" y="1325563"/>
          <a:ext cx="10454005" cy="4740123"/>
        </p:xfrm>
        <a:graphic>
          <a:graphicData uri="http://schemas.openxmlformats.org/drawingml/2006/table">
            <a:tbl>
              <a:tblPr/>
              <a:tblGrid>
                <a:gridCol w="1475105">
                  <a:extLst>
                    <a:ext uri="{9D8B030D-6E8A-4147-A177-3AD203B41FA5}">
                      <a16:colId xmlns:a16="http://schemas.microsoft.com/office/drawing/2014/main" val="4218279709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1630585857"/>
                    </a:ext>
                  </a:extLst>
                </a:gridCol>
                <a:gridCol w="4508500">
                  <a:extLst>
                    <a:ext uri="{9D8B030D-6E8A-4147-A177-3AD203B41FA5}">
                      <a16:colId xmlns:a16="http://schemas.microsoft.com/office/drawing/2014/main" val="2645089755"/>
                    </a:ext>
                  </a:extLst>
                </a:gridCol>
              </a:tblGrid>
              <a:tr h="552224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</a:t>
                      </a:r>
                    </a:p>
                  </a:txBody>
                  <a:tcPr marL="79841" marR="159682" marT="53227" marB="53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장점</a:t>
                      </a:r>
                    </a:p>
                  </a:txBody>
                  <a:tcPr marL="79841" marR="159682" marT="53227" marB="53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단점</a:t>
                      </a:r>
                    </a:p>
                  </a:txBody>
                  <a:tcPr marL="79841" marR="79841" marT="53227" marB="53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965080"/>
                  </a:ext>
                </a:extLst>
              </a:tr>
              <a:tr h="148517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  <a:endParaRPr lang="en-US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841" marR="159682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기능이 명확함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라우팅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rate limit, plugin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관리가 비교적 직관적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운영자가 “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정책” 단위로 보기 좋음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9841" marR="159682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 기능은 부족함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계산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정책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provider fallback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별도 구현 필요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9841" marR="79841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310261"/>
                  </a:ext>
                </a:extLst>
              </a:tr>
              <a:tr h="134384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  <a:endParaRPr lang="en-US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841" marR="159682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고성능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L7 Proxy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안정성이 좋음</a:t>
                      </a:r>
                      <a:endParaRPr lang="en-US" alt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service mesh/</a:t>
                      </a:r>
                      <a:r>
                        <a:rPr lang="en-US" altLang="ko-KR" sz="14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xDS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기반 확장에 강함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인프라 표준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proxy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쓰기 좋음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9841" marR="159682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난도가 높고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정책은 직접 구현 필요</a:t>
                      </a:r>
                      <a:endParaRPr lang="en-US" alt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Lua/WASM/filter/</a:t>
                      </a:r>
                      <a:r>
                        <a:rPr lang="en-US" altLang="ko-KR" sz="14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xDS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이해가 필요해 개발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공수가 커질 수 있음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9841" marR="79841" marT="66534" marB="6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884322"/>
                  </a:ext>
                </a:extLst>
              </a:tr>
              <a:tr h="13588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841" marR="159682" marT="66534" marB="159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목적에 가장 직접적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provider routing, OpenAI-compatible API, fallback, usage/cost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쪽으로 확장하기 좋음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9841" marR="159682" marT="66534" marB="159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범용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APISIX/Envoy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보다 약함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342900" indent="-342900" algn="l" fontAlgn="t">
                        <a:buAutoNum type="arabicPeriod"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라우팅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/rate limit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조직 표준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수준으로 운영하려면 보강이 필요할 수 있음</a:t>
                      </a:r>
                    </a:p>
                  </a:txBody>
                  <a:tcPr marL="79841" marR="79841" marT="66534" marB="159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9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031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1377-E803-0E3A-9BA5-D797C3E8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6E4A55-A699-0396-9C5C-F34D516DE1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CEB98E-AEF2-708F-311A-E7947F764F37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888AE7-FA95-E10E-900D-B448A9F22015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0EB7C0-CEF8-83FA-01EC-9CE71F1179A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B9F137-AD7C-0427-716C-54D3370DE10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D6024E-757F-5A7F-BFDF-34559C4B44EA}"/>
              </a:ext>
            </a:extLst>
          </p:cNvPr>
          <p:cNvSpPr>
            <a:spLocks noGrp="1"/>
          </p:cNvSpPr>
          <p:nvPr/>
        </p:nvSpPr>
        <p:spPr>
          <a:xfrm>
            <a:off x="942975" y="16954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 </a:t>
            </a:r>
            <a:r>
              <a:rPr sz="14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</a:t>
            </a:r>
            <a:r>
              <a:rPr sz="1400" b="1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중심</a:t>
            </a:r>
            <a:endParaRPr sz="1400" b="1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6E63E3-B8EA-77A3-AFC4-B155927A760F}"/>
              </a:ext>
            </a:extLst>
          </p:cNvPr>
          <p:cNvSpPr>
            <a:spLocks noGrp="1"/>
          </p:cNvSpPr>
          <p:nvPr/>
        </p:nvSpPr>
        <p:spPr>
          <a:xfrm>
            <a:off x="2838450" y="1645920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D9A407-98DD-B4E7-21CF-326BF26967FA}"/>
              </a:ext>
            </a:extLst>
          </p:cNvPr>
          <p:cNvSpPr>
            <a:spLocks noGrp="1"/>
          </p:cNvSpPr>
          <p:nvPr/>
        </p:nvSpPr>
        <p:spPr>
          <a:xfrm>
            <a:off x="2933700" y="170307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FA818A-5871-27D6-B3CF-1790813CE76B}"/>
              </a:ext>
            </a:extLst>
          </p:cNvPr>
          <p:cNvSpPr>
            <a:spLocks noGrp="1"/>
          </p:cNvSpPr>
          <p:nvPr/>
        </p:nvSpPr>
        <p:spPr>
          <a:xfrm>
            <a:off x="4857750" y="1695450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route/plugin,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인증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, rate-limit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정책을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빠르게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실험</a:t>
            </a:r>
            <a:endParaRPr sz="1400" b="0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EC80FE-7A34-8EB0-AA4E-9A525844BBAF}"/>
              </a:ext>
            </a:extLst>
          </p:cNvPr>
          <p:cNvSpPr>
            <a:spLocks noGrp="1"/>
          </p:cNvSpPr>
          <p:nvPr/>
        </p:nvSpPr>
        <p:spPr>
          <a:xfrm>
            <a:off x="666750" y="2831147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6B90A5-6B4F-1941-45E8-2A4333078FD2}"/>
              </a:ext>
            </a:extLst>
          </p:cNvPr>
          <p:cNvSpPr>
            <a:spLocks noGrp="1"/>
          </p:cNvSpPr>
          <p:nvPr/>
        </p:nvSpPr>
        <p:spPr>
          <a:xfrm>
            <a:off x="942975" y="3097847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인프라 프록시 중심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EE6D61-300C-CABD-6022-250D41974F3A}"/>
              </a:ext>
            </a:extLst>
          </p:cNvPr>
          <p:cNvSpPr>
            <a:spLocks noGrp="1"/>
          </p:cNvSpPr>
          <p:nvPr/>
        </p:nvSpPr>
        <p:spPr>
          <a:xfrm>
            <a:off x="2838450" y="3073399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04F2F4-85EF-D650-9F0D-561E1998C3CC}"/>
              </a:ext>
            </a:extLst>
          </p:cNvPr>
          <p:cNvSpPr>
            <a:spLocks noGrp="1"/>
          </p:cNvSpPr>
          <p:nvPr/>
        </p:nvSpPr>
        <p:spPr>
          <a:xfrm>
            <a:off x="2933700" y="3130549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02CF0B-432F-4CB2-7645-1A697689BD1A}"/>
              </a:ext>
            </a:extLst>
          </p:cNvPr>
          <p:cNvSpPr>
            <a:spLocks noGrp="1"/>
          </p:cNvSpPr>
          <p:nvPr/>
        </p:nvSpPr>
        <p:spPr>
          <a:xfrm>
            <a:off x="4857750" y="3107372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mesh/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xDS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필터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기반의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L7 proxy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가정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</a:t>
            </a:r>
            <a:endParaRPr sz="1400" b="0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B3CD4A-7AF8-1615-6842-DE9DB42A99F6}"/>
              </a:ext>
            </a:extLst>
          </p:cNvPr>
          <p:cNvSpPr>
            <a:spLocks noGrp="1"/>
          </p:cNvSpPr>
          <p:nvPr/>
        </p:nvSpPr>
        <p:spPr>
          <a:xfrm>
            <a:off x="666750" y="4233545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771EC4-DC27-AD63-5484-58E94D65DB7A}"/>
              </a:ext>
            </a:extLst>
          </p:cNvPr>
          <p:cNvSpPr>
            <a:spLocks noGrp="1"/>
          </p:cNvSpPr>
          <p:nvPr/>
        </p:nvSpPr>
        <p:spPr>
          <a:xfrm>
            <a:off x="942975" y="450024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LLM 운영 중심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22174B-9A72-18EC-6C9F-BE664A5B413F}"/>
              </a:ext>
            </a:extLst>
          </p:cNvPr>
          <p:cNvSpPr>
            <a:spLocks noGrp="1"/>
          </p:cNvSpPr>
          <p:nvPr/>
        </p:nvSpPr>
        <p:spPr>
          <a:xfrm>
            <a:off x="2838450" y="4500245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FF97E3-BE48-9BCF-4D5C-B4E5998C0C43}"/>
              </a:ext>
            </a:extLst>
          </p:cNvPr>
          <p:cNvSpPr>
            <a:spLocks noGrp="1"/>
          </p:cNvSpPr>
          <p:nvPr/>
        </p:nvSpPr>
        <p:spPr>
          <a:xfrm>
            <a:off x="2933700" y="455739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LiteLLM</a:t>
            </a:r>
            <a:endParaRPr sz="1400" b="1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9A6F25-EB8B-8DBD-3C98-1F0D9342673F}"/>
              </a:ext>
            </a:extLst>
          </p:cNvPr>
          <p:cNvSpPr>
            <a:spLocks noGrp="1"/>
          </p:cNvSpPr>
          <p:nvPr/>
        </p:nvSpPr>
        <p:spPr>
          <a:xfrm>
            <a:off x="4857750" y="4471670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provider routing,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모델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교체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,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비용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쿼터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관리</a:t>
            </a:r>
            <a:r>
              <a:rPr sz="1400" b="0" dirty="0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검증</a:t>
            </a:r>
            <a:endParaRPr sz="1400" b="0" dirty="0"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00428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739F-AFCF-7939-1E36-500AC2F5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C4AB04-5E5D-2973-30E8-6D6D5509FA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E6C756-9AC7-38FF-7617-4BFD51471520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77D2EF-0A6E-D97C-F49A-A468895E55DD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EFC717-4FC9-7DB4-2642-CEF3FFC34974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2E3BE9-2080-3D65-DAC9-631429A9D6E9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Gateway </a:t>
            </a:r>
            <a:r>
              <a:rPr lang="ko-KR" altLang="en-US" sz="140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별 예상 공수</a:t>
            </a:r>
            <a:endParaRPr sz="1400" b="0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6BE32E-915D-E3A4-B6B1-1A662A77E70D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2000250" cy="6286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0E0AFE-7FA6-8E7F-5B79-C9C9C1686A38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선택</a:t>
            </a:r>
            <a:r>
              <a:rPr sz="1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Gateway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38EFE4-26D5-2B5F-9860-08844B30451F}"/>
              </a:ext>
            </a:extLst>
          </p:cNvPr>
          <p:cNvSpPr>
            <a:spLocks noGrp="1"/>
          </p:cNvSpPr>
          <p:nvPr/>
        </p:nvSpPr>
        <p:spPr>
          <a:xfrm>
            <a:off x="2667000" y="1562100"/>
            <a:ext cx="2095500" cy="6286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46B109-9841-1B7A-5C3A-D9B68DDFF454}"/>
              </a:ext>
            </a:extLst>
          </p:cNvPr>
          <p:cNvSpPr>
            <a:spLocks noGrp="1"/>
          </p:cNvSpPr>
          <p:nvPr/>
        </p:nvSpPr>
        <p:spPr>
          <a:xfrm>
            <a:off x="2762250" y="16383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기본 운영 전환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6B3CD7-3DA9-1394-A770-45EAC61E265D}"/>
              </a:ext>
            </a:extLst>
          </p:cNvPr>
          <p:cNvSpPr>
            <a:spLocks noGrp="1"/>
          </p:cNvSpPr>
          <p:nvPr/>
        </p:nvSpPr>
        <p:spPr>
          <a:xfrm>
            <a:off x="4762500" y="1562100"/>
            <a:ext cx="1986280" cy="6286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119A55-FFC4-F04A-3FB1-78B42445BAC3}"/>
              </a:ext>
            </a:extLst>
          </p:cNvPr>
          <p:cNvSpPr>
            <a:spLocks noGrp="1"/>
          </p:cNvSpPr>
          <p:nvPr/>
        </p:nvSpPr>
        <p:spPr>
          <a:xfrm>
            <a:off x="4857750" y="1638300"/>
            <a:ext cx="181356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</a:t>
            </a:r>
            <a:r>
              <a:rPr sz="1400" b="1" dirty="0" err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</a:t>
            </a:r>
            <a:r>
              <a:rPr sz="1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</a:t>
            </a:r>
            <a:endParaRPr sz="14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8825C3-A199-EC92-114B-E7A3A4831F7F}"/>
              </a:ext>
            </a:extLst>
          </p:cNvPr>
          <p:cNvSpPr>
            <a:spLocks noGrp="1"/>
          </p:cNvSpPr>
          <p:nvPr/>
        </p:nvSpPr>
        <p:spPr>
          <a:xfrm>
            <a:off x="6681470" y="1562100"/>
            <a:ext cx="1783644" cy="6286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AA77D7-4A1A-FDE6-9A23-D1F91CC57FBF}"/>
              </a:ext>
            </a:extLst>
          </p:cNvPr>
          <p:cNvSpPr>
            <a:spLocks noGrp="1"/>
          </p:cNvSpPr>
          <p:nvPr/>
        </p:nvSpPr>
        <p:spPr>
          <a:xfrm>
            <a:off x="6776720" y="1638300"/>
            <a:ext cx="16052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총 예상 M/M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0FBC34-8B6D-C2EA-DD60-48D69B79BE94}"/>
              </a:ext>
            </a:extLst>
          </p:cNvPr>
          <p:cNvSpPr>
            <a:spLocks noGrp="1"/>
          </p:cNvSpPr>
          <p:nvPr/>
        </p:nvSpPr>
        <p:spPr>
          <a:xfrm>
            <a:off x="8482330" y="1562100"/>
            <a:ext cx="2857500" cy="6286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7E8A2D-2FE3-7516-E7BF-DC480635700A}"/>
              </a:ext>
            </a:extLst>
          </p:cNvPr>
          <p:cNvSpPr>
            <a:spLocks noGrp="1"/>
          </p:cNvSpPr>
          <p:nvPr/>
        </p:nvSpPr>
        <p:spPr>
          <a:xfrm>
            <a:off x="8577580" y="163830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판단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76C8F1-1DA7-E795-1B7A-F28BC2F0D6D6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00025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9225B7-5653-7526-A16D-23FC33E94F7F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LiteLLM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E0AC67-B563-1A9C-6AEB-A6AC53C10D9F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209550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D1BAA4-2EFC-7FC1-2662-DD46D1EFA35F}"/>
              </a:ext>
            </a:extLst>
          </p:cNvPr>
          <p:cNvSpPr>
            <a:spLocks noGrp="1"/>
          </p:cNvSpPr>
          <p:nvPr/>
        </p:nvSpPr>
        <p:spPr>
          <a:xfrm>
            <a:off x="2762250" y="226695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1.05-1.65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6649F3-1DB7-1BD7-A87A-9178E02F5041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198628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691A16-3F6B-112D-DC0C-9DD273C29F1B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181356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0-0.15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529C1E-21D3-9F94-0EE3-059836FDFC53}"/>
              </a:ext>
            </a:extLst>
          </p:cNvPr>
          <p:cNvSpPr>
            <a:spLocks noGrp="1"/>
          </p:cNvSpPr>
          <p:nvPr/>
        </p:nvSpPr>
        <p:spPr>
          <a:xfrm>
            <a:off x="6681470" y="2190750"/>
            <a:ext cx="1783644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DD8F58-E689-22C3-DFBE-78EEEE77E2C4}"/>
              </a:ext>
            </a:extLst>
          </p:cNvPr>
          <p:cNvSpPr>
            <a:spLocks noGrp="1"/>
          </p:cNvSpPr>
          <p:nvPr/>
        </p:nvSpPr>
        <p:spPr>
          <a:xfrm>
            <a:off x="6776720" y="2266950"/>
            <a:ext cx="16052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1.05-1.80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11E9D9-A639-1CF5-6FAA-BB340DE22C49}"/>
              </a:ext>
            </a:extLst>
          </p:cNvPr>
          <p:cNvSpPr>
            <a:spLocks noGrp="1"/>
          </p:cNvSpPr>
          <p:nvPr/>
        </p:nvSpPr>
        <p:spPr>
          <a:xfrm>
            <a:off x="8482330" y="2190750"/>
            <a:ext cx="285750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5B5F19-2008-B7CD-74B2-9AD1F41E5F57}"/>
              </a:ext>
            </a:extLst>
          </p:cNvPr>
          <p:cNvSpPr>
            <a:spLocks noGrp="1"/>
          </p:cNvSpPr>
          <p:nvPr/>
        </p:nvSpPr>
        <p:spPr>
          <a:xfrm>
            <a:off x="8577580" y="22669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LLM Gateway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활용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 </a:t>
            </a:r>
            <a:endParaRPr lang="en-US"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가장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낮은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공수</a:t>
            </a:r>
            <a:endParaRPr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C31003-4E60-B492-5BC4-FE85C20319A8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200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FA4042-2B89-55A0-73F0-B8C09095B79C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0D9334-0539-952E-A1B5-D0DBCF1CA655}"/>
              </a:ext>
            </a:extLst>
          </p:cNvPr>
          <p:cNvSpPr>
            <a:spLocks noGrp="1"/>
          </p:cNvSpPr>
          <p:nvPr/>
        </p:nvSpPr>
        <p:spPr>
          <a:xfrm>
            <a:off x="2667000" y="2819400"/>
            <a:ext cx="2095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3515A-9897-35F0-29FF-6A603DF4FA12}"/>
              </a:ext>
            </a:extLst>
          </p:cNvPr>
          <p:cNvSpPr>
            <a:spLocks noGrp="1"/>
          </p:cNvSpPr>
          <p:nvPr/>
        </p:nvSpPr>
        <p:spPr>
          <a:xfrm>
            <a:off x="2762250" y="28956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1.05-1.65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F9F0F7-DB95-C8DB-A8EB-9402AA9C8CD4}"/>
              </a:ext>
            </a:extLst>
          </p:cNvPr>
          <p:cNvSpPr>
            <a:spLocks noGrp="1"/>
          </p:cNvSpPr>
          <p:nvPr/>
        </p:nvSpPr>
        <p:spPr>
          <a:xfrm>
            <a:off x="4762500" y="2819400"/>
            <a:ext cx="198628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EF9345A-1B0D-BAFD-AED8-6C62957D6ACE}"/>
              </a:ext>
            </a:extLst>
          </p:cNvPr>
          <p:cNvSpPr>
            <a:spLocks noGrp="1"/>
          </p:cNvSpPr>
          <p:nvPr/>
        </p:nvSpPr>
        <p:spPr>
          <a:xfrm>
            <a:off x="4857750" y="2895600"/>
            <a:ext cx="181356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1.35-2.10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564F56-E092-E174-ED82-C9D0EA5A791D}"/>
              </a:ext>
            </a:extLst>
          </p:cNvPr>
          <p:cNvSpPr>
            <a:spLocks noGrp="1"/>
          </p:cNvSpPr>
          <p:nvPr/>
        </p:nvSpPr>
        <p:spPr>
          <a:xfrm>
            <a:off x="6681470" y="2819400"/>
            <a:ext cx="1783644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FEF907-E1DD-C223-DC0F-B3F9DA24DDCA}"/>
              </a:ext>
            </a:extLst>
          </p:cNvPr>
          <p:cNvSpPr>
            <a:spLocks noGrp="1"/>
          </p:cNvSpPr>
          <p:nvPr/>
        </p:nvSpPr>
        <p:spPr>
          <a:xfrm>
            <a:off x="6776720" y="2895600"/>
            <a:ext cx="16052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2.40-3.75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F37AA0-77F8-AC88-98B0-ED79B9759149}"/>
              </a:ext>
            </a:extLst>
          </p:cNvPr>
          <p:cNvSpPr>
            <a:spLocks noGrp="1"/>
          </p:cNvSpPr>
          <p:nvPr/>
        </p:nvSpPr>
        <p:spPr>
          <a:xfrm>
            <a:off x="8482330" y="2819400"/>
            <a:ext cx="2857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3181DC-2FE4-03E7-5344-FA9D8BF41377}"/>
              </a:ext>
            </a:extLst>
          </p:cNvPr>
          <p:cNvSpPr>
            <a:spLocks noGrp="1"/>
          </p:cNvSpPr>
          <p:nvPr/>
        </p:nvSpPr>
        <p:spPr>
          <a:xfrm>
            <a:off x="8577580" y="289560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범용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API Gateway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기반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 </a:t>
            </a:r>
            <a:endParaRPr lang="en-US"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별도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구현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필요</a:t>
            </a:r>
            <a:endParaRPr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FBEDD6F-5AC8-4957-4787-827D1870D880}"/>
              </a:ext>
            </a:extLst>
          </p:cNvPr>
          <p:cNvSpPr>
            <a:spLocks noGrp="1"/>
          </p:cNvSpPr>
          <p:nvPr/>
        </p:nvSpPr>
        <p:spPr>
          <a:xfrm>
            <a:off x="666750" y="3448050"/>
            <a:ext cx="200025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24D8F7-9B3F-43DB-13C0-8BF7FE7A823E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53DC8E-7484-CA12-9446-8292E9EFBAE1}"/>
              </a:ext>
            </a:extLst>
          </p:cNvPr>
          <p:cNvSpPr>
            <a:spLocks noGrp="1"/>
          </p:cNvSpPr>
          <p:nvPr/>
        </p:nvSpPr>
        <p:spPr>
          <a:xfrm>
            <a:off x="2667000" y="3448050"/>
            <a:ext cx="209550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D52845B-9BBA-BB69-46E2-8BE4B3C7DB3A}"/>
              </a:ext>
            </a:extLst>
          </p:cNvPr>
          <p:cNvSpPr>
            <a:spLocks noGrp="1"/>
          </p:cNvSpPr>
          <p:nvPr/>
        </p:nvSpPr>
        <p:spPr>
          <a:xfrm>
            <a:off x="2762250" y="352425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1.05-1.65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96CD901-F243-C9B5-419B-47119FCEA0D8}"/>
              </a:ext>
            </a:extLst>
          </p:cNvPr>
          <p:cNvSpPr>
            <a:spLocks noGrp="1"/>
          </p:cNvSpPr>
          <p:nvPr/>
        </p:nvSpPr>
        <p:spPr>
          <a:xfrm>
            <a:off x="4762500" y="3448050"/>
            <a:ext cx="198628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DBB301-C9BE-7739-F6AD-0931CB4ED8F0}"/>
              </a:ext>
            </a:extLst>
          </p:cNvPr>
          <p:cNvSpPr>
            <a:spLocks noGrp="1"/>
          </p:cNvSpPr>
          <p:nvPr/>
        </p:nvSpPr>
        <p:spPr>
          <a:xfrm>
            <a:off x="4857750" y="3524250"/>
            <a:ext cx="181356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1.50-2.30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D2F897-AD98-640E-19F4-8E90802492A6}"/>
              </a:ext>
            </a:extLst>
          </p:cNvPr>
          <p:cNvSpPr>
            <a:spLocks noGrp="1"/>
          </p:cNvSpPr>
          <p:nvPr/>
        </p:nvSpPr>
        <p:spPr>
          <a:xfrm>
            <a:off x="6681470" y="3448050"/>
            <a:ext cx="1783644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65E965F-9E0D-6DB2-A5D9-3C39F677A5F4}"/>
              </a:ext>
            </a:extLst>
          </p:cNvPr>
          <p:cNvSpPr>
            <a:spLocks noGrp="1"/>
          </p:cNvSpPr>
          <p:nvPr/>
        </p:nvSpPr>
        <p:spPr>
          <a:xfrm>
            <a:off x="6776720" y="3524250"/>
            <a:ext cx="16052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2.55-3.95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FD5965C-DC58-7CC5-2DC3-3C149F640A3D}"/>
              </a:ext>
            </a:extLst>
          </p:cNvPr>
          <p:cNvSpPr>
            <a:spLocks noGrp="1"/>
          </p:cNvSpPr>
          <p:nvPr/>
        </p:nvSpPr>
        <p:spPr>
          <a:xfrm>
            <a:off x="8482330" y="3448050"/>
            <a:ext cx="2857500" cy="6286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0C762E0-AA26-3FD2-4B19-5FD72D0E410F}"/>
              </a:ext>
            </a:extLst>
          </p:cNvPr>
          <p:cNvSpPr>
            <a:spLocks noGrp="1"/>
          </p:cNvSpPr>
          <p:nvPr/>
        </p:nvSpPr>
        <p:spPr>
          <a:xfrm>
            <a:off x="8577580" y="35242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L7 Proxy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기반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 filter/WASM/Lua/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xDS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난</a:t>
            </a:r>
            <a:r>
              <a:rPr lang="ko-KR" altLang="en-US"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이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도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고려</a:t>
            </a:r>
            <a:endParaRPr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93B2233-A6CA-E84C-1DC6-490DD085C569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10572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685524-B891-78A0-B8E1-6E52EF066D80}"/>
              </a:ext>
            </a:extLst>
          </p:cNvPr>
          <p:cNvSpPr>
            <a:spLocks noGrp="1"/>
          </p:cNvSpPr>
          <p:nvPr/>
        </p:nvSpPr>
        <p:spPr>
          <a:xfrm>
            <a:off x="1095375" y="4772025"/>
            <a:ext cx="103346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APISIX/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Envoy를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선택할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수는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있지만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, 그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경우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AI Gateway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전용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기능을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별도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구현하는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프로젝트가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추가됩니다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 </a:t>
            </a:r>
            <a:endParaRPr lang="en-US"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  <a:p>
            <a:pPr algn="l">
              <a:lnSpc>
                <a:spcPct val="150000"/>
              </a:lnSpc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따라서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최종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선정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시에는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Gateway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자체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성능뿐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아니라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AI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구현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공수까지</a:t>
            </a:r>
            <a:r>
              <a:rPr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포함해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비교해야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합니다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06C1365-9D8C-9CA7-B5CA-36664ECF6BC7}"/>
              </a:ext>
            </a:extLst>
          </p:cNvPr>
          <p:cNvSpPr>
            <a:spLocks noGrp="1"/>
          </p:cNvSpPr>
          <p:nvPr/>
        </p:nvSpPr>
        <p:spPr>
          <a:xfrm>
            <a:off x="843280" y="63055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권장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비교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기준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: 총 M/M +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운영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리스크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+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기능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내재화</a:t>
            </a:r>
            <a:r>
              <a:rPr sz="12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수준</a:t>
            </a:r>
            <a:endParaRPr sz="120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01827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AC76-B451-E660-97D8-894D315F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16694CC-B625-5904-EA7D-B32D3B430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C18998-C25D-D83A-4444-C47387C50987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773FE59-C719-6A32-6643-264AABA6155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3373BC-3FE5-945A-CE82-F4633E39BB4B}"/>
              </a:ext>
            </a:extLst>
          </p:cNvPr>
          <p:cNvSpPr>
            <a:spLocks noGrp="1"/>
          </p:cNvSpPr>
          <p:nvPr/>
        </p:nvSpPr>
        <p:spPr>
          <a:xfrm>
            <a:off x="971550" y="1408044"/>
            <a:ext cx="1036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07A72-D3CE-BD79-C126-A94B65334765}"/>
              </a:ext>
            </a:extLst>
          </p:cNvPr>
          <p:cNvSpPr txBox="1"/>
          <p:nvPr/>
        </p:nvSpPr>
        <p:spPr>
          <a:xfrm>
            <a:off x="1095375" y="1616914"/>
            <a:ext cx="10125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</a:t>
            </a:r>
            <a:r>
              <a:rPr lang="ko-KR" altLang="en-US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와 </a:t>
            </a:r>
            <a:r>
              <a:rPr lang="en-US" altLang="ko-KR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</a:t>
            </a:r>
            <a:r>
              <a:rPr lang="ko-KR" altLang="en-US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는 라우팅</a:t>
            </a:r>
            <a:r>
              <a:rPr lang="en-US" altLang="ko-KR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lang="ko-KR" altLang="en-US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프록시</a:t>
            </a:r>
            <a:r>
              <a:rPr lang="en-US" altLang="ko-KR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lang="ko-KR" altLang="en-US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정책 적용에는 강하지만</a:t>
            </a:r>
            <a:r>
              <a:rPr lang="en-US" altLang="ko-KR" sz="14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,</a:t>
            </a:r>
          </a:p>
          <a:p>
            <a:pPr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LLM </a:t>
            </a:r>
            <a:r>
              <a:rPr lang="ko-KR" altLang="en-US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호출 로그</a:t>
            </a:r>
            <a:r>
              <a:rPr lang="en-US" altLang="ko-KR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, token/cost, model policy, provider fallback</a:t>
            </a:r>
            <a:r>
              <a:rPr lang="ko-KR" altLang="en-US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은 기본 </a:t>
            </a:r>
            <a:r>
              <a:rPr lang="en-US" altLang="ko-KR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제품처럼 바로 제공되는 영역이 아닙니다</a:t>
            </a:r>
            <a:r>
              <a:rPr lang="en-US" altLang="ko-KR" sz="14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25DB1C-8683-F4A0-72CE-2A058B3798E3}"/>
              </a:ext>
            </a:extLst>
          </p:cNvPr>
          <p:cNvSpPr>
            <a:spLocks noGrp="1"/>
          </p:cNvSpPr>
          <p:nvPr/>
        </p:nvSpPr>
        <p:spPr>
          <a:xfrm>
            <a:off x="971550" y="3567428"/>
            <a:ext cx="503555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20941C-D770-6BD7-D100-CCC3D1F3E325}"/>
              </a:ext>
            </a:extLst>
          </p:cNvPr>
          <p:cNvSpPr>
            <a:spLocks noGrp="1"/>
          </p:cNvSpPr>
          <p:nvPr/>
        </p:nvSpPr>
        <p:spPr>
          <a:xfrm>
            <a:off x="1181100" y="3746498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A3304B-C90B-E653-A97F-D93FAF30F072}"/>
              </a:ext>
            </a:extLst>
          </p:cNvPr>
          <p:cNvSpPr>
            <a:spLocks noGrp="1"/>
          </p:cNvSpPr>
          <p:nvPr/>
        </p:nvSpPr>
        <p:spPr>
          <a:xfrm>
            <a:off x="1714500" y="3773168"/>
            <a:ext cx="3853180" cy="213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호출 로그 표준화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32BC23-AF82-C767-800E-0F5426D01D66}"/>
              </a:ext>
            </a:extLst>
          </p:cNvPr>
          <p:cNvSpPr>
            <a:spLocks noGrp="1"/>
          </p:cNvSpPr>
          <p:nvPr/>
        </p:nvSpPr>
        <p:spPr>
          <a:xfrm>
            <a:off x="971550" y="2778374"/>
            <a:ext cx="10363200" cy="64554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01D0C-FF3A-50CA-110A-029A11AAD7AD}"/>
              </a:ext>
            </a:extLst>
          </p:cNvPr>
          <p:cNvSpPr txBox="1"/>
          <p:nvPr/>
        </p:nvSpPr>
        <p:spPr>
          <a:xfrm>
            <a:off x="1085215" y="2907933"/>
            <a:ext cx="10125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</a:t>
            </a:r>
            <a:r>
              <a:rPr lang="ko-KR" altLang="en-US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와 </a:t>
            </a:r>
            <a:r>
              <a:rPr lang="en-US" altLang="ko-KR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Envoy</a:t>
            </a:r>
            <a:r>
              <a:rPr lang="ko-KR" altLang="en-US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를 </a:t>
            </a:r>
            <a:r>
              <a:rPr lang="en-US" altLang="ko-KR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Gateway</a:t>
            </a:r>
            <a:r>
              <a:rPr lang="ko-KR" altLang="en-US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 선정하면 기존 운영 전환 공수 외의 </a:t>
            </a:r>
            <a:r>
              <a:rPr lang="en-US" altLang="ko-KR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Gateway </a:t>
            </a:r>
            <a:r>
              <a:rPr lang="ko-KR" altLang="en-US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 공수 필요</a:t>
            </a:r>
            <a:r>
              <a:rPr lang="en-US" altLang="ko-KR" sz="160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C2DEF10-11C9-5575-1D32-E5E98EBE94FE}"/>
              </a:ext>
            </a:extLst>
          </p:cNvPr>
          <p:cNvSpPr>
            <a:spLocks noGrp="1"/>
          </p:cNvSpPr>
          <p:nvPr/>
        </p:nvSpPr>
        <p:spPr>
          <a:xfrm>
            <a:off x="6299200" y="3564888"/>
            <a:ext cx="503555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C0647CC-B103-3640-EAAA-0795046276DC}"/>
              </a:ext>
            </a:extLst>
          </p:cNvPr>
          <p:cNvSpPr>
            <a:spLocks noGrp="1"/>
          </p:cNvSpPr>
          <p:nvPr/>
        </p:nvSpPr>
        <p:spPr>
          <a:xfrm>
            <a:off x="6450965" y="3757928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0C0AC83-6107-268F-CA1D-0C68D1095B1A}"/>
              </a:ext>
            </a:extLst>
          </p:cNvPr>
          <p:cNvSpPr>
            <a:spLocks noGrp="1"/>
          </p:cNvSpPr>
          <p:nvPr/>
        </p:nvSpPr>
        <p:spPr>
          <a:xfrm>
            <a:off x="6984365" y="3784598"/>
            <a:ext cx="3853180" cy="213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토큰 </a:t>
            </a:r>
            <a:r>
              <a:rPr lang="en-US" altLang="ko-KR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 </a:t>
            </a: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비용 계산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E68CFA8-339C-7494-607D-DFB38D96A38A}"/>
              </a:ext>
            </a:extLst>
          </p:cNvPr>
          <p:cNvSpPr>
            <a:spLocks noGrp="1"/>
          </p:cNvSpPr>
          <p:nvPr/>
        </p:nvSpPr>
        <p:spPr>
          <a:xfrm>
            <a:off x="971550" y="4334306"/>
            <a:ext cx="503555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00C38C-F2AD-E0EF-F347-1CD10ED7B08C}"/>
              </a:ext>
            </a:extLst>
          </p:cNvPr>
          <p:cNvSpPr>
            <a:spLocks noGrp="1"/>
          </p:cNvSpPr>
          <p:nvPr/>
        </p:nvSpPr>
        <p:spPr>
          <a:xfrm>
            <a:off x="1181100" y="4513376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03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33FFCEF-3FEA-547D-329F-8BC7975B67E8}"/>
              </a:ext>
            </a:extLst>
          </p:cNvPr>
          <p:cNvSpPr>
            <a:spLocks noGrp="1"/>
          </p:cNvSpPr>
          <p:nvPr/>
        </p:nvSpPr>
        <p:spPr>
          <a:xfrm>
            <a:off x="1714500" y="4540046"/>
            <a:ext cx="3853180" cy="213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모델 정책 관리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DE1213C-D922-78E6-D121-91240A95E3EC}"/>
              </a:ext>
            </a:extLst>
          </p:cNvPr>
          <p:cNvSpPr>
            <a:spLocks noGrp="1"/>
          </p:cNvSpPr>
          <p:nvPr/>
        </p:nvSpPr>
        <p:spPr>
          <a:xfrm>
            <a:off x="6299200" y="4331766"/>
            <a:ext cx="5035550" cy="6324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68130CD-0AD6-0D48-C45D-E5736854CFB0}"/>
              </a:ext>
            </a:extLst>
          </p:cNvPr>
          <p:cNvSpPr>
            <a:spLocks noGrp="1"/>
          </p:cNvSpPr>
          <p:nvPr/>
        </p:nvSpPr>
        <p:spPr>
          <a:xfrm>
            <a:off x="6450965" y="4524806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b="1" dirty="0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4</a:t>
            </a:r>
            <a:endParaRPr sz="1800" b="1" dirty="0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700DBFE-DA27-A093-3378-C2261B422E4A}"/>
              </a:ext>
            </a:extLst>
          </p:cNvPr>
          <p:cNvSpPr>
            <a:spLocks noGrp="1"/>
          </p:cNvSpPr>
          <p:nvPr/>
        </p:nvSpPr>
        <p:spPr>
          <a:xfrm>
            <a:off x="6984365" y="4551476"/>
            <a:ext cx="3853180" cy="213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5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장애 대응 정책</a:t>
            </a:r>
            <a:endParaRPr sz="1500" b="1" dirty="0">
              <a:solidFill>
                <a:srgbClr val="17202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43593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2088-F71D-7AF5-ECB4-0888BA52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50A424-FB2D-A8D6-1D8C-0FEDF3596E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064954-3E0B-725A-2A4A-6D37C4713BE8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0E7624-1F27-9C32-8BF9-710AF528AED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6466A2-E920-EB11-46FE-62F717153325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2286000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A1C8D2-C77E-7AEC-C662-96456C95293D}"/>
              </a:ext>
            </a:extLst>
          </p:cNvPr>
          <p:cNvSpPr>
            <a:spLocks noGrp="1"/>
          </p:cNvSpPr>
          <p:nvPr/>
        </p:nvSpPr>
        <p:spPr>
          <a:xfrm>
            <a:off x="590550" y="154305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0A79FC-B409-F7E0-8D62-E601498ACC89}"/>
              </a:ext>
            </a:extLst>
          </p:cNvPr>
          <p:cNvSpPr>
            <a:spLocks noGrp="1"/>
          </p:cNvSpPr>
          <p:nvPr/>
        </p:nvSpPr>
        <p:spPr>
          <a:xfrm>
            <a:off x="2781300" y="1466850"/>
            <a:ext cx="4953000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2DFB4-DBE3-D8AB-3FCB-DE5AADB853F2}"/>
              </a:ext>
            </a:extLst>
          </p:cNvPr>
          <p:cNvSpPr>
            <a:spLocks noGrp="1"/>
          </p:cNvSpPr>
          <p:nvPr/>
        </p:nvSpPr>
        <p:spPr>
          <a:xfrm>
            <a:off x="2876550" y="154305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필요 작업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52A5E3-4314-9F3F-CE59-DC2CEA2CE1A0}"/>
              </a:ext>
            </a:extLst>
          </p:cNvPr>
          <p:cNvSpPr>
            <a:spLocks noGrp="1"/>
          </p:cNvSpPr>
          <p:nvPr/>
        </p:nvSpPr>
        <p:spPr>
          <a:xfrm>
            <a:off x="7734300" y="1466850"/>
            <a:ext cx="993374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30E942-516E-A484-7B29-766EDEF3CF82}"/>
              </a:ext>
            </a:extLst>
          </p:cNvPr>
          <p:cNvSpPr>
            <a:spLocks noGrp="1"/>
          </p:cNvSpPr>
          <p:nvPr/>
        </p:nvSpPr>
        <p:spPr>
          <a:xfrm>
            <a:off x="7829550" y="15430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MD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4E60C0-AAD5-E183-A491-B48164A377CF}"/>
              </a:ext>
            </a:extLst>
          </p:cNvPr>
          <p:cNvSpPr>
            <a:spLocks noGrp="1"/>
          </p:cNvSpPr>
          <p:nvPr/>
        </p:nvSpPr>
        <p:spPr>
          <a:xfrm>
            <a:off x="8743708" y="1466850"/>
            <a:ext cx="993374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59D2A9-9AFD-F689-5882-1DAED33E7FF6}"/>
              </a:ext>
            </a:extLst>
          </p:cNvPr>
          <p:cNvSpPr>
            <a:spLocks noGrp="1"/>
          </p:cNvSpPr>
          <p:nvPr/>
        </p:nvSpPr>
        <p:spPr>
          <a:xfrm>
            <a:off x="8838958" y="15430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M/M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E813FC-24C6-164B-9B30-B1973A3B34E9}"/>
              </a:ext>
            </a:extLst>
          </p:cNvPr>
          <p:cNvSpPr>
            <a:spLocks noGrp="1"/>
          </p:cNvSpPr>
          <p:nvPr/>
        </p:nvSpPr>
        <p:spPr>
          <a:xfrm>
            <a:off x="9729969" y="1466850"/>
            <a:ext cx="1360170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4B6282-5AE6-52F7-FECD-8EDCC7527B8F}"/>
              </a:ext>
            </a:extLst>
          </p:cNvPr>
          <p:cNvSpPr>
            <a:spLocks noGrp="1"/>
          </p:cNvSpPr>
          <p:nvPr/>
        </p:nvSpPr>
        <p:spPr>
          <a:xfrm>
            <a:off x="9825219" y="154305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8D850D-D256-16F6-C594-46CD99AAE021}"/>
              </a:ext>
            </a:extLst>
          </p:cNvPr>
          <p:cNvSpPr>
            <a:spLocks noGrp="1"/>
          </p:cNvSpPr>
          <p:nvPr/>
        </p:nvSpPr>
        <p:spPr>
          <a:xfrm>
            <a:off x="495300" y="2133600"/>
            <a:ext cx="2286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A980A1-58F3-5528-8741-412BF1CA721F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AI 호출 로그 표준화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468289-A43F-1951-38E0-EA545D9CA293}"/>
              </a:ext>
            </a:extLst>
          </p:cNvPr>
          <p:cNvSpPr>
            <a:spLocks noGrp="1"/>
          </p:cNvSpPr>
          <p:nvPr/>
        </p:nvSpPr>
        <p:spPr>
          <a:xfrm>
            <a:off x="2781300" y="2133600"/>
            <a:ext cx="4953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EFE43A-8F17-6B3F-1052-836875A5A067}"/>
              </a:ext>
            </a:extLst>
          </p:cNvPr>
          <p:cNvSpPr>
            <a:spLocks noGrp="1"/>
          </p:cNvSpPr>
          <p:nvPr/>
        </p:nvSpPr>
        <p:spPr>
          <a:xfrm>
            <a:off x="2876550" y="220980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요청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응답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schema, model/provider/user/service/request id, masking,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로그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저장</a:t>
            </a:r>
            <a:r>
              <a:rPr sz="1400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포맷</a:t>
            </a:r>
            <a:endParaRPr sz="1400" b="0" dirty="0">
              <a:solidFill>
                <a:srgbClr val="33415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DFF086-E317-B3BC-9A54-0CD7AF8E8FAC}"/>
              </a:ext>
            </a:extLst>
          </p:cNvPr>
          <p:cNvSpPr>
            <a:spLocks noGrp="1"/>
          </p:cNvSpPr>
          <p:nvPr/>
        </p:nvSpPr>
        <p:spPr>
          <a:xfrm>
            <a:off x="7734300" y="21336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05C292-1F7F-006F-74BE-79BAD4EE719B}"/>
              </a:ext>
            </a:extLst>
          </p:cNvPr>
          <p:cNvSpPr>
            <a:spLocks noGrp="1"/>
          </p:cNvSpPr>
          <p:nvPr/>
        </p:nvSpPr>
        <p:spPr>
          <a:xfrm>
            <a:off x="7829550" y="22098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5-8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393A66-248B-8321-2407-D0D176002B00}"/>
              </a:ext>
            </a:extLst>
          </p:cNvPr>
          <p:cNvSpPr>
            <a:spLocks noGrp="1"/>
          </p:cNvSpPr>
          <p:nvPr/>
        </p:nvSpPr>
        <p:spPr>
          <a:xfrm>
            <a:off x="8743708" y="21336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6DF3C0-5945-0A9B-5F23-060E3FA6A37C}"/>
              </a:ext>
            </a:extLst>
          </p:cNvPr>
          <p:cNvSpPr>
            <a:spLocks noGrp="1"/>
          </p:cNvSpPr>
          <p:nvPr/>
        </p:nvSpPr>
        <p:spPr>
          <a:xfrm>
            <a:off x="8838958" y="22098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0.25-0.40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28B562-37DE-D743-AAFE-757A64C4C538}"/>
              </a:ext>
            </a:extLst>
          </p:cNvPr>
          <p:cNvSpPr>
            <a:spLocks noGrp="1"/>
          </p:cNvSpPr>
          <p:nvPr/>
        </p:nvSpPr>
        <p:spPr>
          <a:xfrm>
            <a:off x="9729969" y="2133600"/>
            <a:ext cx="136017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60D51C-BE1E-B9F2-8945-864E82FE1F76}"/>
              </a:ext>
            </a:extLst>
          </p:cNvPr>
          <p:cNvSpPr>
            <a:spLocks noGrp="1"/>
          </p:cNvSpPr>
          <p:nvPr/>
        </p:nvSpPr>
        <p:spPr>
          <a:xfrm>
            <a:off x="9825219" y="220980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관측성 기반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6EF3A3-3EDB-0CF5-B6F6-BEF1499544B2}"/>
              </a:ext>
            </a:extLst>
          </p:cNvPr>
          <p:cNvSpPr>
            <a:spLocks noGrp="1"/>
          </p:cNvSpPr>
          <p:nvPr/>
        </p:nvSpPr>
        <p:spPr>
          <a:xfrm>
            <a:off x="495300" y="2800350"/>
            <a:ext cx="2286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E16D8A-313A-4138-364A-8B58937D4231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토큰/비용 계산 로직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7C5266-85BC-DF4E-84B3-ABDE37AA1594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4953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3E49A4-6E18-BD0A-172D-3A01CBD8EB52}"/>
              </a:ext>
            </a:extLst>
          </p:cNvPr>
          <p:cNvSpPr>
            <a:spLocks noGrp="1"/>
          </p:cNvSpPr>
          <p:nvPr/>
        </p:nvSpPr>
        <p:spPr>
          <a:xfrm>
            <a:off x="2876550" y="287655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모델별 tokenizer, provider 단가 테이블, retry/fallback 비용, 월별 집계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A59EF0-F284-6297-7D59-6461D0994F36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993374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4F4F56-0460-94F4-EE45-0B905F13AA1A}"/>
              </a:ext>
            </a:extLst>
          </p:cNvPr>
          <p:cNvSpPr>
            <a:spLocks noGrp="1"/>
          </p:cNvSpPr>
          <p:nvPr/>
        </p:nvSpPr>
        <p:spPr>
          <a:xfrm>
            <a:off x="7829550" y="28765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8-12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C08EFA-2D76-9290-83B8-0CF05BCB817F}"/>
              </a:ext>
            </a:extLst>
          </p:cNvPr>
          <p:cNvSpPr>
            <a:spLocks noGrp="1"/>
          </p:cNvSpPr>
          <p:nvPr/>
        </p:nvSpPr>
        <p:spPr>
          <a:xfrm>
            <a:off x="8743708" y="2800350"/>
            <a:ext cx="993374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958712-D8D0-8888-0C68-5528D8CE9AD9}"/>
              </a:ext>
            </a:extLst>
          </p:cNvPr>
          <p:cNvSpPr>
            <a:spLocks noGrp="1"/>
          </p:cNvSpPr>
          <p:nvPr/>
        </p:nvSpPr>
        <p:spPr>
          <a:xfrm>
            <a:off x="8838958" y="28765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0.40-0.60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2C59B5D-6F63-8017-B84F-6A2EAF4C4F80}"/>
              </a:ext>
            </a:extLst>
          </p:cNvPr>
          <p:cNvSpPr>
            <a:spLocks noGrp="1"/>
          </p:cNvSpPr>
          <p:nvPr/>
        </p:nvSpPr>
        <p:spPr>
          <a:xfrm>
            <a:off x="9729969" y="2800350"/>
            <a:ext cx="136017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754E684-9E14-5B59-3D7A-692A95BC2093}"/>
              </a:ext>
            </a:extLst>
          </p:cNvPr>
          <p:cNvSpPr>
            <a:spLocks noGrp="1"/>
          </p:cNvSpPr>
          <p:nvPr/>
        </p:nvSpPr>
        <p:spPr>
          <a:xfrm>
            <a:off x="9825219" y="287655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비용 통제 핵심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9826234-CFC2-C407-2E43-5A887FA1ABD7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2286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78B36AC-C6F1-0E2F-893E-15CE2184595F}"/>
              </a:ext>
            </a:extLst>
          </p:cNvPr>
          <p:cNvSpPr>
            <a:spLocks noGrp="1"/>
          </p:cNvSpPr>
          <p:nvPr/>
        </p:nvSpPr>
        <p:spPr>
          <a:xfrm>
            <a:off x="590550" y="35433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모델 정책 관리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034A65-C0E8-5F18-7054-42835985C62B}"/>
              </a:ext>
            </a:extLst>
          </p:cNvPr>
          <p:cNvSpPr>
            <a:spLocks noGrp="1"/>
          </p:cNvSpPr>
          <p:nvPr/>
        </p:nvSpPr>
        <p:spPr>
          <a:xfrm>
            <a:off x="2781300" y="3467100"/>
            <a:ext cx="4953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994F8A-1421-7502-2784-335CD67BF4C5}"/>
              </a:ext>
            </a:extLst>
          </p:cNvPr>
          <p:cNvSpPr>
            <a:spLocks noGrp="1"/>
          </p:cNvSpPr>
          <p:nvPr/>
        </p:nvSpPr>
        <p:spPr>
          <a:xfrm>
            <a:off x="2876550" y="354330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서비스별 허용 모델, fallback 모델, max token, temperature, budget 정책 저장/조회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9B83E00-BA16-6D9F-E5FE-32B38BAC2F0F}"/>
              </a:ext>
            </a:extLst>
          </p:cNvPr>
          <p:cNvSpPr>
            <a:spLocks noGrp="1"/>
          </p:cNvSpPr>
          <p:nvPr/>
        </p:nvSpPr>
        <p:spPr>
          <a:xfrm>
            <a:off x="7734300" y="34671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EBE2E40-85AA-4F4A-FE84-15465E31B3D2}"/>
              </a:ext>
            </a:extLst>
          </p:cNvPr>
          <p:cNvSpPr>
            <a:spLocks noGrp="1"/>
          </p:cNvSpPr>
          <p:nvPr/>
        </p:nvSpPr>
        <p:spPr>
          <a:xfrm>
            <a:off x="7829550" y="35433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7-12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DC83A86-54E9-F1DE-9B73-F6AA22119A6E}"/>
              </a:ext>
            </a:extLst>
          </p:cNvPr>
          <p:cNvSpPr>
            <a:spLocks noGrp="1"/>
          </p:cNvSpPr>
          <p:nvPr/>
        </p:nvSpPr>
        <p:spPr>
          <a:xfrm>
            <a:off x="8743708" y="34671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A32A140-5708-4E22-BFBB-7F600D737101}"/>
              </a:ext>
            </a:extLst>
          </p:cNvPr>
          <p:cNvSpPr>
            <a:spLocks noGrp="1"/>
          </p:cNvSpPr>
          <p:nvPr/>
        </p:nvSpPr>
        <p:spPr>
          <a:xfrm>
            <a:off x="8838958" y="35433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0.35-0.60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4D6D6A1-849C-A623-980A-606C3243C36D}"/>
              </a:ext>
            </a:extLst>
          </p:cNvPr>
          <p:cNvSpPr>
            <a:spLocks noGrp="1"/>
          </p:cNvSpPr>
          <p:nvPr/>
        </p:nvSpPr>
        <p:spPr>
          <a:xfrm>
            <a:off x="9729969" y="3467100"/>
            <a:ext cx="136017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03D79E-9367-3649-A4C9-CEA257D409AC}"/>
              </a:ext>
            </a:extLst>
          </p:cNvPr>
          <p:cNvSpPr>
            <a:spLocks noGrp="1"/>
          </p:cNvSpPr>
          <p:nvPr/>
        </p:nvSpPr>
        <p:spPr>
          <a:xfrm>
            <a:off x="9825219" y="354330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정책화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AB9E0F8-A49A-1D21-3238-62B6703B07A4}"/>
              </a:ext>
            </a:extLst>
          </p:cNvPr>
          <p:cNvSpPr>
            <a:spLocks noGrp="1"/>
          </p:cNvSpPr>
          <p:nvPr/>
        </p:nvSpPr>
        <p:spPr>
          <a:xfrm>
            <a:off x="495300" y="4133850"/>
            <a:ext cx="2286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2C65A0-FD31-C9F3-A959-9D5FF2EF520D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장애 대응 정책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4D040F-A6C7-881E-8EAD-1C75ABFB657C}"/>
              </a:ext>
            </a:extLst>
          </p:cNvPr>
          <p:cNvSpPr>
            <a:spLocks noGrp="1"/>
          </p:cNvSpPr>
          <p:nvPr/>
        </p:nvSpPr>
        <p:spPr>
          <a:xfrm>
            <a:off x="2781300" y="4133850"/>
            <a:ext cx="4953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15F73CC-F1B2-8A90-7542-488812B739FF}"/>
              </a:ext>
            </a:extLst>
          </p:cNvPr>
          <p:cNvSpPr>
            <a:spLocks noGrp="1"/>
          </p:cNvSpPr>
          <p:nvPr/>
        </p:nvSpPr>
        <p:spPr>
          <a:xfrm>
            <a:off x="2876550" y="421005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provider 장애 감지, retry/backoff, timeout, circuit breaker, fallback, 에러 표준화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572677F-9707-1A84-9F6E-1BEA175C0BB9}"/>
              </a:ext>
            </a:extLst>
          </p:cNvPr>
          <p:cNvSpPr>
            <a:spLocks noGrp="1"/>
          </p:cNvSpPr>
          <p:nvPr/>
        </p:nvSpPr>
        <p:spPr>
          <a:xfrm>
            <a:off x="7734300" y="4133850"/>
            <a:ext cx="993374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938FD5D-7BA2-BC86-F85E-5A098042BE8E}"/>
              </a:ext>
            </a:extLst>
          </p:cNvPr>
          <p:cNvSpPr>
            <a:spLocks noGrp="1"/>
          </p:cNvSpPr>
          <p:nvPr/>
        </p:nvSpPr>
        <p:spPr>
          <a:xfrm>
            <a:off x="7829550" y="42100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7-10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9880391-DFDD-08F5-4427-A97FC63FF363}"/>
              </a:ext>
            </a:extLst>
          </p:cNvPr>
          <p:cNvSpPr>
            <a:spLocks noGrp="1"/>
          </p:cNvSpPr>
          <p:nvPr/>
        </p:nvSpPr>
        <p:spPr>
          <a:xfrm>
            <a:off x="8743708" y="4133850"/>
            <a:ext cx="993374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3EAF2C-FBF3-9E19-A355-960C987C00D2}"/>
              </a:ext>
            </a:extLst>
          </p:cNvPr>
          <p:cNvSpPr>
            <a:spLocks noGrp="1"/>
          </p:cNvSpPr>
          <p:nvPr/>
        </p:nvSpPr>
        <p:spPr>
          <a:xfrm>
            <a:off x="8838958" y="421005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0.35-0.50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0472536-6FC4-3CCA-359D-F07A52778E0C}"/>
              </a:ext>
            </a:extLst>
          </p:cNvPr>
          <p:cNvSpPr>
            <a:spLocks noGrp="1"/>
          </p:cNvSpPr>
          <p:nvPr/>
        </p:nvSpPr>
        <p:spPr>
          <a:xfrm>
            <a:off x="9729969" y="4133850"/>
            <a:ext cx="136017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5CAC2C6-D861-EC84-45D5-050DC38540C2}"/>
              </a:ext>
            </a:extLst>
          </p:cNvPr>
          <p:cNvSpPr>
            <a:spLocks noGrp="1"/>
          </p:cNvSpPr>
          <p:nvPr/>
        </p:nvSpPr>
        <p:spPr>
          <a:xfrm>
            <a:off x="9825219" y="421005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장애 격리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67CD2B7-9F80-2705-2649-B0E33D07DDA9}"/>
              </a:ext>
            </a:extLst>
          </p:cNvPr>
          <p:cNvSpPr>
            <a:spLocks noGrp="1"/>
          </p:cNvSpPr>
          <p:nvPr/>
        </p:nvSpPr>
        <p:spPr>
          <a:xfrm>
            <a:off x="495300" y="4800600"/>
            <a:ext cx="2286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8FA591F-3A2C-A725-0E19-3FAE12D728BC}"/>
              </a:ext>
            </a:extLst>
          </p:cNvPr>
          <p:cNvSpPr>
            <a:spLocks noGrp="1"/>
          </p:cNvSpPr>
          <p:nvPr/>
        </p:nvSpPr>
        <p:spPr>
          <a:xfrm>
            <a:off x="590550" y="48768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 합계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CA13B42-A8B7-D4D3-A95D-C6A5730953FA}"/>
              </a:ext>
            </a:extLst>
          </p:cNvPr>
          <p:cNvSpPr>
            <a:spLocks noGrp="1"/>
          </p:cNvSpPr>
          <p:nvPr/>
        </p:nvSpPr>
        <p:spPr>
          <a:xfrm>
            <a:off x="2781300" y="4800600"/>
            <a:ext cx="495300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177210B-2BBB-4169-A0FC-F3DFF2E8BE58}"/>
              </a:ext>
            </a:extLst>
          </p:cNvPr>
          <p:cNvSpPr>
            <a:spLocks noGrp="1"/>
          </p:cNvSpPr>
          <p:nvPr/>
        </p:nvSpPr>
        <p:spPr>
          <a:xfrm>
            <a:off x="2876550" y="487680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APISIX/Envoy를 AI Gateway처럼 운영하기 위한 추가 범위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652CA5-6DEF-2089-6C21-50FD9371C9DE}"/>
              </a:ext>
            </a:extLst>
          </p:cNvPr>
          <p:cNvSpPr>
            <a:spLocks noGrp="1"/>
          </p:cNvSpPr>
          <p:nvPr/>
        </p:nvSpPr>
        <p:spPr>
          <a:xfrm>
            <a:off x="7734300" y="48006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A193A60-DEE8-823C-953A-EA9A64CCA114}"/>
              </a:ext>
            </a:extLst>
          </p:cNvPr>
          <p:cNvSpPr>
            <a:spLocks noGrp="1"/>
          </p:cNvSpPr>
          <p:nvPr/>
        </p:nvSpPr>
        <p:spPr>
          <a:xfrm>
            <a:off x="7829550" y="48768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27-42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925BE66-FB98-3065-1D20-DB3AD2592816}"/>
              </a:ext>
            </a:extLst>
          </p:cNvPr>
          <p:cNvSpPr>
            <a:spLocks noGrp="1"/>
          </p:cNvSpPr>
          <p:nvPr/>
        </p:nvSpPr>
        <p:spPr>
          <a:xfrm>
            <a:off x="8743708" y="4800600"/>
            <a:ext cx="993374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5722E91-3EFB-9C69-177F-955DADBFF3E9}"/>
              </a:ext>
            </a:extLst>
          </p:cNvPr>
          <p:cNvSpPr>
            <a:spLocks noGrp="1"/>
          </p:cNvSpPr>
          <p:nvPr/>
        </p:nvSpPr>
        <p:spPr>
          <a:xfrm>
            <a:off x="8838958" y="4876800"/>
            <a:ext cx="851463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1.35-2.10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06EEF45-1C5D-AF13-274C-15CD5D20C75F}"/>
              </a:ext>
            </a:extLst>
          </p:cNvPr>
          <p:cNvSpPr>
            <a:spLocks noGrp="1"/>
          </p:cNvSpPr>
          <p:nvPr/>
        </p:nvSpPr>
        <p:spPr>
          <a:xfrm>
            <a:off x="9729969" y="4800600"/>
            <a:ext cx="1360170" cy="6667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  <p:txBody>
          <a:bodyPr anchor="ctr"/>
          <a:lstStyle/>
          <a:p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179F39-37B8-FEA6-B37A-EC4E57112A09}"/>
              </a:ext>
            </a:extLst>
          </p:cNvPr>
          <p:cNvSpPr>
            <a:spLocks noGrp="1"/>
          </p:cNvSpPr>
          <p:nvPr/>
        </p:nvSpPr>
        <p:spPr>
          <a:xfrm>
            <a:off x="9825219" y="4876800"/>
            <a:ext cx="120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기본 전환 공수 외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9A7D3F1-0204-50C2-DD92-97D68DC4E190}"/>
              </a:ext>
            </a:extLst>
          </p:cNvPr>
          <p:cNvSpPr>
            <a:spLocks noGrp="1"/>
          </p:cNvSpPr>
          <p:nvPr/>
        </p:nvSpPr>
        <p:spPr>
          <a:xfrm>
            <a:off x="495300" y="5753100"/>
            <a:ext cx="10594839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F1F9876-AF9B-498D-DB2C-6246AB9C1971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주의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6E80313-217F-6994-EE24-77DD474CD848}"/>
              </a:ext>
            </a:extLst>
          </p:cNvPr>
          <p:cNvSpPr>
            <a:spLocks noGrp="1"/>
          </p:cNvSpPr>
          <p:nvPr/>
        </p:nvSpPr>
        <p:spPr>
          <a:xfrm>
            <a:off x="1571625" y="590550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LiteLLM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/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Portkey는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위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일부를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제품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기능으로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활용할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수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있으므로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같은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기준의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공수가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크게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</a:t>
            </a:r>
            <a:r>
              <a:rPr sz="1125" b="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줄어듭니다</a:t>
            </a:r>
            <a:r>
              <a:rPr sz="1125" b="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7EC8E7C-DDDC-F94F-9153-8803878DF772}"/>
              </a:ext>
            </a:extLst>
          </p:cNvPr>
          <p:cNvSpPr>
            <a:spLocks noGrp="1"/>
          </p:cNvSpPr>
          <p:nvPr/>
        </p:nvSpPr>
        <p:spPr>
          <a:xfrm>
            <a:off x="590550" y="1095375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400" b="0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추가 개발 예상 공수</a:t>
            </a:r>
            <a:endParaRPr sz="1400" b="0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00454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FF73-DE20-E913-E1FD-A9758439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B277322F-7DC3-99C7-367B-C0B11A3C25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EABDA5-AE86-3916-3F10-1E2FED095C9A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9993D2-1BCB-0DAA-921E-76EA9C2068B6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51B2C6-FDA6-0EE2-F474-CE944DE6413F}"/>
              </a:ext>
            </a:extLst>
          </p:cNvPr>
          <p:cNvSpPr txBox="1"/>
          <p:nvPr/>
        </p:nvSpPr>
        <p:spPr>
          <a:xfrm>
            <a:off x="971550" y="1266795"/>
            <a:ext cx="5899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만약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gateway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선택한다면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APISIX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선택할 것 같습니다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02AD5429-B023-F03C-CECA-C9F344EF1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893299"/>
              </p:ext>
            </p:extLst>
          </p:nvPr>
        </p:nvGraphicFramePr>
        <p:xfrm>
          <a:off x="1095375" y="1928167"/>
          <a:ext cx="10451856" cy="3763591"/>
        </p:xfrm>
        <a:graphic>
          <a:graphicData uri="http://schemas.openxmlformats.org/drawingml/2006/table">
            <a:tbl>
              <a:tblPr/>
              <a:tblGrid>
                <a:gridCol w="2301026">
                  <a:extLst>
                    <a:ext uri="{9D8B030D-6E8A-4147-A177-3AD203B41FA5}">
                      <a16:colId xmlns:a16="http://schemas.microsoft.com/office/drawing/2014/main" val="3147444170"/>
                    </a:ext>
                  </a:extLst>
                </a:gridCol>
                <a:gridCol w="8150830">
                  <a:extLst>
                    <a:ext uri="{9D8B030D-6E8A-4147-A177-3AD203B41FA5}">
                      <a16:colId xmlns:a16="http://schemas.microsoft.com/office/drawing/2014/main" val="3368489358"/>
                    </a:ext>
                  </a:extLst>
                </a:gridCol>
              </a:tblGrid>
              <a:tr h="20342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 Envoy</a:t>
                      </a:r>
                    </a:p>
                  </a:txBody>
                  <a:tcPr marL="68167" marR="136334" marT="56806" marB="568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강력한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L7 Proxy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지만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운영의 난이도가 높습니다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fontAlgn="t">
                        <a:buNone/>
                      </a:pP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정책을 만들려면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route config, filter chain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같은 개념들에 대해 이해도가 높아야 합니다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t">
                        <a:buNone/>
                      </a:pPr>
                      <a:endParaRPr lang="en-US" altLang="ko-KR" sz="1400" b="0" i="0" dirty="0">
                        <a:solidFill>
                          <a:srgbClr val="1A1C1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그에 반해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gateway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과점에서는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개발 하기 쉽고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Envoy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보다 개발 및 운영의 이해도가 쉽습니다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167" marR="68167" marT="56806" marB="568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74139"/>
                  </a:ext>
                </a:extLst>
              </a:tr>
              <a:tr h="17293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 </a:t>
                      </a:r>
                      <a:r>
                        <a:rPr lang="en-US" sz="1800" b="1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LiteLLM</a:t>
                      </a:r>
                      <a:endParaRPr lang="en-US" sz="18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167" marR="136334" marT="56806" marB="568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provider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관리가 가장 좋지만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l" fontAlgn="t">
                        <a:buNone/>
                      </a:pP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+ AI Agent + RAG +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 함께 통제하기에는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좀 더 범용적입니다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t">
                        <a:buNone/>
                      </a:pPr>
                      <a:endParaRPr lang="en-US" alt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뿐 아니라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Agent, RAG API,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 같은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 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정책으로 묶기에는 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  <a:r>
                        <a:rPr lang="ko-KR" altLang="en-US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낫습니다</a:t>
                      </a:r>
                      <a:r>
                        <a:rPr lang="en-US" altLang="ko-KR" sz="14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68167" marR="68167" marT="56806" marB="568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2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94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628B-3A80-6511-65D4-B90B9A3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2083DAF-02CD-CC82-D7DE-6786FEDA5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ABB6BB-A42B-FA2A-78ED-CA76A0B7AEA6}"/>
              </a:ext>
            </a:extLst>
          </p:cNvPr>
          <p:cNvSpPr>
            <a:spLocks noGrp="1"/>
          </p:cNvSpPr>
          <p:nvPr/>
        </p:nvSpPr>
        <p:spPr>
          <a:xfrm>
            <a:off x="1095375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8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운영 기준 관점 검토 및 향후 계획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F0D4A67-7CBF-9307-E3B1-A6140CD5C1F5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0</a:t>
            </a:r>
            <a:r>
              <a:rPr lang="en-US" sz="2100" b="1" dirty="0">
                <a:solidFill>
                  <a:srgbClr val="E193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3</a:t>
            </a:r>
            <a:endParaRPr sz="2100" b="1" dirty="0">
              <a:solidFill>
                <a:srgbClr val="E1933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88CD7-68F9-2441-C7BA-ADFA7407E33F}"/>
              </a:ext>
            </a:extLst>
          </p:cNvPr>
          <p:cNvSpPr txBox="1"/>
          <p:nvPr/>
        </p:nvSpPr>
        <p:spPr>
          <a:xfrm>
            <a:off x="971550" y="1102225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생각해본 호출 구조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3880C5-533E-1202-6C10-EFB6D77A63AE}"/>
              </a:ext>
            </a:extLst>
          </p:cNvPr>
          <p:cNvGrpSpPr/>
          <p:nvPr/>
        </p:nvGrpSpPr>
        <p:grpSpPr>
          <a:xfrm>
            <a:off x="1451705" y="2384766"/>
            <a:ext cx="1631465" cy="1029290"/>
            <a:chOff x="1095375" y="1666240"/>
            <a:chExt cx="2206625" cy="11176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C4214A-47A0-2CDC-85F6-FA43572F318D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A9B67F9-0A8C-0A59-838C-CD0A3FCA72E0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CF12F5-8545-B363-D814-CA58E0CE767C}"/>
                </a:ext>
              </a:extLst>
            </p:cNvPr>
            <p:cNvSpPr txBox="1"/>
            <p:nvPr/>
          </p:nvSpPr>
          <p:spPr>
            <a:xfrm>
              <a:off x="1153160" y="1839602"/>
              <a:ext cx="2087880" cy="4842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service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4604933-D1FD-D17F-B600-B7CDEA54AB41}"/>
              </a:ext>
            </a:extLst>
          </p:cNvPr>
          <p:cNvGrpSpPr/>
          <p:nvPr/>
        </p:nvGrpSpPr>
        <p:grpSpPr>
          <a:xfrm>
            <a:off x="6693577" y="2384766"/>
            <a:ext cx="1631465" cy="1029290"/>
            <a:chOff x="1095375" y="1666240"/>
            <a:chExt cx="2206625" cy="11176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0C320-0373-5F78-F70F-F9F382992FB6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08E54BA-D8B6-4BBA-CB65-BC3B58171B8A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12E1A3-34D2-53B0-9741-51FAFDC6B5F4}"/>
                </a:ext>
              </a:extLst>
            </p:cNvPr>
            <p:cNvSpPr txBox="1"/>
            <p:nvPr/>
          </p:nvSpPr>
          <p:spPr>
            <a:xfrm>
              <a:off x="1117461" y="1874520"/>
              <a:ext cx="2087880" cy="768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AI Policy </a:t>
              </a:r>
              <a:r>
                <a:rPr lang="en-US" altLang="ko-KR" sz="2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Servic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5E725C5-C15B-1D5C-0E52-DB663ED38FD3}"/>
              </a:ext>
            </a:extLst>
          </p:cNvPr>
          <p:cNvGrpSpPr/>
          <p:nvPr/>
        </p:nvGrpSpPr>
        <p:grpSpPr>
          <a:xfrm>
            <a:off x="9314514" y="2384766"/>
            <a:ext cx="1631465" cy="1029290"/>
            <a:chOff x="1095375" y="1666240"/>
            <a:chExt cx="2206625" cy="11176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A9B2790-D418-985F-DC68-554BC920AC32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199E744-5FD3-86C1-9554-8D9C1F17A09E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6A2887-963B-C7D4-4D94-71BDBC31F3B2}"/>
                </a:ext>
              </a:extLst>
            </p:cNvPr>
            <p:cNvSpPr txBox="1"/>
            <p:nvPr/>
          </p:nvSpPr>
          <p:spPr>
            <a:xfrm>
              <a:off x="1153160" y="1864529"/>
              <a:ext cx="2087880" cy="4344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LLM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6C3EE79-7115-BE29-BF58-926C1D580F28}"/>
              </a:ext>
            </a:extLst>
          </p:cNvPr>
          <p:cNvGrpSpPr/>
          <p:nvPr/>
        </p:nvGrpSpPr>
        <p:grpSpPr>
          <a:xfrm>
            <a:off x="4072641" y="2384766"/>
            <a:ext cx="1631465" cy="1029290"/>
            <a:chOff x="1095375" y="1666240"/>
            <a:chExt cx="2206625" cy="111760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0B1FB7D-24FF-BE70-F7E6-E9C8CB4872F0}"/>
                </a:ext>
              </a:extLst>
            </p:cNvPr>
            <p:cNvSpPr/>
            <p:nvPr/>
          </p:nvSpPr>
          <p:spPr>
            <a:xfrm>
              <a:off x="1095375" y="1666240"/>
              <a:ext cx="2206625" cy="111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AD49B6F-7CAC-C85B-2189-A7241FF884D6}"/>
                </a:ext>
              </a:extLst>
            </p:cNvPr>
            <p:cNvSpPr/>
            <p:nvPr/>
          </p:nvSpPr>
          <p:spPr>
            <a:xfrm>
              <a:off x="1113155" y="1684020"/>
              <a:ext cx="2171065" cy="190500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5D20AB-7B8E-497B-77AB-5233A1C0DD46}"/>
                </a:ext>
              </a:extLst>
            </p:cNvPr>
            <p:cNvSpPr txBox="1"/>
            <p:nvPr/>
          </p:nvSpPr>
          <p:spPr>
            <a:xfrm>
              <a:off x="1153160" y="1864529"/>
              <a:ext cx="2087880" cy="4344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APISIX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989FE0B-7A09-A0F5-13DB-F8FD3C6E032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83170" y="2899411"/>
            <a:ext cx="98947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D85A74B-BA26-1090-13EE-475C646463C2}"/>
              </a:ext>
            </a:extLst>
          </p:cNvPr>
          <p:cNvCxnSpPr>
            <a:stCxn id="24" idx="3"/>
            <a:endCxn id="16" idx="1"/>
          </p:cNvCxnSpPr>
          <p:nvPr/>
        </p:nvCxnSpPr>
        <p:spPr>
          <a:xfrm>
            <a:off x="5704106" y="2899411"/>
            <a:ext cx="98947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D6C9EED-BB74-59D0-AEFD-246B1FB37361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8325042" y="2899411"/>
            <a:ext cx="98947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93C8536-46BE-C0FD-979E-8630D0528D19}"/>
              </a:ext>
            </a:extLst>
          </p:cNvPr>
          <p:cNvSpPr/>
          <p:nvPr/>
        </p:nvSpPr>
        <p:spPr>
          <a:xfrm>
            <a:off x="3540370" y="2239106"/>
            <a:ext cx="5263661" cy="1371599"/>
          </a:xfrm>
          <a:prstGeom prst="roundRect">
            <a:avLst/>
          </a:prstGeom>
          <a:noFill/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A61727-51CD-1D81-9CFA-82845F9071B9}"/>
              </a:ext>
            </a:extLst>
          </p:cNvPr>
          <p:cNvSpPr txBox="1"/>
          <p:nvPr/>
        </p:nvSpPr>
        <p:spPr>
          <a:xfrm>
            <a:off x="971550" y="1572560"/>
            <a:ext cx="1048612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내부 </a:t>
            </a:r>
            <a:r>
              <a:rPr lang="en-US" altLang="ko-KR" sz="1600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600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쓰고 정책 관리 및 통제를 </a:t>
            </a:r>
            <a:r>
              <a:rPr lang="ko-KR" altLang="en-US" sz="1600" dirty="0">
                <a:solidFill>
                  <a:srgbClr val="1A1C1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위해</a:t>
            </a:r>
            <a:r>
              <a:rPr lang="ko-KR" altLang="en-US" sz="1600" b="1" dirty="0">
                <a:solidFill>
                  <a:srgbClr val="1A1C1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APISIX + AI Policy Service</a:t>
            </a:r>
            <a:r>
              <a:rPr lang="ko-KR" altLang="en-US" sz="1600" b="1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 구조</a:t>
            </a:r>
            <a:r>
              <a:rPr lang="ko-KR" altLang="en-US" sz="1600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개발 할 수 있을 것 같습니다</a:t>
            </a:r>
            <a:r>
              <a:rPr lang="en-US" altLang="ko-KR" sz="1600" i="0" dirty="0">
                <a:solidFill>
                  <a:srgbClr val="1A1C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C2C364F-2613-4A71-EF5C-DE6963C2C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2971"/>
              </p:ext>
            </p:extLst>
          </p:nvPr>
        </p:nvGraphicFramePr>
        <p:xfrm>
          <a:off x="971550" y="4165861"/>
          <a:ext cx="10486124" cy="205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062">
                  <a:extLst>
                    <a:ext uri="{9D8B030D-6E8A-4147-A177-3AD203B41FA5}">
                      <a16:colId xmlns:a16="http://schemas.microsoft.com/office/drawing/2014/main" val="2521382763"/>
                    </a:ext>
                  </a:extLst>
                </a:gridCol>
                <a:gridCol w="5243062">
                  <a:extLst>
                    <a:ext uri="{9D8B030D-6E8A-4147-A177-3AD203B41FA5}">
                      <a16:colId xmlns:a16="http://schemas.microsoft.com/office/drawing/2014/main" val="2739097209"/>
                    </a:ext>
                  </a:extLst>
                </a:gridCol>
              </a:tblGrid>
              <a:tr h="42201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서비스에 부여할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362052"/>
                  </a:ext>
                </a:extLst>
              </a:tr>
              <a:tr h="4220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APISIX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Policy Service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71930"/>
                  </a:ext>
                </a:extLst>
              </a:tr>
              <a:tr h="422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공통 정책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400" b="0" i="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정책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200380"/>
                  </a:ext>
                </a:extLst>
              </a:tr>
              <a:tr h="78556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route / rate limit / IP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access log</a:t>
                      </a:r>
                    </a:p>
                    <a:p>
                      <a:pPr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upstream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은닉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Timeout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선택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prompt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token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계산 </a:t>
                      </a: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계산 </a:t>
                      </a:r>
                    </a:p>
                    <a:p>
                      <a:pPr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0" i="0" dirty="0">
                          <a:solidFill>
                            <a:srgbClr val="1A1C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audit / Fallback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10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579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6C00-B21D-4D97-1D15-44FBEED2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5A88D8-EB64-BEF3-E10F-90D5A02F08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E65FCD-FC0A-51C7-5C52-5EFB682D94C9}"/>
              </a:ext>
            </a:extLst>
          </p:cNvPr>
          <p:cNvSpPr>
            <a:spLocks noGrp="1"/>
          </p:cNvSpPr>
          <p:nvPr/>
        </p:nvSpPr>
        <p:spPr>
          <a:xfrm>
            <a:off x="0" y="2914650"/>
            <a:ext cx="1219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60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872718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2306</Words>
  <Application>Microsoft Office PowerPoint</Application>
  <DocSecurity>0</DocSecurity>
  <PresentationFormat>와이드스크린</PresentationFormat>
  <Paragraphs>461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-apple-system</vt:lpstr>
      <vt:lpstr>맑은 고딕</vt:lpstr>
      <vt:lpstr>Aptos</vt:lpstr>
      <vt:lpstr>Arial</vt:lpstr>
      <vt:lpstr>Calibri</vt:lpstr>
      <vt:lpstr>Symbol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yhjeong</cp:lastModifiedBy>
  <cp:revision>29</cp:revision>
  <dcterms:created xsi:type="dcterms:W3CDTF">2026-06-08T05:30:13Z</dcterms:created>
  <dcterms:modified xsi:type="dcterms:W3CDTF">2026-06-10T08:23:40Z</dcterms:modified>
</cp:coreProperties>
</file>